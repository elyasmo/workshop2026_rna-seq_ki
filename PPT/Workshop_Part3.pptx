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4"/>
  </p:sldMasterIdLst>
  <p:notesMasterIdLst>
    <p:notesMasterId r:id="rId30"/>
  </p:notesMasterIdLst>
  <p:handoutMasterIdLst>
    <p:handoutMasterId r:id="rId31"/>
  </p:handoutMasterIdLst>
  <p:sldIdLst>
    <p:sldId id="263" r:id="rId5"/>
    <p:sldId id="28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6" r:id="rId26"/>
    <p:sldId id="287" r:id="rId27"/>
    <p:sldId id="260" r:id="rId28"/>
    <p:sldId id="285" r:id="rId29"/>
  </p:sldIdLst>
  <p:sldSz cx="9144000" cy="5143500" type="screen16x9"/>
  <p:notesSz cx="6858000" cy="9144000"/>
  <p:defaultTextStyle>
    <a:defPPr>
      <a:defRPr lang="sv-SE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2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F4F4"/>
    <a:srgbClr val="C7ECDC"/>
    <a:srgbClr val="4F0433"/>
    <a:srgbClr val="CCEBED"/>
    <a:srgbClr val="FFDDD6"/>
    <a:srgbClr val="666666"/>
    <a:srgbClr val="DDDEE0"/>
    <a:srgbClr val="FF876F"/>
    <a:srgbClr val="FFE7C2"/>
    <a:srgbClr val="FFC6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02C598-242F-954A-B9E4-8BFF1BB4AC7E}" v="1" dt="2026-10-02T09:10:15.5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–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–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–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–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–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–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Themed Style 1 –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–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72" autoAdjust="0"/>
    <p:restoredTop sz="77042" autoAdjust="0"/>
  </p:normalViewPr>
  <p:slideViewPr>
    <p:cSldViewPr>
      <p:cViewPr varScale="1">
        <p:scale>
          <a:sx n="119" d="100"/>
          <a:sy n="119" d="100"/>
        </p:scale>
        <p:origin x="904" y="176"/>
      </p:cViewPr>
      <p:guideLst>
        <p:guide orient="horz" pos="62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118" d="100"/>
          <a:sy n="118" d="100"/>
        </p:scale>
        <p:origin x="415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yas Mohammadi" userId="ab684601-edc7-4875-8fff-9d5095aa6075" providerId="ADAL" clId="{CDBD354A-C000-5838-B637-5715743394FE}"/>
    <pc:docChg chg="undo custSel addSld delSld modSld sldOrd">
      <pc:chgData name="Elyas Mohammadi" userId="ab684601-edc7-4875-8fff-9d5095aa6075" providerId="ADAL" clId="{CDBD354A-C000-5838-B637-5715743394FE}" dt="2026-10-19T11:46:29.822" v="5287" actId="2085"/>
      <pc:docMkLst>
        <pc:docMk/>
      </pc:docMkLst>
      <pc:sldChg chg="del">
        <pc:chgData name="Elyas Mohammadi" userId="ab684601-edc7-4875-8fff-9d5095aa6075" providerId="ADAL" clId="{CDBD354A-C000-5838-B637-5715743394FE}" dt="2026-10-19T11:03:01.022" v="5187" actId="2696"/>
        <pc:sldMkLst>
          <pc:docMk/>
          <pc:sldMk cId="3014002434" sldId="257"/>
        </pc:sldMkLst>
      </pc:sldChg>
      <pc:sldChg chg="modSp mod">
        <pc:chgData name="Elyas Mohammadi" userId="ab684601-edc7-4875-8fff-9d5095aa6075" providerId="ADAL" clId="{CDBD354A-C000-5838-B637-5715743394FE}" dt="2026-10-02T09:10:15.585" v="5186"/>
        <pc:sldMkLst>
          <pc:docMk/>
          <pc:sldMk cId="1099428093" sldId="263"/>
        </pc:sldMkLst>
        <pc:spChg chg="mod">
          <ac:chgData name="Elyas Mohammadi" userId="ab684601-edc7-4875-8fff-9d5095aa6075" providerId="ADAL" clId="{CDBD354A-C000-5838-B637-5715743394FE}" dt="2026-10-02T09:10:11.141" v="5185" actId="20577"/>
          <ac:spMkLst>
            <pc:docMk/>
            <pc:sldMk cId="1099428093" sldId="263"/>
            <ac:spMk id="2" creationId="{6250195B-8A87-0659-1403-6E7233781A4D}"/>
          </ac:spMkLst>
        </pc:spChg>
        <pc:spChg chg="mod">
          <ac:chgData name="Elyas Mohammadi" userId="ab684601-edc7-4875-8fff-9d5095aa6075" providerId="ADAL" clId="{CDBD354A-C000-5838-B637-5715743394FE}" dt="2026-10-02T09:10:15.585" v="5186"/>
          <ac:spMkLst>
            <pc:docMk/>
            <pc:sldMk cId="1099428093" sldId="263"/>
            <ac:spMk id="3" creationId="{1B4D2C54-6FB1-D0FC-01BE-847D5965E867}"/>
          </ac:spMkLst>
        </pc:spChg>
      </pc:sldChg>
      <pc:sldChg chg="delSp mod delAnim">
        <pc:chgData name="Elyas Mohammadi" userId="ab684601-edc7-4875-8fff-9d5095aa6075" providerId="ADAL" clId="{CDBD354A-C000-5838-B637-5715743394FE}" dt="2026-10-19T11:35:35.059" v="5188" actId="478"/>
        <pc:sldMkLst>
          <pc:docMk/>
          <pc:sldMk cId="513837916" sldId="281"/>
        </pc:sldMkLst>
        <pc:spChg chg="del">
          <ac:chgData name="Elyas Mohammadi" userId="ab684601-edc7-4875-8fff-9d5095aa6075" providerId="ADAL" clId="{CDBD354A-C000-5838-B637-5715743394FE}" dt="2026-10-19T11:35:35.059" v="5188" actId="478"/>
          <ac:spMkLst>
            <pc:docMk/>
            <pc:sldMk cId="513837916" sldId="281"/>
            <ac:spMk id="6" creationId="{CA5D7265-FC77-B10B-06F2-4D8D964A74E3}"/>
          </ac:spMkLst>
        </pc:spChg>
        <pc:picChg chg="del">
          <ac:chgData name="Elyas Mohammadi" userId="ab684601-edc7-4875-8fff-9d5095aa6075" providerId="ADAL" clId="{CDBD354A-C000-5838-B637-5715743394FE}" dt="2026-10-19T11:35:35.059" v="5188" actId="478"/>
          <ac:picMkLst>
            <pc:docMk/>
            <pc:sldMk cId="513837916" sldId="281"/>
            <ac:picMk id="8" creationId="{61A35207-9743-4AF0-5846-B2C6B92EDA64}"/>
          </ac:picMkLst>
        </pc:picChg>
      </pc:sldChg>
      <pc:sldChg chg="addSp delSp modSp new mod">
        <pc:chgData name="Elyas Mohammadi" userId="ab684601-edc7-4875-8fff-9d5095aa6075" providerId="ADAL" clId="{CDBD354A-C000-5838-B637-5715743394FE}" dt="2026-10-19T11:44:31.268" v="5228" actId="1076"/>
        <pc:sldMkLst>
          <pc:docMk/>
          <pc:sldMk cId="908753243" sldId="286"/>
        </pc:sldMkLst>
        <pc:spChg chg="del mod">
          <ac:chgData name="Elyas Mohammadi" userId="ab684601-edc7-4875-8fff-9d5095aa6075" providerId="ADAL" clId="{CDBD354A-C000-5838-B637-5715743394FE}" dt="2026-10-19T11:43:35.729" v="5193" actId="478"/>
          <ac:spMkLst>
            <pc:docMk/>
            <pc:sldMk cId="908753243" sldId="286"/>
            <ac:spMk id="2" creationId="{D5661B5D-F530-EDFD-9D6C-50D512A635A6}"/>
          </ac:spMkLst>
        </pc:spChg>
        <pc:spChg chg="del">
          <ac:chgData name="Elyas Mohammadi" userId="ab684601-edc7-4875-8fff-9d5095aa6075" providerId="ADAL" clId="{CDBD354A-C000-5838-B637-5715743394FE}" dt="2026-10-19T11:43:31.544" v="5190" actId="478"/>
          <ac:spMkLst>
            <pc:docMk/>
            <pc:sldMk cId="908753243" sldId="286"/>
            <ac:spMk id="3" creationId="{CD36D08A-F3C1-7EC4-7604-E56559FFEFD5}"/>
          </ac:spMkLst>
        </pc:spChg>
        <pc:spChg chg="add del mod">
          <ac:chgData name="Elyas Mohammadi" userId="ab684601-edc7-4875-8fff-9d5095aa6075" providerId="ADAL" clId="{CDBD354A-C000-5838-B637-5715743394FE}" dt="2026-10-19T11:44:16.437" v="5202" actId="478"/>
          <ac:spMkLst>
            <pc:docMk/>
            <pc:sldMk cId="908753243" sldId="286"/>
            <ac:spMk id="9" creationId="{55430AFD-54E9-4976-278A-39888CC4567C}"/>
          </ac:spMkLst>
        </pc:spChg>
        <pc:spChg chg="add mod">
          <ac:chgData name="Elyas Mohammadi" userId="ab684601-edc7-4875-8fff-9d5095aa6075" providerId="ADAL" clId="{CDBD354A-C000-5838-B637-5715743394FE}" dt="2026-10-19T11:44:31.268" v="5228" actId="1076"/>
          <ac:spMkLst>
            <pc:docMk/>
            <pc:sldMk cId="908753243" sldId="286"/>
            <ac:spMk id="10" creationId="{575B1AE7-97F9-B227-9BBA-483611C0CF9D}"/>
          </ac:spMkLst>
        </pc:spChg>
        <pc:picChg chg="add del mod">
          <ac:chgData name="Elyas Mohammadi" userId="ab684601-edc7-4875-8fff-9d5095aa6075" providerId="ADAL" clId="{CDBD354A-C000-5838-B637-5715743394FE}" dt="2026-10-19T11:44:01.262" v="5197" actId="478"/>
          <ac:picMkLst>
            <pc:docMk/>
            <pc:sldMk cId="908753243" sldId="286"/>
            <ac:picMk id="7" creationId="{9A2AE6FA-CAE8-0545-8E15-1139A3C3B4C9}"/>
          </ac:picMkLst>
        </pc:picChg>
        <pc:picChg chg="add mod">
          <ac:chgData name="Elyas Mohammadi" userId="ab684601-edc7-4875-8fff-9d5095aa6075" providerId="ADAL" clId="{CDBD354A-C000-5838-B637-5715743394FE}" dt="2026-10-19T11:44:06.003" v="5200" actId="1076"/>
          <ac:picMkLst>
            <pc:docMk/>
            <pc:sldMk cId="908753243" sldId="286"/>
            <ac:picMk id="8" creationId="{E8A5DD76-E1C0-D339-46B4-38AD9BBA7830}"/>
          </ac:picMkLst>
        </pc:picChg>
      </pc:sldChg>
      <pc:sldChg chg="addSp delSp modSp new mod">
        <pc:chgData name="Elyas Mohammadi" userId="ab684601-edc7-4875-8fff-9d5095aa6075" providerId="ADAL" clId="{CDBD354A-C000-5838-B637-5715743394FE}" dt="2026-10-19T11:46:29.822" v="5287" actId="2085"/>
        <pc:sldMkLst>
          <pc:docMk/>
          <pc:sldMk cId="601651369" sldId="287"/>
        </pc:sldMkLst>
        <pc:spChg chg="del">
          <ac:chgData name="Elyas Mohammadi" userId="ab684601-edc7-4875-8fff-9d5095aa6075" providerId="ADAL" clId="{CDBD354A-C000-5838-B637-5715743394FE}" dt="2026-10-19T11:45:11.852" v="5232" actId="478"/>
          <ac:spMkLst>
            <pc:docMk/>
            <pc:sldMk cId="601651369" sldId="287"/>
            <ac:spMk id="2" creationId="{3B7566E0-664E-EB62-B2CF-F3B2B2885E24}"/>
          </ac:spMkLst>
        </pc:spChg>
        <pc:spChg chg="del">
          <ac:chgData name="Elyas Mohammadi" userId="ab684601-edc7-4875-8fff-9d5095aa6075" providerId="ADAL" clId="{CDBD354A-C000-5838-B637-5715743394FE}" dt="2026-10-19T11:45:08.961" v="5230" actId="478"/>
          <ac:spMkLst>
            <pc:docMk/>
            <pc:sldMk cId="601651369" sldId="287"/>
            <ac:spMk id="3" creationId="{77E259C3-6AE7-5B12-E2FC-43B89EB1DADB}"/>
          </ac:spMkLst>
        </pc:spChg>
        <pc:spChg chg="add mod">
          <ac:chgData name="Elyas Mohammadi" userId="ab684601-edc7-4875-8fff-9d5095aa6075" providerId="ADAL" clId="{CDBD354A-C000-5838-B637-5715743394FE}" dt="2026-10-19T11:46:29.822" v="5287" actId="2085"/>
          <ac:spMkLst>
            <pc:docMk/>
            <pc:sldMk cId="601651369" sldId="287"/>
            <ac:spMk id="8" creationId="{55CD7CAE-1912-5327-6D65-9AB85D5C7571}"/>
          </ac:spMkLst>
        </pc:spChg>
        <pc:picChg chg="add del mod">
          <ac:chgData name="Elyas Mohammadi" userId="ab684601-edc7-4875-8fff-9d5095aa6075" providerId="ADAL" clId="{CDBD354A-C000-5838-B637-5715743394FE}" dt="2026-10-19T11:46:02.920" v="5279" actId="478"/>
          <ac:picMkLst>
            <pc:docMk/>
            <pc:sldMk cId="601651369" sldId="287"/>
            <ac:picMk id="7" creationId="{E890C7EB-D181-7E8E-8188-5E4C58112DF8}"/>
          </ac:picMkLst>
        </pc:picChg>
        <pc:picChg chg="add mod">
          <ac:chgData name="Elyas Mohammadi" userId="ab684601-edc7-4875-8fff-9d5095aa6075" providerId="ADAL" clId="{CDBD354A-C000-5838-B637-5715743394FE}" dt="2026-10-19T11:46:06.845" v="5283" actId="1076"/>
          <ac:picMkLst>
            <pc:docMk/>
            <pc:sldMk cId="601651369" sldId="287"/>
            <ac:picMk id="9" creationId="{4D7D65E2-6066-48C9-23E0-DA542D84E36E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>
            <a:extLst>
              <a:ext uri="{FF2B5EF4-FFF2-40B4-BE49-F238E27FC236}">
                <a16:creationId xmlns:a16="http://schemas.microsoft.com/office/drawing/2014/main" id="{6818A54A-96AB-47F2-9FE3-5AA7C5EE68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 dirty="0"/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077C3AE1-DBA2-4DA9-A7CE-D2A621C810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5F06C-14D9-45DF-81A5-F25F8ECA9886}" type="datetimeFigureOut">
              <a:rPr lang="sv-SE" smtClean="0"/>
              <a:t>2026-10-19</a:t>
            </a:fld>
            <a:endParaRPr lang="sv-SE" dirty="0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6FB76FC6-F54A-4120-9B8F-E28E2A08E52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 dirty="0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4D9B89EF-3F47-4486-BAA9-AF9A8BE096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7CC5D8-C806-4BBF-A442-91371CDD1BC5}" type="slidenum">
              <a:rPr lang="sv-SE" smtClean="0"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6023786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DM Sans" pitchFamily="2" charset="0"/>
              </a:defRPr>
            </a:lvl1pPr>
          </a:lstStyle>
          <a:p>
            <a:endParaRPr lang="sv-SE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DM Sans" pitchFamily="2" charset="0"/>
              </a:defRPr>
            </a:lvl1pPr>
          </a:lstStyle>
          <a:p>
            <a:endParaRPr lang="sv-SE" dirty="0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here to add text</a:t>
            </a:r>
            <a:endParaRPr lang="sv-SE" dirty="0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000">
                <a:latin typeface="DM Sans" pitchFamily="2" charset="0"/>
              </a:defRPr>
            </a:lvl1pPr>
          </a:lstStyle>
          <a:p>
            <a:endParaRPr lang="sv-SE" dirty="0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DM Sans" pitchFamily="2" charset="0"/>
              </a:defRPr>
            </a:lvl1pPr>
          </a:lstStyle>
          <a:p>
            <a:fld id="{E4F6DBA7-38D3-4FF9-B176-AA5B07999DDF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4939290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DM Sans" pitchFamily="2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000" kern="1200">
        <a:solidFill>
          <a:schemeClr val="tx1"/>
        </a:solidFill>
        <a:latin typeface="DM Sans" pitchFamily="2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000" kern="1200">
        <a:solidFill>
          <a:schemeClr val="tx1"/>
        </a:solidFill>
        <a:latin typeface="DM Sans" pitchFamily="2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000" kern="1200">
        <a:solidFill>
          <a:schemeClr val="tx1"/>
        </a:solidFill>
        <a:latin typeface="DM Sans" pitchFamily="2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000" kern="1200">
        <a:solidFill>
          <a:schemeClr val="tx1"/>
        </a:solidFill>
        <a:latin typeface="DM Sans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6DBA7-38D3-4FF9-B176-AA5B07999DDF}" type="slidenum">
              <a:rPr lang="sv-SE" smtClean="0"/>
              <a:pPr/>
              <a:t>1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6279239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6DBA7-38D3-4FF9-B176-AA5B07999DDF}" type="slidenum">
              <a:rPr lang="sv-SE" smtClean="0"/>
              <a:pPr/>
              <a:t>11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1331151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tart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 3" descr="Logotype Karolinska Institutet.">
            <a:extLst>
              <a:ext uri="{FF2B5EF4-FFF2-40B4-BE49-F238E27FC236}">
                <a16:creationId xmlns:a16="http://schemas.microsoft.com/office/drawing/2014/main" id="{5C58A32B-CE37-00A7-BB2A-05D502F739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81478" y="262850"/>
            <a:ext cx="1691680" cy="704867"/>
          </a:xfrm>
          <a:prstGeom prst="rect">
            <a:avLst/>
          </a:prstGeom>
        </p:spPr>
      </p:pic>
      <p:sp>
        <p:nvSpPr>
          <p:cNvPr id="3074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685800" y="1545332"/>
            <a:ext cx="7772400" cy="857250"/>
          </a:xfrm>
        </p:spPr>
        <p:txBody>
          <a:bodyPr anchor="ctr"/>
          <a:lstStyle>
            <a:lvl1pPr>
              <a:defRPr sz="3200" kern="1200" spc="-80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sv-SE" noProof="0" dirty="0" err="1"/>
              <a:t>Click</a:t>
            </a:r>
            <a:r>
              <a:rPr lang="sv-SE" noProof="0" dirty="0"/>
              <a:t> to </a:t>
            </a:r>
            <a:r>
              <a:rPr lang="sv-SE" noProof="0" dirty="0" err="1"/>
              <a:t>add</a:t>
            </a:r>
            <a:r>
              <a:rPr lang="sv-SE" noProof="0" dirty="0"/>
              <a:t> </a:t>
            </a:r>
            <a:r>
              <a:rPr lang="sv-SE" noProof="0" dirty="0" err="1"/>
              <a:t>heading</a:t>
            </a:r>
            <a:endParaRPr lang="sv-SE" noProof="0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2553444"/>
            <a:ext cx="7772400" cy="1314450"/>
          </a:xfrm>
        </p:spPr>
        <p:txBody>
          <a:bodyPr/>
          <a:lstStyle>
            <a:lvl1pPr marL="0" indent="0">
              <a:buFont typeface="Wingdings" charset="2"/>
              <a:buNone/>
              <a:defRPr sz="1800" spc="-20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sv-SE" noProof="0" dirty="0" err="1"/>
              <a:t>Click</a:t>
            </a:r>
            <a:r>
              <a:rPr lang="sv-SE" noProof="0" dirty="0"/>
              <a:t> to </a:t>
            </a:r>
            <a:r>
              <a:rPr lang="sv-SE" noProof="0" dirty="0" err="1"/>
              <a:t>add</a:t>
            </a:r>
            <a:r>
              <a:rPr lang="sv-SE" noProof="0" dirty="0"/>
              <a:t> </a:t>
            </a:r>
            <a:r>
              <a:rPr lang="sv-SE" noProof="0" dirty="0" err="1"/>
              <a:t>subheading</a:t>
            </a:r>
            <a:endParaRPr lang="sv-SE" noProof="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slide">
    <p:bg>
      <p:bgPr>
        <a:solidFill>
          <a:srgbClr val="ED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fot 2">
            <a:extLst>
              <a:ext uri="{FF2B5EF4-FFF2-40B4-BE49-F238E27FC236}">
                <a16:creationId xmlns:a16="http://schemas.microsoft.com/office/drawing/2014/main" id="{57C9B0D4-41C6-B8AE-EB61-778050516C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983" y="5280620"/>
            <a:ext cx="2803849" cy="17145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tabLst/>
              <a:defRPr sz="800">
                <a:solidFill>
                  <a:srgbClr val="4F0433"/>
                </a:solidFill>
                <a:latin typeface="+mn-lt"/>
              </a:defRPr>
            </a:lvl1pPr>
          </a:lstStyle>
          <a:p>
            <a:r>
              <a:rPr lang="sv-SE" dirty="0"/>
              <a:t>Karolinska Institutet - a </a:t>
            </a:r>
            <a:r>
              <a:rPr lang="sv-SE" dirty="0" err="1"/>
              <a:t>medical</a:t>
            </a:r>
            <a:r>
              <a:rPr lang="sv-SE" dirty="0"/>
              <a:t> </a:t>
            </a:r>
            <a:r>
              <a:rPr lang="sv-SE" dirty="0" err="1"/>
              <a:t>university</a:t>
            </a:r>
            <a:endParaRPr lang="sv-SE" dirty="0"/>
          </a:p>
        </p:txBody>
      </p:sp>
      <p:sp>
        <p:nvSpPr>
          <p:cNvPr id="3" name="Platshållare för datum 3">
            <a:extLst>
              <a:ext uri="{FF2B5EF4-FFF2-40B4-BE49-F238E27FC236}">
                <a16:creationId xmlns:a16="http://schemas.microsoft.com/office/drawing/2014/main" id="{40CF9FCA-BB63-EAA4-5BF3-C52FD54F83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23447" y="5278502"/>
            <a:ext cx="1905000" cy="171450"/>
          </a:xfrm>
        </p:spPr>
        <p:txBody>
          <a:bodyPr/>
          <a:lstStyle>
            <a:lvl1pPr>
              <a:defRPr/>
            </a:lvl1pPr>
          </a:lstStyle>
          <a:p>
            <a:fld id="{0B99A5A2-19A1-4CFC-BFE3-8B9C2E2B5BE0}" type="datetime1">
              <a:rPr lang="en-GB" smtClean="0"/>
              <a:t>19/10/2026</a:t>
            </a:fld>
            <a:endParaRPr lang="sv-SE" dirty="0"/>
          </a:p>
        </p:txBody>
      </p:sp>
      <p:sp>
        <p:nvSpPr>
          <p:cNvPr id="4" name="Platshållare för bildnummer 5">
            <a:extLst>
              <a:ext uri="{FF2B5EF4-FFF2-40B4-BE49-F238E27FC236}">
                <a16:creationId xmlns:a16="http://schemas.microsoft.com/office/drawing/2014/main" id="{BED4CF09-3C12-3EF1-D5E7-34A36AB16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99847" y="5278502"/>
            <a:ext cx="685800" cy="171450"/>
          </a:xfrm>
        </p:spPr>
        <p:txBody>
          <a:bodyPr/>
          <a:lstStyle>
            <a:lvl1pPr>
              <a:defRPr/>
            </a:lvl1pPr>
          </a:lstStyle>
          <a:p>
            <a:fld id="{15859C56-CB7E-413F-8971-4226A1EF6823}" type="slidenum">
              <a:rPr lang="sv-SE"/>
              <a:pPr/>
              <a:t>‹#›</a:t>
            </a:fld>
            <a:endParaRPr lang="sv-SE" dirty="0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685800" y="1545332"/>
            <a:ext cx="7772400" cy="857250"/>
          </a:xfrm>
        </p:spPr>
        <p:txBody>
          <a:bodyPr anchor="ctr"/>
          <a:lstStyle>
            <a:lvl1pPr>
              <a:defRPr sz="3200" spc="-50" baseline="0">
                <a:solidFill>
                  <a:srgbClr val="4F0433"/>
                </a:solidFill>
              </a:defRPr>
            </a:lvl1pPr>
          </a:lstStyle>
          <a:p>
            <a:pPr lvl="0"/>
            <a:r>
              <a:rPr lang="sv-SE" noProof="0" dirty="0" err="1"/>
              <a:t>Click</a:t>
            </a:r>
            <a:r>
              <a:rPr lang="sv-SE" noProof="0" dirty="0"/>
              <a:t> to </a:t>
            </a:r>
            <a:r>
              <a:rPr lang="sv-SE" noProof="0" dirty="0" err="1"/>
              <a:t>add</a:t>
            </a:r>
            <a:r>
              <a:rPr lang="sv-SE" noProof="0" dirty="0"/>
              <a:t> </a:t>
            </a:r>
            <a:r>
              <a:rPr lang="sv-SE" noProof="0" dirty="0" err="1"/>
              <a:t>heading</a:t>
            </a:r>
            <a:endParaRPr lang="sv-SE" noProof="0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85800" y="2553444"/>
            <a:ext cx="7772400" cy="1314450"/>
          </a:xfrm>
        </p:spPr>
        <p:txBody>
          <a:bodyPr/>
          <a:lstStyle>
            <a:lvl1pPr marL="0" indent="0">
              <a:buFont typeface="Wingdings" charset="2"/>
              <a:buNone/>
              <a:defRPr sz="1800" spc="-20" baseline="0">
                <a:solidFill>
                  <a:srgbClr val="4F0433"/>
                </a:solidFill>
              </a:defRPr>
            </a:lvl1pPr>
          </a:lstStyle>
          <a:p>
            <a:pPr lvl="0"/>
            <a:r>
              <a:rPr lang="sv-SE" noProof="0" dirty="0" err="1"/>
              <a:t>Click</a:t>
            </a:r>
            <a:r>
              <a:rPr lang="sv-SE" noProof="0" dirty="0"/>
              <a:t> to </a:t>
            </a:r>
            <a:r>
              <a:rPr lang="sv-SE" noProof="0" dirty="0" err="1"/>
              <a:t>add</a:t>
            </a:r>
            <a:r>
              <a:rPr lang="sv-SE" noProof="0" dirty="0"/>
              <a:t> </a:t>
            </a:r>
            <a:r>
              <a:rPr lang="sv-SE" noProof="0" dirty="0" err="1"/>
              <a:t>subheading</a:t>
            </a:r>
            <a:endParaRPr lang="sv-SE" noProof="0" dirty="0"/>
          </a:p>
        </p:txBody>
      </p:sp>
    </p:spTree>
    <p:extLst>
      <p:ext uri="{BB962C8B-B14F-4D97-AF65-F5344CB8AC3E}">
        <p14:creationId xmlns:p14="http://schemas.microsoft.com/office/powerpoint/2010/main" val="1633792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55971" y="339502"/>
            <a:ext cx="8632045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sv-SE" dirty="0" err="1"/>
              <a:t>Click</a:t>
            </a:r>
            <a:r>
              <a:rPr lang="sv-SE" dirty="0"/>
              <a:t> to </a:t>
            </a:r>
            <a:r>
              <a:rPr lang="sv-SE" dirty="0" err="1"/>
              <a:t>add</a:t>
            </a:r>
            <a:r>
              <a:rPr lang="sv-SE" dirty="0"/>
              <a:t> </a:t>
            </a:r>
            <a:r>
              <a:rPr lang="sv-SE" dirty="0" err="1"/>
              <a:t>heading</a:t>
            </a:r>
            <a:endParaRPr lang="sv-SE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idx="1" hasCustomPrompt="1"/>
          </p:nvPr>
        </p:nvSpPr>
        <p:spPr bwMode="auto">
          <a:xfrm>
            <a:off x="256774" y="1402829"/>
            <a:ext cx="8631243" cy="3190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</a:lstStyle>
          <a:p>
            <a:pPr lvl="0"/>
            <a:r>
              <a:rPr lang="sv-SE" dirty="0" err="1"/>
              <a:t>Write</a:t>
            </a:r>
            <a:r>
              <a:rPr lang="sv-SE" dirty="0"/>
              <a:t> text </a:t>
            </a:r>
            <a:r>
              <a:rPr lang="sv-SE" dirty="0" err="1"/>
              <a:t>here</a:t>
            </a:r>
            <a:endParaRPr lang="sv-SE" dirty="0"/>
          </a:p>
          <a:p>
            <a:pPr lvl="1"/>
            <a:r>
              <a:rPr lang="sv-SE" dirty="0" err="1"/>
              <a:t>Level</a:t>
            </a:r>
            <a:r>
              <a:rPr lang="sv-SE" dirty="0"/>
              <a:t> </a:t>
            </a:r>
            <a:r>
              <a:rPr lang="sv-SE" dirty="0" err="1"/>
              <a:t>two</a:t>
            </a:r>
            <a:endParaRPr lang="sv-SE" dirty="0"/>
          </a:p>
          <a:p>
            <a:pPr lvl="2"/>
            <a:r>
              <a:rPr lang="sv-SE" dirty="0" err="1"/>
              <a:t>Level</a:t>
            </a:r>
            <a:r>
              <a:rPr lang="sv-SE" dirty="0"/>
              <a:t> </a:t>
            </a:r>
            <a:r>
              <a:rPr lang="sv-SE" dirty="0" err="1"/>
              <a:t>three</a:t>
            </a:r>
            <a:endParaRPr lang="sv-SE" dirty="0"/>
          </a:p>
          <a:p>
            <a:pPr lvl="3"/>
            <a:r>
              <a:rPr lang="sv-SE" dirty="0" err="1"/>
              <a:t>Level</a:t>
            </a:r>
            <a:r>
              <a:rPr lang="sv-SE" dirty="0"/>
              <a:t> </a:t>
            </a:r>
            <a:r>
              <a:rPr lang="sv-SE" dirty="0" err="1"/>
              <a:t>four</a:t>
            </a:r>
            <a:endParaRPr lang="sv-SE" dirty="0"/>
          </a:p>
        </p:txBody>
      </p:sp>
      <p:sp>
        <p:nvSpPr>
          <p:cNvPr id="2" name="Platshållare för sidfot 2">
            <a:extLst>
              <a:ext uri="{FF2B5EF4-FFF2-40B4-BE49-F238E27FC236}">
                <a16:creationId xmlns:a16="http://schemas.microsoft.com/office/drawing/2014/main" id="{009749DF-7E5C-713A-D45D-D9653C97CE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983" y="4790351"/>
            <a:ext cx="2803849" cy="17145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tabLst/>
              <a:defRPr sz="800">
                <a:solidFill>
                  <a:srgbClr val="4F0433"/>
                </a:solidFill>
                <a:latin typeface="+mn-lt"/>
              </a:defRPr>
            </a:lvl1pPr>
          </a:lstStyle>
          <a:p>
            <a:r>
              <a:rPr lang="sv-SE" dirty="0"/>
              <a:t>Karolinska Institutet - a </a:t>
            </a:r>
            <a:r>
              <a:rPr lang="sv-SE" dirty="0" err="1"/>
              <a:t>medical</a:t>
            </a:r>
            <a:r>
              <a:rPr lang="sv-SE" dirty="0"/>
              <a:t> </a:t>
            </a:r>
            <a:r>
              <a:rPr lang="sv-SE" dirty="0" err="1"/>
              <a:t>university</a:t>
            </a:r>
            <a:endParaRPr lang="sv-SE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B99A5A2-19A1-4CFC-BFE3-8B9C2E2B5BE0}" type="datetime1">
              <a:rPr lang="en-GB" smtClean="0"/>
              <a:t>19/10/2026</a:t>
            </a:fld>
            <a:endParaRPr lang="sv-SE" dirty="0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859C56-CB7E-413F-8971-4226A1EF6823}" type="slidenum">
              <a:rPr lang="sv-SE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5126329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 + 2 content p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>
            <a:extLst>
              <a:ext uri="{FF2B5EF4-FFF2-40B4-BE49-F238E27FC236}">
                <a16:creationId xmlns:a16="http://schemas.microsoft.com/office/drawing/2014/main" id="{ED75CC17-B226-9EC7-7062-ECD0FA065757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55971" y="339502"/>
            <a:ext cx="8632045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lvl="0"/>
            <a:r>
              <a:rPr lang="sv-SE" dirty="0" err="1"/>
              <a:t>Click</a:t>
            </a:r>
            <a:r>
              <a:rPr lang="sv-SE" dirty="0"/>
              <a:t> to </a:t>
            </a:r>
            <a:r>
              <a:rPr lang="sv-SE" dirty="0" err="1"/>
              <a:t>add</a:t>
            </a:r>
            <a:r>
              <a:rPr lang="sv-SE" dirty="0"/>
              <a:t> </a:t>
            </a:r>
            <a:r>
              <a:rPr lang="sv-SE" dirty="0" err="1"/>
              <a:t>heading</a:t>
            </a:r>
            <a:endParaRPr lang="sv-SE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B73CEA02-8FD8-B27D-7351-D598B5116632}"/>
              </a:ext>
            </a:extLst>
          </p:cNvPr>
          <p:cNvSpPr>
            <a:spLocks noGrp="1" noChangeArrowheads="1"/>
          </p:cNvSpPr>
          <p:nvPr>
            <p:ph idx="13" hasCustomPrompt="1"/>
          </p:nvPr>
        </p:nvSpPr>
        <p:spPr bwMode="auto">
          <a:xfrm>
            <a:off x="256774" y="1402829"/>
            <a:ext cx="4170039" cy="3190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sv-SE" dirty="0" err="1"/>
              <a:t>Write</a:t>
            </a:r>
            <a:r>
              <a:rPr lang="sv-SE" dirty="0"/>
              <a:t> text </a:t>
            </a:r>
            <a:r>
              <a:rPr lang="sv-SE" dirty="0" err="1"/>
              <a:t>here</a:t>
            </a:r>
            <a:endParaRPr lang="sv-SE" dirty="0"/>
          </a:p>
          <a:p>
            <a:pPr lvl="1"/>
            <a:r>
              <a:rPr lang="sv-SE" dirty="0" err="1"/>
              <a:t>Level</a:t>
            </a:r>
            <a:r>
              <a:rPr lang="sv-SE" dirty="0"/>
              <a:t> </a:t>
            </a:r>
            <a:r>
              <a:rPr lang="sv-SE" dirty="0" err="1"/>
              <a:t>two</a:t>
            </a:r>
            <a:endParaRPr lang="sv-SE" dirty="0"/>
          </a:p>
          <a:p>
            <a:pPr lvl="2"/>
            <a:r>
              <a:rPr lang="sv-SE" dirty="0" err="1"/>
              <a:t>Level</a:t>
            </a:r>
            <a:r>
              <a:rPr lang="sv-SE" dirty="0"/>
              <a:t> </a:t>
            </a:r>
            <a:r>
              <a:rPr lang="sv-SE" dirty="0" err="1"/>
              <a:t>three</a:t>
            </a:r>
            <a:endParaRPr lang="sv-SE" dirty="0"/>
          </a:p>
          <a:p>
            <a:pPr lvl="3"/>
            <a:r>
              <a:rPr lang="sv-SE" dirty="0" err="1"/>
              <a:t>Level</a:t>
            </a:r>
            <a:r>
              <a:rPr lang="sv-SE" dirty="0"/>
              <a:t> </a:t>
            </a:r>
            <a:r>
              <a:rPr lang="sv-SE" dirty="0" err="1"/>
              <a:t>four</a:t>
            </a:r>
            <a:endParaRPr lang="sv-SE" dirty="0"/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 hasCustomPrompt="1"/>
          </p:nvPr>
        </p:nvSpPr>
        <p:spPr>
          <a:xfrm>
            <a:off x="4711200" y="1403857"/>
            <a:ext cx="4170040" cy="3189163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v-SE" dirty="0" err="1"/>
              <a:t>Write</a:t>
            </a:r>
            <a:r>
              <a:rPr lang="sv-SE" dirty="0"/>
              <a:t> text </a:t>
            </a:r>
            <a:r>
              <a:rPr lang="sv-SE" dirty="0" err="1"/>
              <a:t>here</a:t>
            </a:r>
            <a:endParaRPr lang="sv-SE" dirty="0"/>
          </a:p>
          <a:p>
            <a:pPr lvl="1"/>
            <a:r>
              <a:rPr lang="sv-SE" dirty="0" err="1"/>
              <a:t>Level</a:t>
            </a:r>
            <a:r>
              <a:rPr lang="sv-SE" dirty="0"/>
              <a:t> </a:t>
            </a:r>
            <a:r>
              <a:rPr lang="sv-SE" dirty="0" err="1"/>
              <a:t>two</a:t>
            </a:r>
            <a:endParaRPr lang="sv-SE" dirty="0"/>
          </a:p>
          <a:p>
            <a:pPr lvl="2"/>
            <a:r>
              <a:rPr lang="sv-SE" dirty="0" err="1"/>
              <a:t>Level</a:t>
            </a:r>
            <a:r>
              <a:rPr lang="sv-SE" dirty="0"/>
              <a:t> </a:t>
            </a:r>
            <a:r>
              <a:rPr lang="sv-SE" dirty="0" err="1"/>
              <a:t>three</a:t>
            </a:r>
            <a:endParaRPr lang="sv-SE" dirty="0"/>
          </a:p>
          <a:p>
            <a:pPr lvl="3"/>
            <a:r>
              <a:rPr lang="sv-SE" dirty="0" err="1"/>
              <a:t>Level</a:t>
            </a:r>
            <a:r>
              <a:rPr lang="sv-SE" dirty="0"/>
              <a:t> </a:t>
            </a:r>
            <a:r>
              <a:rPr lang="sv-SE" dirty="0" err="1"/>
              <a:t>four</a:t>
            </a:r>
            <a:endParaRPr lang="sv-SE" dirty="0"/>
          </a:p>
        </p:txBody>
      </p:sp>
      <p:sp>
        <p:nvSpPr>
          <p:cNvPr id="2" name="Platshållare för sidfot 2">
            <a:extLst>
              <a:ext uri="{FF2B5EF4-FFF2-40B4-BE49-F238E27FC236}">
                <a16:creationId xmlns:a16="http://schemas.microsoft.com/office/drawing/2014/main" id="{BBC55AFF-EEAC-CC84-7EDE-436AC101B9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983" y="4790351"/>
            <a:ext cx="2803849" cy="17145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tabLst/>
              <a:defRPr sz="800">
                <a:solidFill>
                  <a:srgbClr val="4F0433"/>
                </a:solidFill>
                <a:latin typeface="+mn-lt"/>
              </a:defRPr>
            </a:lvl1pPr>
          </a:lstStyle>
          <a:p>
            <a:r>
              <a:rPr lang="sv-SE"/>
              <a:t>Karolinska Institutet - a medical university</a:t>
            </a:r>
            <a:endParaRPr lang="sv-SE" dirty="0"/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B55F560-0FA5-4CC3-99C4-83095CAE330C}" type="datetime1">
              <a:rPr lang="en-GB" smtClean="0"/>
              <a:t>19/10/2026</a:t>
            </a:fld>
            <a:endParaRPr lang="sv-SE" dirty="0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9C98C6-00F0-4387-A9BA-FB521E0564CA}" type="slidenum">
              <a:rPr lang="sv-SE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168485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fr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A0504E30-026F-2F4E-8AA4-42B2AD69F80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0" y="0"/>
            <a:ext cx="9144000" cy="51435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the first or second icon in the second row of icons to insert an image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20383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+ 1 content and 1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>
            <a:extLst>
              <a:ext uri="{FF2B5EF4-FFF2-40B4-BE49-F238E27FC236}">
                <a16:creationId xmlns:a16="http://schemas.microsoft.com/office/drawing/2014/main" id="{6C309769-9796-3F4C-16EC-30D95F72728F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55971" y="339502"/>
            <a:ext cx="8632045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lvl="0"/>
            <a:r>
              <a:rPr lang="sv-SE" dirty="0" err="1"/>
              <a:t>Click</a:t>
            </a:r>
            <a:r>
              <a:rPr lang="sv-SE" dirty="0"/>
              <a:t> to </a:t>
            </a:r>
            <a:r>
              <a:rPr lang="sv-SE" dirty="0" err="1"/>
              <a:t>add</a:t>
            </a:r>
            <a:r>
              <a:rPr lang="sv-SE" dirty="0"/>
              <a:t> </a:t>
            </a:r>
            <a:r>
              <a:rPr lang="sv-SE" dirty="0" err="1"/>
              <a:t>heading</a:t>
            </a:r>
            <a:endParaRPr lang="sv-SE" dirty="0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0AA63C4E-0A70-530E-97DF-2D2B5352F878}"/>
              </a:ext>
            </a:extLst>
          </p:cNvPr>
          <p:cNvSpPr>
            <a:spLocks noGrp="1" noChangeArrowheads="1"/>
          </p:cNvSpPr>
          <p:nvPr>
            <p:ph idx="15" hasCustomPrompt="1"/>
          </p:nvPr>
        </p:nvSpPr>
        <p:spPr bwMode="auto">
          <a:xfrm>
            <a:off x="256774" y="1402829"/>
            <a:ext cx="4170039" cy="3190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sv-SE" dirty="0" err="1"/>
              <a:t>Write</a:t>
            </a:r>
            <a:r>
              <a:rPr lang="sv-SE" dirty="0"/>
              <a:t> text </a:t>
            </a:r>
            <a:r>
              <a:rPr lang="sv-SE" dirty="0" err="1"/>
              <a:t>here</a:t>
            </a:r>
            <a:endParaRPr lang="sv-SE" dirty="0"/>
          </a:p>
          <a:p>
            <a:pPr lvl="1"/>
            <a:r>
              <a:rPr lang="sv-SE" dirty="0" err="1"/>
              <a:t>Level</a:t>
            </a:r>
            <a:r>
              <a:rPr lang="sv-SE" dirty="0"/>
              <a:t> </a:t>
            </a:r>
            <a:r>
              <a:rPr lang="sv-SE" dirty="0" err="1"/>
              <a:t>two</a:t>
            </a:r>
            <a:endParaRPr lang="sv-SE" dirty="0"/>
          </a:p>
          <a:p>
            <a:pPr lvl="2"/>
            <a:r>
              <a:rPr lang="sv-SE" dirty="0" err="1"/>
              <a:t>Level</a:t>
            </a:r>
            <a:r>
              <a:rPr lang="sv-SE" dirty="0"/>
              <a:t> </a:t>
            </a:r>
            <a:r>
              <a:rPr lang="sv-SE" dirty="0" err="1"/>
              <a:t>three</a:t>
            </a:r>
            <a:endParaRPr lang="sv-SE" dirty="0"/>
          </a:p>
          <a:p>
            <a:pPr lvl="3"/>
            <a:r>
              <a:rPr lang="sv-SE" dirty="0" err="1"/>
              <a:t>Level</a:t>
            </a:r>
            <a:r>
              <a:rPr lang="sv-SE" dirty="0"/>
              <a:t> </a:t>
            </a:r>
            <a:r>
              <a:rPr lang="sv-SE" dirty="0" err="1"/>
              <a:t>four</a:t>
            </a:r>
            <a:endParaRPr lang="sv-SE" dirty="0"/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932F5674-CEDF-3242-F062-BFE26C95349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711200" y="1404631"/>
            <a:ext cx="4170040" cy="3188389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Click the first or second icon in the second row of icons to insert an image</a:t>
            </a:r>
            <a:endParaRPr lang="en-GB" dirty="0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B1D2BA1C-0344-BC2E-84D4-95E7F2FD76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983" y="4790351"/>
            <a:ext cx="2803849" cy="17145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tabLst/>
              <a:defRPr sz="800">
                <a:solidFill>
                  <a:srgbClr val="4F0433"/>
                </a:solidFill>
                <a:latin typeface="+mn-lt"/>
              </a:defRPr>
            </a:lvl1pPr>
          </a:lstStyle>
          <a:p>
            <a:r>
              <a:rPr lang="sv-SE"/>
              <a:t>Karolinska Institutet - a medical university</a:t>
            </a:r>
            <a:endParaRPr lang="sv-SE" dirty="0"/>
          </a:p>
        </p:txBody>
      </p:sp>
      <p:sp>
        <p:nvSpPr>
          <p:cNvPr id="2" name="Platshållare fö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16A3FCF-EDA7-4D26-BE8D-0D5098A7A2A0}" type="datetime1">
              <a:rPr lang="en-GB" smtClean="0"/>
              <a:t>19/10/2026</a:t>
            </a:fld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B570BB-7289-4069-9D4A-2FAE4107D42A}" type="slidenum">
              <a:rPr lang="sv-SE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827238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+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>
            <a:extLst>
              <a:ext uri="{FF2B5EF4-FFF2-40B4-BE49-F238E27FC236}">
                <a16:creationId xmlns:a16="http://schemas.microsoft.com/office/drawing/2014/main" id="{6AB09F81-3DF8-1100-91E4-2C1919909396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55971" y="339502"/>
            <a:ext cx="8632045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lvl="0"/>
            <a:r>
              <a:rPr lang="sv-SE" dirty="0" err="1"/>
              <a:t>Click</a:t>
            </a:r>
            <a:r>
              <a:rPr lang="sv-SE" dirty="0"/>
              <a:t> to </a:t>
            </a:r>
            <a:r>
              <a:rPr lang="sv-SE" dirty="0" err="1"/>
              <a:t>add</a:t>
            </a:r>
            <a:r>
              <a:rPr lang="sv-SE" dirty="0"/>
              <a:t> </a:t>
            </a:r>
            <a:r>
              <a:rPr lang="sv-SE" dirty="0" err="1"/>
              <a:t>heading</a:t>
            </a:r>
            <a:endParaRPr lang="sv-SE" dirty="0"/>
          </a:p>
        </p:txBody>
      </p:sp>
      <p:sp>
        <p:nvSpPr>
          <p:cNvPr id="8" name="Platshållare för innehåll 7">
            <a:extLst>
              <a:ext uri="{FF2B5EF4-FFF2-40B4-BE49-F238E27FC236}">
                <a16:creationId xmlns:a16="http://schemas.microsoft.com/office/drawing/2014/main" id="{FFBD3AD7-6C44-F3A0-2593-5418DFBAB09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255971" y="1401312"/>
            <a:ext cx="4170038" cy="3193712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b="0" i="0" u="none" strike="noStrike" baseline="0" dirty="0">
                <a:solidFill>
                  <a:srgbClr val="000000"/>
                </a:solidFill>
                <a:latin typeface="DM Sans" pitchFamily="2" charset="0"/>
              </a:rPr>
              <a:t>Click the first or second icon in the second row of icons to insert an image</a:t>
            </a:r>
            <a:endParaRPr lang="en-GB" b="0" i="0" u="none" strike="noStrike" baseline="0" dirty="0">
              <a:solidFill>
                <a:srgbClr val="000000"/>
              </a:solidFill>
              <a:latin typeface="DM Sans" pitchFamily="2" charset="0"/>
            </a:endParaRP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5F22D20B-A38A-2C1F-3498-AC2B7335FC0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11200" y="1404631"/>
            <a:ext cx="4170040" cy="3188389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lvl="0"/>
            <a:r>
              <a:rPr lang="en-US" dirty="0"/>
              <a:t>Click the first or second icon in the second row of icons to insert an image</a:t>
            </a:r>
            <a:endParaRPr lang="en-GB" dirty="0"/>
          </a:p>
        </p:txBody>
      </p:sp>
      <p:sp>
        <p:nvSpPr>
          <p:cNvPr id="2" name="Platshållare för sidfot 2">
            <a:extLst>
              <a:ext uri="{FF2B5EF4-FFF2-40B4-BE49-F238E27FC236}">
                <a16:creationId xmlns:a16="http://schemas.microsoft.com/office/drawing/2014/main" id="{372DAC4F-41A4-C8F3-1E26-84893299D9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983" y="4790351"/>
            <a:ext cx="2803849" cy="17145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tabLst/>
              <a:defRPr sz="800">
                <a:solidFill>
                  <a:srgbClr val="4F0433"/>
                </a:solidFill>
                <a:latin typeface="+mn-lt"/>
              </a:defRPr>
            </a:lvl1pPr>
          </a:lstStyle>
          <a:p>
            <a:r>
              <a:rPr lang="sv-SE"/>
              <a:t>Karolinska Institutet - a medical university</a:t>
            </a:r>
            <a:endParaRPr lang="sv-SE" dirty="0"/>
          </a:p>
        </p:txBody>
      </p:sp>
      <p:sp>
        <p:nvSpPr>
          <p:cNvPr id="5" name="Platshållare fö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FB23C43-02AB-49EC-8F17-D0526280C47D}" type="datetime1">
              <a:rPr lang="en-GB" smtClean="0"/>
              <a:t>19/10/2026</a:t>
            </a:fld>
            <a:endParaRPr lang="sv-SE" dirty="0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E6EECC-44D8-4442-87AA-D47F74CC81A2}" type="slidenum">
              <a:rPr lang="sv-SE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657994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+ 2 images m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dirty="0" err="1"/>
              <a:t>Click</a:t>
            </a:r>
            <a:r>
              <a:rPr lang="sv-SE" dirty="0"/>
              <a:t> to </a:t>
            </a:r>
            <a:r>
              <a:rPr lang="sv-SE" dirty="0" err="1"/>
              <a:t>add</a:t>
            </a:r>
            <a:r>
              <a:rPr lang="sv-SE" dirty="0"/>
              <a:t> </a:t>
            </a:r>
            <a:r>
              <a:rPr lang="sv-SE" dirty="0" err="1"/>
              <a:t>heading</a:t>
            </a:r>
            <a:endParaRPr lang="sv-SE" dirty="0"/>
          </a:p>
        </p:txBody>
      </p:sp>
      <p:sp>
        <p:nvSpPr>
          <p:cNvPr id="7" name="Platshållare för innehåll 6">
            <a:extLst>
              <a:ext uri="{FF2B5EF4-FFF2-40B4-BE49-F238E27FC236}">
                <a16:creationId xmlns:a16="http://schemas.microsoft.com/office/drawing/2014/main" id="{BA1DA48D-062A-3C0F-2375-4EA717C42C5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55971" y="1401312"/>
            <a:ext cx="4170038" cy="2520145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b="0" i="0" u="none" strike="noStrike" baseline="0" dirty="0">
                <a:solidFill>
                  <a:srgbClr val="000000"/>
                </a:solidFill>
                <a:latin typeface="DM Sans" pitchFamily="2" charset="0"/>
              </a:rPr>
              <a:t>Click the first or second icon in the second row of icons to insert an image</a:t>
            </a:r>
            <a:endParaRPr lang="en-GB" dirty="0"/>
          </a:p>
        </p:txBody>
      </p:sp>
      <p:sp>
        <p:nvSpPr>
          <p:cNvPr id="10" name="Platshållare för text 9"/>
          <p:cNvSpPr>
            <a:spLocks noGrp="1"/>
          </p:cNvSpPr>
          <p:nvPr>
            <p:ph type="body" sz="quarter" idx="15" hasCustomPrompt="1"/>
          </p:nvPr>
        </p:nvSpPr>
        <p:spPr>
          <a:xfrm>
            <a:off x="255971" y="4016459"/>
            <a:ext cx="4170039" cy="578499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sv-SE" dirty="0" err="1"/>
              <a:t>Click</a:t>
            </a:r>
            <a:r>
              <a:rPr lang="sv-SE" dirty="0"/>
              <a:t> to </a:t>
            </a:r>
            <a:r>
              <a:rPr lang="sv-SE" dirty="0" err="1"/>
              <a:t>add</a:t>
            </a:r>
            <a:r>
              <a:rPr lang="sv-SE" dirty="0"/>
              <a:t> text</a:t>
            </a:r>
          </a:p>
        </p:txBody>
      </p:sp>
      <p:sp>
        <p:nvSpPr>
          <p:cNvPr id="9" name="Platshållare för innehåll 8">
            <a:extLst>
              <a:ext uri="{FF2B5EF4-FFF2-40B4-BE49-F238E27FC236}">
                <a16:creationId xmlns:a16="http://schemas.microsoft.com/office/drawing/2014/main" id="{33CB555F-D425-F70E-7236-981C45B2BAF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711200" y="1404632"/>
            <a:ext cx="4170040" cy="2516826"/>
          </a:xfrm>
        </p:spPr>
        <p:txBody>
          <a:bodyPr/>
          <a:lstStyle>
            <a:lvl1pPr marL="0" indent="0">
              <a:buNone/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b="0" i="0" u="none" strike="noStrike" baseline="0" dirty="0">
                <a:solidFill>
                  <a:srgbClr val="000000"/>
                </a:solidFill>
                <a:latin typeface="DM Sans" pitchFamily="2" charset="0"/>
              </a:rPr>
              <a:t>Click the first or second icon in the second row of icons to insert an image</a:t>
            </a:r>
            <a:endParaRPr lang="en-GB" b="0" i="0" u="none" strike="noStrike" baseline="0" dirty="0">
              <a:solidFill>
                <a:srgbClr val="000000"/>
              </a:solidFill>
              <a:latin typeface="DM Sans" pitchFamily="2" charset="0"/>
            </a:endParaRPr>
          </a:p>
        </p:txBody>
      </p:sp>
      <p:sp>
        <p:nvSpPr>
          <p:cNvPr id="11" name="Platshållare för text 9"/>
          <p:cNvSpPr>
            <a:spLocks noGrp="1"/>
          </p:cNvSpPr>
          <p:nvPr>
            <p:ph type="body" sz="quarter" idx="16" hasCustomPrompt="1"/>
          </p:nvPr>
        </p:nvSpPr>
        <p:spPr>
          <a:xfrm>
            <a:off x="4711200" y="4016459"/>
            <a:ext cx="4170039" cy="574675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sv-SE" dirty="0" err="1"/>
              <a:t>Click</a:t>
            </a:r>
            <a:r>
              <a:rPr lang="sv-SE" dirty="0"/>
              <a:t> to </a:t>
            </a:r>
            <a:r>
              <a:rPr lang="sv-SE" dirty="0" err="1"/>
              <a:t>add</a:t>
            </a:r>
            <a:r>
              <a:rPr lang="sv-SE" dirty="0"/>
              <a:t> text</a:t>
            </a:r>
          </a:p>
        </p:txBody>
      </p:sp>
      <p:sp>
        <p:nvSpPr>
          <p:cNvPr id="4" name="Platshållare för sidfot 2">
            <a:extLst>
              <a:ext uri="{FF2B5EF4-FFF2-40B4-BE49-F238E27FC236}">
                <a16:creationId xmlns:a16="http://schemas.microsoft.com/office/drawing/2014/main" id="{D069920A-1206-9BEB-B428-2FE026E7B3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983" y="4790351"/>
            <a:ext cx="2803849" cy="17145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tabLst/>
              <a:defRPr sz="800">
                <a:solidFill>
                  <a:srgbClr val="4F0433"/>
                </a:solidFill>
                <a:latin typeface="+mn-lt"/>
              </a:defRPr>
            </a:lvl1pPr>
          </a:lstStyle>
          <a:p>
            <a:r>
              <a:rPr lang="sv-SE" dirty="0"/>
              <a:t>Karolinska Institutet - a </a:t>
            </a:r>
            <a:r>
              <a:rPr lang="sv-SE" dirty="0" err="1"/>
              <a:t>medical</a:t>
            </a:r>
            <a:r>
              <a:rPr lang="sv-SE" dirty="0"/>
              <a:t> </a:t>
            </a:r>
            <a:r>
              <a:rPr lang="sv-SE" dirty="0" err="1"/>
              <a:t>university</a:t>
            </a:r>
            <a:endParaRPr lang="sv-SE" dirty="0"/>
          </a:p>
        </p:txBody>
      </p:sp>
      <p:sp>
        <p:nvSpPr>
          <p:cNvPr id="3" name="Platshållare fö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F4331-D6D1-4E26-B16A-55BB8118C67A}" type="datetime1">
              <a:rPr lang="en-GB" smtClean="0"/>
              <a:t>19/10/2026</a:t>
            </a:fld>
            <a:endParaRPr lang="sv-SE" dirty="0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8723E-5A40-4F9A-B83B-0F0B7FEF2706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201580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255971" y="339502"/>
            <a:ext cx="8632045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baseline="0"/>
            </a:lvl1pPr>
          </a:lstStyle>
          <a:p>
            <a:pPr lvl="0"/>
            <a:r>
              <a:rPr lang="sv-SE" dirty="0" err="1"/>
              <a:t>Click</a:t>
            </a:r>
            <a:r>
              <a:rPr lang="sv-SE" dirty="0"/>
              <a:t> to </a:t>
            </a:r>
            <a:r>
              <a:rPr lang="sv-SE" dirty="0" err="1"/>
              <a:t>add</a:t>
            </a:r>
            <a:r>
              <a:rPr lang="sv-SE" dirty="0"/>
              <a:t> </a:t>
            </a:r>
            <a:r>
              <a:rPr lang="sv-SE" dirty="0" err="1"/>
              <a:t>heading</a:t>
            </a:r>
            <a:endParaRPr lang="sv-SE" dirty="0"/>
          </a:p>
        </p:txBody>
      </p:sp>
      <p:sp>
        <p:nvSpPr>
          <p:cNvPr id="2" name="Platshållare för sidfot 2">
            <a:extLst>
              <a:ext uri="{FF2B5EF4-FFF2-40B4-BE49-F238E27FC236}">
                <a16:creationId xmlns:a16="http://schemas.microsoft.com/office/drawing/2014/main" id="{009749DF-7E5C-713A-D45D-D9653C97CE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983" y="4790351"/>
            <a:ext cx="2803849" cy="17145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tabLst/>
              <a:defRPr sz="800">
                <a:solidFill>
                  <a:srgbClr val="4F0433"/>
                </a:solidFill>
                <a:latin typeface="+mn-lt"/>
              </a:defRPr>
            </a:lvl1pPr>
          </a:lstStyle>
          <a:p>
            <a:r>
              <a:rPr lang="sv-SE"/>
              <a:t>Karolinska Institutet - a medical university</a:t>
            </a:r>
            <a:endParaRPr lang="sv-SE" dirty="0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B99A5A2-19A1-4CFC-BFE3-8B9C2E2B5BE0}" type="datetime1">
              <a:rPr lang="en-GB" smtClean="0"/>
              <a:t>19/10/2026</a:t>
            </a:fld>
            <a:endParaRPr lang="sv-SE" dirty="0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859C56-CB7E-413F-8971-4226A1EF6823}" type="slidenum">
              <a:rPr lang="sv-SE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5166402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 2" descr="Logotype Karolinska Institutet.">
            <a:extLst>
              <a:ext uri="{FF2B5EF4-FFF2-40B4-BE49-F238E27FC236}">
                <a16:creationId xmlns:a16="http://schemas.microsoft.com/office/drawing/2014/main" id="{7AC1AD67-1AF6-B109-ABEC-31FF3DEF09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96951" y="1915479"/>
            <a:ext cx="3150096" cy="131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946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 and tex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 3" descr="Logotype Karolinska Institutet.">
            <a:extLst>
              <a:ext uri="{FF2B5EF4-FFF2-40B4-BE49-F238E27FC236}">
                <a16:creationId xmlns:a16="http://schemas.microsoft.com/office/drawing/2014/main" id="{1A2DD4E6-57FC-99BA-083F-4F5711AA37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96951" y="1915479"/>
            <a:ext cx="3150096" cy="1312540"/>
          </a:xfrm>
          <a:prstGeom prst="rect">
            <a:avLst/>
          </a:prstGeom>
        </p:spPr>
      </p:pic>
      <p:sp>
        <p:nvSpPr>
          <p:cNvPr id="3" name="Platshållare för text 9">
            <a:extLst>
              <a:ext uri="{FF2B5EF4-FFF2-40B4-BE49-F238E27FC236}">
                <a16:creationId xmlns:a16="http://schemas.microsoft.com/office/drawing/2014/main" id="{28D153B6-736E-604E-CC38-30ABDB6346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71" y="4299942"/>
            <a:ext cx="8564501" cy="578499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sv-SE" dirty="0" err="1"/>
              <a:t>Click</a:t>
            </a:r>
            <a:r>
              <a:rPr lang="sv-SE" dirty="0"/>
              <a:t> </a:t>
            </a:r>
            <a:r>
              <a:rPr lang="sv-SE" dirty="0" err="1"/>
              <a:t>here</a:t>
            </a:r>
            <a:r>
              <a:rPr lang="sv-SE" dirty="0"/>
              <a:t> to </a:t>
            </a:r>
            <a:r>
              <a:rPr lang="sv-SE" dirty="0" err="1"/>
              <a:t>add</a:t>
            </a:r>
            <a:r>
              <a:rPr lang="sv-SE" dirty="0"/>
              <a:t> text</a:t>
            </a:r>
          </a:p>
        </p:txBody>
      </p:sp>
    </p:spTree>
    <p:extLst>
      <p:ext uri="{BB962C8B-B14F-4D97-AF65-F5344CB8AC3E}">
        <p14:creationId xmlns:p14="http://schemas.microsoft.com/office/powerpoint/2010/main" val="2043686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5983" y="339502"/>
            <a:ext cx="8625257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sv-SE" dirty="0" err="1"/>
              <a:t>Click</a:t>
            </a:r>
            <a:r>
              <a:rPr lang="sv-SE" dirty="0"/>
              <a:t> to </a:t>
            </a:r>
            <a:r>
              <a:rPr lang="sv-SE" dirty="0" err="1"/>
              <a:t>add</a:t>
            </a:r>
            <a:r>
              <a:rPr lang="sv-SE" dirty="0"/>
              <a:t> </a:t>
            </a:r>
            <a:r>
              <a:rPr lang="sv-SE" dirty="0" err="1"/>
              <a:t>heading</a:t>
            </a:r>
            <a:endParaRPr lang="sv-SE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5983" y="1402830"/>
            <a:ext cx="8630513" cy="31851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sv-SE" dirty="0" err="1"/>
              <a:t>Write</a:t>
            </a:r>
            <a:r>
              <a:rPr lang="sv-SE" dirty="0"/>
              <a:t> text </a:t>
            </a:r>
            <a:r>
              <a:rPr lang="sv-SE" dirty="0" err="1"/>
              <a:t>here</a:t>
            </a:r>
            <a:endParaRPr lang="sv-SE" dirty="0"/>
          </a:p>
          <a:p>
            <a:pPr lvl="1"/>
            <a:r>
              <a:rPr lang="sv-SE" dirty="0" err="1"/>
              <a:t>Level</a:t>
            </a:r>
            <a:r>
              <a:rPr lang="sv-SE" dirty="0"/>
              <a:t> </a:t>
            </a:r>
            <a:r>
              <a:rPr lang="sv-SE" dirty="0" err="1"/>
              <a:t>two</a:t>
            </a:r>
            <a:endParaRPr lang="sv-SE" dirty="0"/>
          </a:p>
          <a:p>
            <a:pPr lvl="2"/>
            <a:r>
              <a:rPr lang="sv-SE" dirty="0" err="1"/>
              <a:t>Level</a:t>
            </a:r>
            <a:r>
              <a:rPr lang="sv-SE" dirty="0"/>
              <a:t> </a:t>
            </a:r>
            <a:r>
              <a:rPr lang="sv-SE" dirty="0" err="1"/>
              <a:t>three</a:t>
            </a:r>
            <a:endParaRPr lang="sv-SE" dirty="0"/>
          </a:p>
          <a:p>
            <a:pPr lvl="3"/>
            <a:r>
              <a:rPr lang="sv-SE" dirty="0" err="1"/>
              <a:t>Level</a:t>
            </a:r>
            <a:r>
              <a:rPr lang="sv-SE" dirty="0"/>
              <a:t> </a:t>
            </a:r>
            <a:r>
              <a:rPr lang="sv-SE" dirty="0" err="1"/>
              <a:t>four</a:t>
            </a:r>
            <a:endParaRPr lang="sv-SE" dirty="0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C2080A6F-57B1-B9B7-BFFB-9C38D4F13F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983" y="4790351"/>
            <a:ext cx="2227785" cy="1714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tabLst/>
              <a:defRPr sz="8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sv-SE" dirty="0"/>
              <a:t>Karolinska Institutet - a </a:t>
            </a:r>
            <a:r>
              <a:rPr lang="sv-SE" dirty="0" err="1"/>
              <a:t>medical</a:t>
            </a:r>
            <a:r>
              <a:rPr lang="sv-SE" dirty="0"/>
              <a:t> </a:t>
            </a:r>
            <a:r>
              <a:rPr lang="sv-SE" dirty="0" err="1"/>
              <a:t>university</a:t>
            </a:r>
            <a:endParaRPr lang="sv-SE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623447" y="4788233"/>
            <a:ext cx="1905000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accent1"/>
                </a:solidFill>
                <a:latin typeface="+mn-lt"/>
              </a:defRPr>
            </a:lvl1pPr>
          </a:lstStyle>
          <a:p>
            <a:fld id="{556C4A7E-66B8-4D02-A897-C064A39C4051}" type="datetime1">
              <a:rPr lang="en-GB" smtClean="0"/>
              <a:t>19/10/2026</a:t>
            </a:fld>
            <a:endParaRPr lang="sv-SE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299847" y="4788233"/>
            <a:ext cx="685800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800" b="0">
                <a:solidFill>
                  <a:schemeClr val="accent1"/>
                </a:solidFill>
                <a:latin typeface="+mn-lt"/>
              </a:defRPr>
            </a:lvl1pPr>
          </a:lstStyle>
          <a:p>
            <a:fld id="{B5C8723E-5A40-4F9A-B83B-0F0B7FEF2706}" type="slidenum">
              <a:rPr lang="sv-SE" smtClean="0"/>
              <a:pPr/>
              <a:t>‹#›</a:t>
            </a:fld>
            <a:endParaRPr lang="sv-S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0" r:id="rId3"/>
    <p:sldLayoutId id="2147483652" r:id="rId4"/>
    <p:sldLayoutId id="2147483654" r:id="rId5"/>
    <p:sldLayoutId id="2147483655" r:id="rId6"/>
    <p:sldLayoutId id="2147483657" r:id="rId7"/>
    <p:sldLayoutId id="2147483658" r:id="rId8"/>
    <p:sldLayoutId id="2147483663" r:id="rId9"/>
    <p:sldLayoutId id="2147483659" r:id="rId10"/>
    <p:sldLayoutId id="2147483662" r:id="rId11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0" spc="-50" baseline="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charset="2"/>
        <a:buChar char="à"/>
        <a:defRPr sz="16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1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charset="2"/>
        <a:buChar char="à"/>
        <a:defRPr sz="12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charset="2"/>
        <a:defRPr sz="18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charset="2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charset="2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charset="2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charset="2"/>
        <a:defRPr sz="2000">
          <a:solidFill>
            <a:schemeClr val="tx1"/>
          </a:solidFill>
          <a:latin typeface="+mn-lt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250195B-8A87-0659-1403-6E7233781A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SE" b="1" dirty="0"/>
              <a:t>Bioinformatics Workshop</a:t>
            </a:r>
            <a:endParaRPr lang="en-GB" dirty="0"/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1B4D2C54-6FB1-D0FC-01BE-847D5965E8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2745742"/>
            <a:ext cx="7772400" cy="857250"/>
          </a:xfrm>
        </p:spPr>
        <p:txBody>
          <a:bodyPr/>
          <a:lstStyle/>
          <a:p>
            <a:pPr algn="ctr"/>
            <a:r>
              <a:rPr lang="en-GB" dirty="0"/>
              <a:t>Elyas Mohammadi</a:t>
            </a:r>
          </a:p>
          <a:p>
            <a:pPr algn="ctr"/>
            <a:endParaRPr lang="en-GB" dirty="0"/>
          </a:p>
          <a:p>
            <a:pPr algn="ctr"/>
            <a:r>
              <a:rPr lang="en-GB" sz="1400"/>
              <a:t>October </a:t>
            </a:r>
            <a:r>
              <a:rPr lang="en-GB" sz="1400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099428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7AB9E-D886-F315-69F0-88D54F82A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017289A-3109-EBCC-64A3-557D3CE16151}"/>
              </a:ext>
            </a:extLst>
          </p:cNvPr>
          <p:cNvSpPr txBox="1">
            <a:spLocks/>
          </p:cNvSpPr>
          <p:nvPr/>
        </p:nvSpPr>
        <p:spPr bwMode="auto">
          <a:xfrm>
            <a:off x="685800" y="1545332"/>
            <a:ext cx="7772400" cy="85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7500" lnSpcReduction="10000"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800" b="0" spc="-5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accent1"/>
                </a:solidFill>
                <a:latin typeface="Arial" charset="0"/>
              </a:defRPr>
            </a:lvl9pPr>
          </a:lstStyle>
          <a:p>
            <a:r>
              <a:rPr lang="en-US" b="1" kern="0"/>
              <a:t>Part 3 – How to Read and Understand Bioinformatics Code</a:t>
            </a:r>
            <a:endParaRPr lang="en-US" kern="0" dirty="0"/>
          </a:p>
        </p:txBody>
      </p:sp>
      <p:pic>
        <p:nvPicPr>
          <p:cNvPr id="5" name="Picture 4" descr="Tools for Single Cell Genomics • Seurat">
            <a:extLst>
              <a:ext uri="{FF2B5EF4-FFF2-40B4-BE49-F238E27FC236}">
                <a16:creationId xmlns:a16="http://schemas.microsoft.com/office/drawing/2014/main" id="{9D933173-2CB2-0961-D002-751D667BB0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834" y="3507854"/>
            <a:ext cx="5059507" cy="1113092"/>
          </a:xfrm>
          <a:prstGeom prst="rect">
            <a:avLst/>
          </a:prstGeom>
        </p:spPr>
      </p:pic>
      <p:pic>
        <p:nvPicPr>
          <p:cNvPr id="6" name="Picture 5" descr="The R program | Bioassay">
            <a:extLst>
              <a:ext uri="{FF2B5EF4-FFF2-40B4-BE49-F238E27FC236}">
                <a16:creationId xmlns:a16="http://schemas.microsoft.com/office/drawing/2014/main" id="{ED547B0C-5D72-0E76-1DC9-93539E7B0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6035" y="2427734"/>
            <a:ext cx="1068437" cy="1068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098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0644A-7D61-7D1D-DBE5-7438EA2AA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 data looks like in data repositories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AC988FC-092A-DD14-E418-30206119C28B}"/>
              </a:ext>
            </a:extLst>
          </p:cNvPr>
          <p:cNvGraphicFramePr>
            <a:graphicFrameLocks noGrp="1"/>
          </p:cNvGraphicFramePr>
          <p:nvPr/>
        </p:nvGraphicFramePr>
        <p:xfrm>
          <a:off x="2331444" y="3070685"/>
          <a:ext cx="6572250" cy="1638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770962945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81483015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47726716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19157141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418527601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 dirty="0">
                          <a:effectLst/>
                        </a:rPr>
                        <a:t>8</a:t>
                      </a:r>
                    </a:p>
                  </a:txBody>
                  <a:tcPr marL="85725" marR="857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6</a:t>
                      </a:r>
                    </a:p>
                  </a:txBody>
                  <a:tcPr marL="85725" marR="857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0</a:t>
                      </a:r>
                    </a:p>
                  </a:txBody>
                  <a:tcPr marL="85725" marR="857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0</a:t>
                      </a:r>
                    </a:p>
                  </a:txBody>
                  <a:tcPr marL="85725" marR="857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 dirty="0">
                          <a:effectLst/>
                        </a:rPr>
                        <a:t>.</a:t>
                      </a:r>
                    </a:p>
                  </a:txBody>
                  <a:tcPr marL="85725" marR="85725" marT="57150" marB="5715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97552979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0</a:t>
                      </a:r>
                    </a:p>
                  </a:txBody>
                  <a:tcPr marL="85725" marR="857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0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12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9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 dirty="0">
                          <a:effectLst/>
                        </a:rPr>
                        <a:t>.</a:t>
                      </a:r>
                    </a:p>
                  </a:txBody>
                  <a:tcPr marL="85725" marR="85725" marT="57150" marB="5715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74810985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0</a:t>
                      </a:r>
                    </a:p>
                  </a:txBody>
                  <a:tcPr marL="85725" marR="857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1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0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0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 dirty="0">
                          <a:effectLst/>
                        </a:rPr>
                        <a:t>.</a:t>
                      </a:r>
                    </a:p>
                  </a:txBody>
                  <a:tcPr marL="85725" marR="85725" marT="57150" marB="5715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9966582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 dirty="0">
                          <a:effectLst/>
                        </a:rPr>
                        <a:t>15</a:t>
                      </a:r>
                    </a:p>
                  </a:txBody>
                  <a:tcPr marL="85725" marR="857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11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18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 dirty="0">
                          <a:effectLst/>
                        </a:rPr>
                        <a:t>14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 dirty="0">
                          <a:effectLst/>
                        </a:rPr>
                        <a:t>.</a:t>
                      </a:r>
                    </a:p>
                  </a:txBody>
                  <a:tcPr marL="85725" marR="85725" marT="57150" marB="5715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76439905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 dirty="0">
                          <a:effectLst/>
                        </a:rPr>
                        <a:t>.</a:t>
                      </a:r>
                    </a:p>
                  </a:txBody>
                  <a:tcPr marL="85725" marR="857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 dirty="0">
                          <a:effectLst/>
                        </a:rPr>
                        <a:t>.</a:t>
                      </a:r>
                    </a:p>
                  </a:txBody>
                  <a:tcPr marL="85725" marR="85725" marT="57150" marB="5715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 dirty="0">
                          <a:effectLst/>
                        </a:rPr>
                        <a:t>.</a:t>
                      </a:r>
                    </a:p>
                  </a:txBody>
                  <a:tcPr marL="85725" marR="85725" marT="57150" marB="5715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 dirty="0">
                          <a:effectLst/>
                        </a:rPr>
                        <a:t>.</a:t>
                      </a:r>
                    </a:p>
                  </a:txBody>
                  <a:tcPr marL="85725" marR="85725" marT="57150" marB="5715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 dirty="0">
                          <a:effectLst/>
                        </a:rPr>
                        <a:t>.</a:t>
                      </a:r>
                    </a:p>
                  </a:txBody>
                  <a:tcPr marL="85725" marR="85725" marT="57150" marB="5715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891083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5268484-65FA-E8D6-A928-3618EF72C5E3}"/>
              </a:ext>
            </a:extLst>
          </p:cNvPr>
          <p:cNvGraphicFramePr>
            <a:graphicFrameLocks noGrp="1"/>
          </p:cNvGraphicFramePr>
          <p:nvPr/>
        </p:nvGraphicFramePr>
        <p:xfrm>
          <a:off x="240306" y="2750645"/>
          <a:ext cx="1314450" cy="1965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723815898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 dirty="0">
                          <a:effectLst/>
                        </a:rPr>
                        <a:t>Gene</a:t>
                      </a:r>
                    </a:p>
                  </a:txBody>
                  <a:tcPr marL="85725" marR="857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44479436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 dirty="0">
                          <a:effectLst/>
                        </a:rPr>
                        <a:t>CD3D</a:t>
                      </a:r>
                    </a:p>
                  </a:txBody>
                  <a:tcPr marL="85725" marR="857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9562743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 dirty="0">
                          <a:effectLst/>
                        </a:rPr>
                        <a:t>CD79A</a:t>
                      </a:r>
                    </a:p>
                  </a:txBody>
                  <a:tcPr marL="85725" marR="857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6280844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 dirty="0">
                          <a:effectLst/>
                        </a:rPr>
                        <a:t>LST1</a:t>
                      </a:r>
                    </a:p>
                  </a:txBody>
                  <a:tcPr marL="85725" marR="857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01328744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 dirty="0">
                          <a:effectLst/>
                        </a:rPr>
                        <a:t>GAPDH</a:t>
                      </a:r>
                    </a:p>
                  </a:txBody>
                  <a:tcPr marL="85725" marR="857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4333018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 dirty="0">
                          <a:effectLst/>
                        </a:rPr>
                        <a:t>.</a:t>
                      </a:r>
                    </a:p>
                  </a:txBody>
                  <a:tcPr marL="85725" marR="857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205207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30A91C1-540D-50F0-78D0-9BE739E40269}"/>
              </a:ext>
            </a:extLst>
          </p:cNvPr>
          <p:cNvGraphicFramePr>
            <a:graphicFrameLocks noGrp="1"/>
          </p:cNvGraphicFramePr>
          <p:nvPr/>
        </p:nvGraphicFramePr>
        <p:xfrm>
          <a:off x="2422334" y="1490402"/>
          <a:ext cx="6572250" cy="3276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2903924352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68863763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75088732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018752759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637893397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 dirty="0">
                          <a:effectLst/>
                        </a:rPr>
                        <a:t>Cell 1</a:t>
                      </a:r>
                    </a:p>
                  </a:txBody>
                  <a:tcPr marL="85725" marR="857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 dirty="0">
                          <a:effectLst/>
                        </a:rPr>
                        <a:t>Cell 2</a:t>
                      </a:r>
                    </a:p>
                  </a:txBody>
                  <a:tcPr marL="85725" marR="857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 dirty="0">
                          <a:effectLst/>
                        </a:rPr>
                        <a:t>Cell 3</a:t>
                      </a:r>
                    </a:p>
                  </a:txBody>
                  <a:tcPr marL="85725" marR="857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 dirty="0">
                          <a:effectLst/>
                        </a:rPr>
                        <a:t>Cell 4</a:t>
                      </a:r>
                    </a:p>
                  </a:txBody>
                  <a:tcPr marL="85725" marR="85725" marT="57150" marB="571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 dirty="0">
                          <a:effectLst/>
                        </a:rPr>
                        <a:t>.</a:t>
                      </a:r>
                    </a:p>
                  </a:txBody>
                  <a:tcPr marL="85725" marR="85725" marT="57150" marB="5715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521616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F44EE6F-71C3-2779-9F45-1602FFB5AA71}"/>
              </a:ext>
            </a:extLst>
          </p:cNvPr>
          <p:cNvSpPr txBox="1"/>
          <p:nvPr/>
        </p:nvSpPr>
        <p:spPr>
          <a:xfrm>
            <a:off x="156583" y="2392855"/>
            <a:ext cx="1363322" cy="380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75" b="1" dirty="0" err="1"/>
              <a:t>features.tsv</a:t>
            </a:r>
            <a:endParaRPr lang="en-US" sz="1875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7622C4-6BF3-3974-9A44-474B5E0B0BA1}"/>
              </a:ext>
            </a:extLst>
          </p:cNvPr>
          <p:cNvSpPr txBox="1"/>
          <p:nvPr/>
        </p:nvSpPr>
        <p:spPr>
          <a:xfrm>
            <a:off x="775432" y="1428642"/>
            <a:ext cx="1456296" cy="380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75" b="1" dirty="0" err="1"/>
              <a:t>barcodes.tsv</a:t>
            </a:r>
            <a:endParaRPr lang="en-US" sz="1875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D0E27D-4C5F-C7D6-E8FC-7CC3CEF87D10}"/>
              </a:ext>
            </a:extLst>
          </p:cNvPr>
          <p:cNvSpPr txBox="1"/>
          <p:nvPr/>
        </p:nvSpPr>
        <p:spPr>
          <a:xfrm>
            <a:off x="4302401" y="2622006"/>
            <a:ext cx="1342034" cy="380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75" b="1" dirty="0" err="1"/>
              <a:t>matrix.mtx</a:t>
            </a:r>
            <a:endParaRPr lang="en-US" sz="1875" b="1" dirty="0"/>
          </a:p>
        </p:txBody>
      </p:sp>
    </p:spTree>
    <p:extLst>
      <p:ext uri="{BB962C8B-B14F-4D97-AF65-F5344CB8AC3E}">
        <p14:creationId xmlns:p14="http://schemas.microsoft.com/office/powerpoint/2010/main" val="1645297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FD715-45E5-BEDF-9F45-3DB5EA399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highlight>
                  <a:srgbClr val="C0C0C0"/>
                </a:highlight>
              </a:rPr>
              <a:t>Read10X() </a:t>
            </a:r>
            <a:r>
              <a:rPr lang="en-US" dirty="0"/>
              <a:t>function</a:t>
            </a:r>
            <a:endParaRPr lang="en-US" i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46E3F6B-EDE9-B2C4-990E-40E4297BC090}"/>
              </a:ext>
            </a:extLst>
          </p:cNvPr>
          <p:cNvGraphicFramePr>
            <a:graphicFrameLocks noGrp="1"/>
          </p:cNvGraphicFramePr>
          <p:nvPr/>
        </p:nvGraphicFramePr>
        <p:xfrm>
          <a:off x="690338" y="1163600"/>
          <a:ext cx="7886700" cy="1965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378731763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770962945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81483015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47726716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19157141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418527601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 dirty="0">
                          <a:effectLst/>
                        </a:rPr>
                        <a:t>Gene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Cell 1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Cell 2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Cell 3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 dirty="0">
                          <a:effectLst/>
                        </a:rPr>
                        <a:t>Cell 4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 dirty="0">
                          <a:effectLst/>
                        </a:rPr>
                        <a:t>.</a:t>
                      </a:r>
                    </a:p>
                  </a:txBody>
                  <a:tcPr marL="85725" marR="85725" marT="57150" marB="57150" anchor="ctr"/>
                </a:tc>
                <a:extLst>
                  <a:ext uri="{0D108BD9-81ED-4DB2-BD59-A6C34878D82A}">
                    <a16:rowId xmlns:a16="http://schemas.microsoft.com/office/drawing/2014/main" val="5054315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 dirty="0">
                          <a:effectLst/>
                        </a:rPr>
                        <a:t>CD3D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 dirty="0">
                          <a:effectLst/>
                        </a:rPr>
                        <a:t>8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6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0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0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 dirty="0">
                          <a:effectLst/>
                        </a:rPr>
                        <a:t>.</a:t>
                      </a:r>
                    </a:p>
                  </a:txBody>
                  <a:tcPr marL="85725" marR="85725" marT="57150" marB="57150" anchor="ctr"/>
                </a:tc>
                <a:extLst>
                  <a:ext uri="{0D108BD9-81ED-4DB2-BD59-A6C34878D82A}">
                    <a16:rowId xmlns:a16="http://schemas.microsoft.com/office/drawing/2014/main" val="397552979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 dirty="0">
                          <a:effectLst/>
                        </a:rPr>
                        <a:t>CD79A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 dirty="0">
                          <a:effectLst/>
                        </a:rPr>
                        <a:t>0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 dirty="0">
                          <a:effectLst/>
                        </a:rPr>
                        <a:t>0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12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9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 dirty="0">
                          <a:effectLst/>
                        </a:rPr>
                        <a:t>.</a:t>
                      </a:r>
                    </a:p>
                  </a:txBody>
                  <a:tcPr marL="85725" marR="85725" marT="57150" marB="57150" anchor="ctr"/>
                </a:tc>
                <a:extLst>
                  <a:ext uri="{0D108BD9-81ED-4DB2-BD59-A6C34878D82A}">
                    <a16:rowId xmlns:a16="http://schemas.microsoft.com/office/drawing/2014/main" val="274810985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LST1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0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1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 dirty="0">
                          <a:effectLst/>
                        </a:rPr>
                        <a:t>0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 dirty="0">
                          <a:effectLst/>
                        </a:rPr>
                        <a:t>0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 dirty="0">
                          <a:effectLst/>
                        </a:rPr>
                        <a:t>.</a:t>
                      </a:r>
                    </a:p>
                  </a:txBody>
                  <a:tcPr marL="85725" marR="85725" marT="57150" marB="57150" anchor="ctr"/>
                </a:tc>
                <a:extLst>
                  <a:ext uri="{0D108BD9-81ED-4DB2-BD59-A6C34878D82A}">
                    <a16:rowId xmlns:a16="http://schemas.microsoft.com/office/drawing/2014/main" val="349966582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 dirty="0">
                          <a:effectLst/>
                        </a:rPr>
                        <a:t>GAPDH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15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 dirty="0">
                          <a:effectLst/>
                        </a:rPr>
                        <a:t>11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18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 dirty="0">
                          <a:effectLst/>
                        </a:rPr>
                        <a:t>14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 dirty="0">
                          <a:effectLst/>
                        </a:rPr>
                        <a:t>.</a:t>
                      </a:r>
                    </a:p>
                  </a:txBody>
                  <a:tcPr marL="85725" marR="85725" marT="57150" marB="57150" anchor="ctr"/>
                </a:tc>
                <a:extLst>
                  <a:ext uri="{0D108BD9-81ED-4DB2-BD59-A6C34878D82A}">
                    <a16:rowId xmlns:a16="http://schemas.microsoft.com/office/drawing/2014/main" val="176439905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 dirty="0">
                          <a:effectLst/>
                        </a:rPr>
                        <a:t>.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 dirty="0">
                          <a:effectLst/>
                        </a:rPr>
                        <a:t>.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 dirty="0">
                          <a:effectLst/>
                        </a:rPr>
                        <a:t>.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 dirty="0">
                          <a:effectLst/>
                        </a:rPr>
                        <a:t>.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 dirty="0">
                          <a:effectLst/>
                        </a:rPr>
                        <a:t>.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 dirty="0">
                          <a:effectLst/>
                        </a:rPr>
                        <a:t>.</a:t>
                      </a:r>
                    </a:p>
                  </a:txBody>
                  <a:tcPr marL="85725" marR="85725" marT="57150" marB="57150" anchor="ctr"/>
                </a:tc>
                <a:extLst>
                  <a:ext uri="{0D108BD9-81ED-4DB2-BD59-A6C34878D82A}">
                    <a16:rowId xmlns:a16="http://schemas.microsoft.com/office/drawing/2014/main" val="211891083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F4045B8-2557-7BCB-E371-C406A667C56E}"/>
              </a:ext>
            </a:extLst>
          </p:cNvPr>
          <p:cNvSpPr txBox="1"/>
          <p:nvPr/>
        </p:nvSpPr>
        <p:spPr>
          <a:xfrm>
            <a:off x="690338" y="3287402"/>
            <a:ext cx="596989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SE" sz="1800" b="1" dirty="0"/>
              <a:t>Rows = genes</a:t>
            </a:r>
            <a:br>
              <a:rPr lang="en-SE" sz="1800" dirty="0"/>
            </a:br>
            <a:r>
              <a:rPr lang="en-SE" sz="1800" b="1" dirty="0"/>
              <a:t>Columns = cells</a:t>
            </a:r>
            <a:br>
              <a:rPr lang="en-SE" sz="1800" dirty="0"/>
            </a:br>
            <a:r>
              <a:rPr lang="en-SE" sz="1800" b="1" dirty="0"/>
              <a:t>Values = expression counts (usually UMI counts)</a:t>
            </a:r>
            <a:r>
              <a:rPr lang="en-SE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59480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69B73-38CC-2A4B-0E14-04148763D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i="1" dirty="0">
                <a:highlight>
                  <a:srgbClr val="C0C0C0"/>
                </a:highlight>
              </a:rPr>
              <a:t>CreateSeuratObject() </a:t>
            </a:r>
            <a:r>
              <a:rPr lang="en-SE" dirty="0"/>
              <a:t>function</a:t>
            </a:r>
            <a:endParaRPr lang="en-US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0517769-6984-9252-4B7B-137D3AE5E4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8690343"/>
              </p:ext>
            </p:extLst>
          </p:nvPr>
        </p:nvGraphicFramePr>
        <p:xfrm>
          <a:off x="256783" y="1964418"/>
          <a:ext cx="3106500" cy="16874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7750">
                  <a:extLst>
                    <a:ext uri="{9D8B030D-6E8A-4147-A177-3AD203B41FA5}">
                      <a16:colId xmlns:a16="http://schemas.microsoft.com/office/drawing/2014/main" val="3787317637"/>
                    </a:ext>
                  </a:extLst>
                </a:gridCol>
                <a:gridCol w="517750">
                  <a:extLst>
                    <a:ext uri="{9D8B030D-6E8A-4147-A177-3AD203B41FA5}">
                      <a16:colId xmlns:a16="http://schemas.microsoft.com/office/drawing/2014/main" val="770962945"/>
                    </a:ext>
                  </a:extLst>
                </a:gridCol>
                <a:gridCol w="517750">
                  <a:extLst>
                    <a:ext uri="{9D8B030D-6E8A-4147-A177-3AD203B41FA5}">
                      <a16:colId xmlns:a16="http://schemas.microsoft.com/office/drawing/2014/main" val="281483015"/>
                    </a:ext>
                  </a:extLst>
                </a:gridCol>
                <a:gridCol w="517750">
                  <a:extLst>
                    <a:ext uri="{9D8B030D-6E8A-4147-A177-3AD203B41FA5}">
                      <a16:colId xmlns:a16="http://schemas.microsoft.com/office/drawing/2014/main" val="1477267166"/>
                    </a:ext>
                  </a:extLst>
                </a:gridCol>
                <a:gridCol w="517750">
                  <a:extLst>
                    <a:ext uri="{9D8B030D-6E8A-4147-A177-3AD203B41FA5}">
                      <a16:colId xmlns:a16="http://schemas.microsoft.com/office/drawing/2014/main" val="319157141"/>
                    </a:ext>
                  </a:extLst>
                </a:gridCol>
                <a:gridCol w="517750">
                  <a:extLst>
                    <a:ext uri="{9D8B030D-6E8A-4147-A177-3AD203B41FA5}">
                      <a16:colId xmlns:a16="http://schemas.microsoft.com/office/drawing/2014/main" val="4185276012"/>
                    </a:ext>
                  </a:extLst>
                </a:gridCol>
              </a:tblGrid>
              <a:tr h="239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800" dirty="0">
                          <a:effectLst/>
                        </a:rPr>
                        <a:t>Gene</a:t>
                      </a:r>
                    </a:p>
                  </a:txBody>
                  <a:tcPr marL="85725" marR="857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800" dirty="0">
                          <a:effectLst/>
                        </a:rPr>
                        <a:t>Cell 1</a:t>
                      </a:r>
                    </a:p>
                  </a:txBody>
                  <a:tcPr marL="85725" marR="857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800">
                          <a:effectLst/>
                        </a:rPr>
                        <a:t>Cell 2</a:t>
                      </a:r>
                    </a:p>
                  </a:txBody>
                  <a:tcPr marL="85725" marR="857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800">
                          <a:effectLst/>
                        </a:rPr>
                        <a:t>Cell 3</a:t>
                      </a:r>
                    </a:p>
                  </a:txBody>
                  <a:tcPr marL="85725" marR="857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800" dirty="0">
                          <a:effectLst/>
                        </a:rPr>
                        <a:t>Cell 4</a:t>
                      </a:r>
                    </a:p>
                  </a:txBody>
                  <a:tcPr marL="85725" marR="857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800" dirty="0">
                          <a:effectLst/>
                        </a:rPr>
                        <a:t>.</a:t>
                      </a:r>
                    </a:p>
                  </a:txBody>
                  <a:tcPr marL="85725" marR="857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5431508"/>
                  </a:ext>
                </a:extLst>
              </a:tr>
              <a:tr h="239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800" dirty="0">
                          <a:effectLst/>
                        </a:rPr>
                        <a:t>CD3D</a:t>
                      </a:r>
                    </a:p>
                  </a:txBody>
                  <a:tcPr marL="85725" marR="857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800" dirty="0">
                          <a:effectLst/>
                        </a:rPr>
                        <a:t>8</a:t>
                      </a:r>
                    </a:p>
                  </a:txBody>
                  <a:tcPr marL="85725" marR="857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800" dirty="0">
                          <a:effectLst/>
                        </a:rPr>
                        <a:t>6</a:t>
                      </a:r>
                    </a:p>
                  </a:txBody>
                  <a:tcPr marL="85725" marR="857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800">
                          <a:effectLst/>
                        </a:rPr>
                        <a:t>0</a:t>
                      </a:r>
                    </a:p>
                  </a:txBody>
                  <a:tcPr marL="85725" marR="857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800">
                          <a:effectLst/>
                        </a:rPr>
                        <a:t>0</a:t>
                      </a:r>
                    </a:p>
                  </a:txBody>
                  <a:tcPr marL="85725" marR="857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800" dirty="0">
                          <a:effectLst/>
                        </a:rPr>
                        <a:t>.</a:t>
                      </a:r>
                    </a:p>
                  </a:txBody>
                  <a:tcPr marL="85725" marR="857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5529793"/>
                  </a:ext>
                </a:extLst>
              </a:tr>
              <a:tr h="3638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800" dirty="0">
                          <a:effectLst/>
                        </a:rPr>
                        <a:t>CD79A</a:t>
                      </a:r>
                    </a:p>
                  </a:txBody>
                  <a:tcPr marL="85725" marR="857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800">
                          <a:effectLst/>
                        </a:rPr>
                        <a:t>0</a:t>
                      </a:r>
                    </a:p>
                  </a:txBody>
                  <a:tcPr marL="85725" marR="857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800" dirty="0">
                          <a:effectLst/>
                        </a:rPr>
                        <a:t>0</a:t>
                      </a:r>
                    </a:p>
                  </a:txBody>
                  <a:tcPr marL="85725" marR="857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800" dirty="0">
                          <a:effectLst/>
                        </a:rPr>
                        <a:t>12</a:t>
                      </a:r>
                    </a:p>
                  </a:txBody>
                  <a:tcPr marL="85725" marR="857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800">
                          <a:effectLst/>
                        </a:rPr>
                        <a:t>9</a:t>
                      </a:r>
                    </a:p>
                  </a:txBody>
                  <a:tcPr marL="85725" marR="857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800" dirty="0">
                          <a:effectLst/>
                        </a:rPr>
                        <a:t>.</a:t>
                      </a:r>
                    </a:p>
                  </a:txBody>
                  <a:tcPr marL="85725" marR="857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8109853"/>
                  </a:ext>
                </a:extLst>
              </a:tr>
              <a:tr h="239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800">
                          <a:effectLst/>
                        </a:rPr>
                        <a:t>LST1</a:t>
                      </a:r>
                    </a:p>
                  </a:txBody>
                  <a:tcPr marL="85725" marR="857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800">
                          <a:effectLst/>
                        </a:rPr>
                        <a:t>0</a:t>
                      </a:r>
                    </a:p>
                  </a:txBody>
                  <a:tcPr marL="85725" marR="857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800">
                          <a:effectLst/>
                        </a:rPr>
                        <a:t>1</a:t>
                      </a:r>
                    </a:p>
                  </a:txBody>
                  <a:tcPr marL="85725" marR="857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800" dirty="0">
                          <a:effectLst/>
                        </a:rPr>
                        <a:t>0</a:t>
                      </a:r>
                    </a:p>
                  </a:txBody>
                  <a:tcPr marL="85725" marR="857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800" dirty="0">
                          <a:effectLst/>
                        </a:rPr>
                        <a:t>0</a:t>
                      </a:r>
                    </a:p>
                  </a:txBody>
                  <a:tcPr marL="85725" marR="857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800" dirty="0">
                          <a:effectLst/>
                        </a:rPr>
                        <a:t>.</a:t>
                      </a:r>
                    </a:p>
                  </a:txBody>
                  <a:tcPr marL="85725" marR="857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9665825"/>
                  </a:ext>
                </a:extLst>
              </a:tr>
              <a:tr h="3638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800" dirty="0">
                          <a:effectLst/>
                        </a:rPr>
                        <a:t>GAPDH</a:t>
                      </a:r>
                    </a:p>
                  </a:txBody>
                  <a:tcPr marL="85725" marR="857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800">
                          <a:effectLst/>
                        </a:rPr>
                        <a:t>15</a:t>
                      </a:r>
                    </a:p>
                  </a:txBody>
                  <a:tcPr marL="85725" marR="857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800" dirty="0">
                          <a:effectLst/>
                        </a:rPr>
                        <a:t>11</a:t>
                      </a:r>
                    </a:p>
                  </a:txBody>
                  <a:tcPr marL="85725" marR="857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800">
                          <a:effectLst/>
                        </a:rPr>
                        <a:t>18</a:t>
                      </a:r>
                    </a:p>
                  </a:txBody>
                  <a:tcPr marL="85725" marR="857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800" dirty="0">
                          <a:effectLst/>
                        </a:rPr>
                        <a:t>14</a:t>
                      </a:r>
                    </a:p>
                  </a:txBody>
                  <a:tcPr marL="85725" marR="857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800" dirty="0">
                          <a:effectLst/>
                        </a:rPr>
                        <a:t>.</a:t>
                      </a:r>
                    </a:p>
                  </a:txBody>
                  <a:tcPr marL="85725" marR="857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4399051"/>
                  </a:ext>
                </a:extLst>
              </a:tr>
              <a:tr h="239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800" dirty="0">
                          <a:effectLst/>
                        </a:rPr>
                        <a:t>.</a:t>
                      </a:r>
                    </a:p>
                  </a:txBody>
                  <a:tcPr marL="85725" marR="857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800" dirty="0">
                          <a:effectLst/>
                        </a:rPr>
                        <a:t>.</a:t>
                      </a:r>
                    </a:p>
                  </a:txBody>
                  <a:tcPr marL="85725" marR="857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800" dirty="0">
                          <a:effectLst/>
                        </a:rPr>
                        <a:t>.</a:t>
                      </a:r>
                    </a:p>
                  </a:txBody>
                  <a:tcPr marL="85725" marR="857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800" dirty="0">
                          <a:effectLst/>
                        </a:rPr>
                        <a:t>.</a:t>
                      </a:r>
                    </a:p>
                  </a:txBody>
                  <a:tcPr marL="85725" marR="857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800" dirty="0">
                          <a:effectLst/>
                        </a:rPr>
                        <a:t>.</a:t>
                      </a:r>
                    </a:p>
                  </a:txBody>
                  <a:tcPr marL="85725" marR="857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800" dirty="0">
                          <a:effectLst/>
                        </a:rPr>
                        <a:t>.</a:t>
                      </a:r>
                    </a:p>
                  </a:txBody>
                  <a:tcPr marL="85725" marR="857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8910837"/>
                  </a:ext>
                </a:extLst>
              </a:tr>
            </a:tbl>
          </a:graphicData>
        </a:graphic>
      </p:graphicFrame>
      <p:sp>
        <p:nvSpPr>
          <p:cNvPr id="13" name="Right Arrow 12">
            <a:extLst>
              <a:ext uri="{FF2B5EF4-FFF2-40B4-BE49-F238E27FC236}">
                <a16:creationId xmlns:a16="http://schemas.microsoft.com/office/drawing/2014/main" id="{ED0828C1-B058-906E-BFA8-6BF9BC35AFA4}"/>
              </a:ext>
            </a:extLst>
          </p:cNvPr>
          <p:cNvSpPr/>
          <p:nvPr/>
        </p:nvSpPr>
        <p:spPr>
          <a:xfrm>
            <a:off x="3472991" y="2707340"/>
            <a:ext cx="450937" cy="2613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C648F19-765E-D9FE-CC11-0A3F1B5E0D73}"/>
              </a:ext>
            </a:extLst>
          </p:cNvPr>
          <p:cNvGrpSpPr/>
          <p:nvPr/>
        </p:nvGrpSpPr>
        <p:grpSpPr>
          <a:xfrm>
            <a:off x="3983277" y="1510886"/>
            <a:ext cx="4960307" cy="2434812"/>
            <a:chOff x="5311035" y="2014515"/>
            <a:chExt cx="6613743" cy="3246416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3F55EAF-7BC2-762C-0FDC-C38243B98B2D}"/>
                </a:ext>
              </a:extLst>
            </p:cNvPr>
            <p:cNvGrpSpPr/>
            <p:nvPr/>
          </p:nvGrpSpPr>
          <p:grpSpPr>
            <a:xfrm>
              <a:off x="5311035" y="2014515"/>
              <a:ext cx="6613743" cy="3246416"/>
              <a:chOff x="2001031" y="2152302"/>
              <a:chExt cx="7241443" cy="3534514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4AACBC83-9FB9-61D3-9705-CAC309F580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001031" y="2152302"/>
                <a:ext cx="7241443" cy="3534514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43A9CF3F-450F-088D-67E7-64F060EEA4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t="71235" r="76288"/>
              <a:stretch>
                <a:fillRect/>
              </a:stretch>
            </p:blipFill>
            <p:spPr>
              <a:xfrm>
                <a:off x="4596006" y="4459265"/>
                <a:ext cx="1717111" cy="1016695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2ABF7023-BADB-86B9-981B-E15BB066C0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21615" t="71235" r="55552"/>
              <a:stretch>
                <a:fillRect/>
              </a:stretch>
            </p:blipFill>
            <p:spPr>
              <a:xfrm>
                <a:off x="2122808" y="4670121"/>
                <a:ext cx="1653435" cy="1016695"/>
              </a:xfrm>
              <a:prstGeom prst="rect">
                <a:avLst/>
              </a:prstGeom>
            </p:spPr>
          </p:pic>
        </p:grp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D07B2BE0-F7FF-B33A-42AB-E74E48B2D2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1615" t="71234" r="55552" b="3087"/>
            <a:stretch>
              <a:fillRect/>
            </a:stretch>
          </p:blipFill>
          <p:spPr>
            <a:xfrm>
              <a:off x="9476790" y="4339633"/>
              <a:ext cx="1510113" cy="833616"/>
            </a:xfrm>
            <a:prstGeom prst="rect">
              <a:avLst/>
            </a:prstGeom>
          </p:spPr>
        </p:pic>
      </p:grpSp>
      <p:pic>
        <p:nvPicPr>
          <p:cNvPr id="3" name="Picture 2" descr="Tools for Single Cell Genomics • Seurat">
            <a:extLst>
              <a:ext uri="{FF2B5EF4-FFF2-40B4-BE49-F238E27FC236}">
                <a16:creationId xmlns:a16="http://schemas.microsoft.com/office/drawing/2014/main" id="{5DEA6DD5-5A60-5368-EFD9-7E22BB0994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80" y="4050632"/>
            <a:ext cx="3896589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455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22EE0-817F-4EAB-4D53-22121F966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err="1">
                <a:highlight>
                  <a:srgbClr val="C0C0C0"/>
                </a:highlight>
              </a:rPr>
              <a:t>PercentageFeatureSet</a:t>
            </a:r>
            <a:r>
              <a:rPr lang="en-US" i="1" dirty="0">
                <a:highlight>
                  <a:srgbClr val="C0C0C0"/>
                </a:highlight>
              </a:rPr>
              <a:t>() </a:t>
            </a:r>
            <a:r>
              <a:rPr lang="en-US" i="1" dirty="0"/>
              <a:t>function 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24F81-D405-9643-E11C-F886DA478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146" y="1557108"/>
            <a:ext cx="3194920" cy="2247672"/>
          </a:xfrm>
        </p:spPr>
        <p:txBody>
          <a:bodyPr/>
          <a:lstStyle/>
          <a:p>
            <a:pPr marL="0" indent="0">
              <a:buNone/>
            </a:pPr>
            <a:r>
              <a:rPr lang="en-SE" b="1" dirty="0"/>
              <a:t>Which Cells Should We Trust?</a:t>
            </a:r>
          </a:p>
          <a:p>
            <a:pPr marL="0" indent="0">
              <a:buNone/>
            </a:pPr>
            <a:r>
              <a:rPr lang="en-US" dirty="0"/>
              <a:t>e.g., </a:t>
            </a:r>
          </a:p>
          <a:p>
            <a:pPr lvl="1"/>
            <a:r>
              <a:rPr lang="en-US" dirty="0"/>
              <a:t>Doublets (high features)</a:t>
            </a:r>
          </a:p>
          <a:p>
            <a:pPr lvl="1"/>
            <a:r>
              <a:rPr lang="en-US" dirty="0"/>
              <a:t>Low quality cells (low features)</a:t>
            </a:r>
          </a:p>
          <a:p>
            <a:pPr lvl="1"/>
            <a:r>
              <a:rPr lang="en-US" dirty="0"/>
              <a:t>Lysed cells (mt genes)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CCF16F-2A5D-9137-6350-095A23ED5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066" y="1452618"/>
            <a:ext cx="5313384" cy="3096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344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8AD8F-D4C9-176B-0681-EBC9BA735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b="1" dirty="0"/>
              <a:t>Normalization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7E0EC-929E-5568-1B47-29136FC667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E" dirty="0"/>
              <a:t>Raw counts are affected by technical factors that do not necessarily represent biological expression.</a:t>
            </a:r>
          </a:p>
          <a:p>
            <a:pPr marL="0" indent="0">
              <a:buNone/>
            </a:pPr>
            <a:endParaRPr lang="en-SE" dirty="0"/>
          </a:p>
          <a:p>
            <a:pPr marL="0" indent="0">
              <a:buNone/>
            </a:pPr>
            <a:r>
              <a:rPr lang="en-SE" dirty="0"/>
              <a:t>	</a:t>
            </a:r>
            <a:r>
              <a:rPr lang="en-SE" b="1" dirty="0"/>
              <a:t>1. Sequencing depth / library size</a:t>
            </a:r>
          </a:p>
          <a:p>
            <a:pPr marL="0" indent="0">
              <a:buNone/>
            </a:pPr>
            <a:r>
              <a:rPr lang="en-SE" b="1" dirty="0"/>
              <a:t>	2. Gene length</a:t>
            </a:r>
          </a:p>
          <a:p>
            <a:pPr marL="0" indent="0">
              <a:buNone/>
            </a:pPr>
            <a:endParaRPr lang="en-SE" b="1" dirty="0"/>
          </a:p>
          <a:p>
            <a:pPr marL="0" indent="0">
              <a:buNone/>
            </a:pPr>
            <a:endParaRPr lang="en-SE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500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FE161-3B22-B423-8538-58D7CDFD5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i="1" dirty="0">
                <a:highlight>
                  <a:srgbClr val="C0C0C0"/>
                </a:highlight>
              </a:rPr>
              <a:t>NormalizeData() </a:t>
            </a:r>
            <a:r>
              <a:rPr lang="en-SE" dirty="0"/>
              <a:t>function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4386FD2-F2CA-5752-DA1B-7FE3458CE3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6274331"/>
              </p:ext>
            </p:extLst>
          </p:nvPr>
        </p:nvGraphicFramePr>
        <p:xfrm>
          <a:off x="628650" y="1676487"/>
          <a:ext cx="4977009" cy="19943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9003">
                  <a:extLst>
                    <a:ext uri="{9D8B030D-6E8A-4147-A177-3AD203B41FA5}">
                      <a16:colId xmlns:a16="http://schemas.microsoft.com/office/drawing/2014/main" val="502547193"/>
                    </a:ext>
                  </a:extLst>
                </a:gridCol>
                <a:gridCol w="1659003">
                  <a:extLst>
                    <a:ext uri="{9D8B030D-6E8A-4147-A177-3AD203B41FA5}">
                      <a16:colId xmlns:a16="http://schemas.microsoft.com/office/drawing/2014/main" val="1483436071"/>
                    </a:ext>
                  </a:extLst>
                </a:gridCol>
                <a:gridCol w="1659003">
                  <a:extLst>
                    <a:ext uri="{9D8B030D-6E8A-4147-A177-3AD203B41FA5}">
                      <a16:colId xmlns:a16="http://schemas.microsoft.com/office/drawing/2014/main" val="30235215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Cell A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Cell B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83365871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400" dirty="0"/>
                        <a:t>Gene x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14149967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Gene 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56355871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Gene z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6986237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400" dirty="0"/>
                        <a:t>.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.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18784512"/>
                  </a:ext>
                </a:extLst>
              </a:tr>
              <a:tr h="5846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b="1" dirty="0"/>
                        <a:t>Total count</a:t>
                      </a:r>
                    </a:p>
                    <a:p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5000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20000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63795616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75C10E06-2A66-14B4-BE95-839AB7FF4B54}"/>
              </a:ext>
            </a:extLst>
          </p:cNvPr>
          <p:cNvSpPr txBox="1"/>
          <p:nvPr/>
        </p:nvSpPr>
        <p:spPr>
          <a:xfrm>
            <a:off x="628650" y="3798809"/>
            <a:ext cx="457043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SE" sz="1500" dirty="0"/>
              <a:t>Cell A:   50 / 5,000   = 1%</a:t>
            </a:r>
          </a:p>
          <a:p>
            <a:pPr>
              <a:buNone/>
            </a:pPr>
            <a:r>
              <a:rPr lang="en-SE" sz="1500" dirty="0"/>
              <a:t>Cell B:  200 / 20,000  = 1%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682680-0A1C-7E57-CD53-90B9678C056A}"/>
              </a:ext>
            </a:extLst>
          </p:cNvPr>
          <p:cNvSpPr txBox="1"/>
          <p:nvPr/>
        </p:nvSpPr>
        <p:spPr>
          <a:xfrm>
            <a:off x="-103861" y="1268016"/>
            <a:ext cx="570952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E" sz="2100" dirty="0"/>
              <a:t>	</a:t>
            </a:r>
            <a:r>
              <a:rPr lang="en-SE" sz="2100" b="1" dirty="0"/>
              <a:t>1. Sequencing depth / library size</a:t>
            </a:r>
          </a:p>
        </p:txBody>
      </p:sp>
    </p:spTree>
    <p:extLst>
      <p:ext uri="{BB962C8B-B14F-4D97-AF65-F5344CB8AC3E}">
        <p14:creationId xmlns:p14="http://schemas.microsoft.com/office/powerpoint/2010/main" val="293802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8EE7C-C7FA-D8DC-0F0E-C9841C6DD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b="1" dirty="0"/>
              <a:t>	2. Gene length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CC37C6-191F-5946-F887-97D2F666295F}"/>
              </a:ext>
            </a:extLst>
          </p:cNvPr>
          <p:cNvSpPr txBox="1"/>
          <p:nvPr/>
        </p:nvSpPr>
        <p:spPr>
          <a:xfrm>
            <a:off x="901874" y="1812352"/>
            <a:ext cx="7342533" cy="1823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75" dirty="0"/>
              <a:t> Gene A                                                               Gene B</a:t>
            </a:r>
          </a:p>
          <a:p>
            <a:pPr algn="ctr"/>
            <a:endParaRPr lang="en-US" sz="1875" dirty="0"/>
          </a:p>
          <a:p>
            <a:pPr algn="ctr"/>
            <a:r>
              <a:rPr lang="en-US" sz="1875" dirty="0"/>
              <a:t>              |------ 1 kb ------|                        |---------------- 4 kb ----------------|</a:t>
            </a:r>
          </a:p>
          <a:p>
            <a:pPr algn="ctr"/>
            <a:endParaRPr lang="en-US" sz="1875" dirty="0"/>
          </a:p>
          <a:p>
            <a:pPr algn="ctr"/>
            <a:r>
              <a:rPr lang="en-US" sz="1875" dirty="0"/>
              <a:t>   ↓                                                                 ↓ ↓ ↓ ↓</a:t>
            </a:r>
          </a:p>
          <a:p>
            <a:pPr algn="ctr"/>
            <a:r>
              <a:rPr lang="en-US" sz="1875" dirty="0"/>
              <a:t>fewer reads                                                  more reads</a:t>
            </a:r>
          </a:p>
        </p:txBody>
      </p:sp>
    </p:spTree>
    <p:extLst>
      <p:ext uri="{BB962C8B-B14F-4D97-AF65-F5344CB8AC3E}">
        <p14:creationId xmlns:p14="http://schemas.microsoft.com/office/powerpoint/2010/main" val="3573279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4C34930-804C-E978-320B-14C873976A1D}"/>
              </a:ext>
            </a:extLst>
          </p:cNvPr>
          <p:cNvGraphicFramePr>
            <a:graphicFrameLocks noGrp="1"/>
          </p:cNvGraphicFramePr>
          <p:nvPr/>
        </p:nvGraphicFramePr>
        <p:xfrm>
          <a:off x="628649" y="1676487"/>
          <a:ext cx="7817025" cy="20705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3405">
                  <a:extLst>
                    <a:ext uri="{9D8B030D-6E8A-4147-A177-3AD203B41FA5}">
                      <a16:colId xmlns:a16="http://schemas.microsoft.com/office/drawing/2014/main" val="502547193"/>
                    </a:ext>
                  </a:extLst>
                </a:gridCol>
                <a:gridCol w="1563405">
                  <a:extLst>
                    <a:ext uri="{9D8B030D-6E8A-4147-A177-3AD203B41FA5}">
                      <a16:colId xmlns:a16="http://schemas.microsoft.com/office/drawing/2014/main" val="1483436071"/>
                    </a:ext>
                  </a:extLst>
                </a:gridCol>
                <a:gridCol w="1563405">
                  <a:extLst>
                    <a:ext uri="{9D8B030D-6E8A-4147-A177-3AD203B41FA5}">
                      <a16:colId xmlns:a16="http://schemas.microsoft.com/office/drawing/2014/main" val="302352153"/>
                    </a:ext>
                  </a:extLst>
                </a:gridCol>
                <a:gridCol w="1563405">
                  <a:extLst>
                    <a:ext uri="{9D8B030D-6E8A-4147-A177-3AD203B41FA5}">
                      <a16:colId xmlns:a16="http://schemas.microsoft.com/office/drawing/2014/main" val="2811115715"/>
                    </a:ext>
                  </a:extLst>
                </a:gridCol>
                <a:gridCol w="1563405">
                  <a:extLst>
                    <a:ext uri="{9D8B030D-6E8A-4147-A177-3AD203B41FA5}">
                      <a16:colId xmlns:a16="http://schemas.microsoft.com/office/drawing/2014/main" val="205194945"/>
                    </a:ext>
                  </a:extLst>
                </a:gridCol>
              </a:tblGrid>
              <a:tr h="354330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Cell A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Cell A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.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Gene length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83365871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400" dirty="0"/>
                        <a:t>Gene x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.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20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14149967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Gene 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.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100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56355871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Gene z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.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150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6986237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400" dirty="0"/>
                        <a:t>.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.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.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.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.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18784512"/>
                  </a:ext>
                </a:extLst>
              </a:tr>
              <a:tr h="5846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b="1" dirty="0"/>
                        <a:t>Total count</a:t>
                      </a:r>
                    </a:p>
                    <a:p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5000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20000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b="1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b="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63795616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AD4EECA-CB62-02D4-E196-376E96331E02}"/>
              </a:ext>
            </a:extLst>
          </p:cNvPr>
          <p:cNvSpPr txBox="1"/>
          <p:nvPr/>
        </p:nvSpPr>
        <p:spPr>
          <a:xfrm>
            <a:off x="628649" y="4121194"/>
            <a:ext cx="82593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Gene length correction is crucial for bulk transcriptomics and might help SmartSeq2 data analysis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4A1C668-1EAB-33A3-CF03-FEFD31156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b="1" dirty="0"/>
              <a:t>	2. Gene length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57369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6A9DD-6097-24B1-0436-40B653277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2159337"/>
          </a:xfrm>
        </p:spPr>
        <p:txBody>
          <a:bodyPr>
            <a:normAutofit fontScale="90000"/>
          </a:bodyPr>
          <a:lstStyle/>
          <a:p>
            <a:r>
              <a:rPr lang="en-US" dirty="0"/>
              <a:t>Question:</a:t>
            </a:r>
            <a:br>
              <a:rPr lang="en-US" dirty="0"/>
            </a:br>
            <a:br>
              <a:rPr lang="en-US" dirty="0"/>
            </a:br>
            <a:r>
              <a:rPr lang="en-SE" b="1" dirty="0"/>
              <a:t>We have ~20,000 genes. Do we really need all of them to distinguish cell populations?</a:t>
            </a:r>
            <a:br>
              <a:rPr lang="en-SE" dirty="0"/>
            </a:b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DB370-099B-BC5E-982E-5C7ADD88E6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886744"/>
            <a:ext cx="7886700" cy="174597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500" dirty="0">
                <a:solidFill>
                  <a:srgbClr val="FF0000"/>
                </a:solidFill>
              </a:rPr>
              <a:t>NO!!!!!!!</a:t>
            </a:r>
          </a:p>
        </p:txBody>
      </p:sp>
    </p:spTree>
    <p:extLst>
      <p:ext uri="{BB962C8B-B14F-4D97-AF65-F5344CB8AC3E}">
        <p14:creationId xmlns:p14="http://schemas.microsoft.com/office/powerpoint/2010/main" val="219241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5D992-A3F8-6B87-50CF-74EAF9D4D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1253390"/>
          </a:xfrm>
        </p:spPr>
        <p:txBody>
          <a:bodyPr>
            <a:normAutofit/>
          </a:bodyPr>
          <a:lstStyle/>
          <a:p>
            <a:r>
              <a:rPr lang="en-SE" i="1" dirty="0">
                <a:highlight>
                  <a:srgbClr val="C0C0C0"/>
                </a:highlight>
              </a:rPr>
              <a:t>FindVariableFeatures() </a:t>
            </a:r>
            <a:br>
              <a:rPr lang="en-SE" i="1" dirty="0">
                <a:highlight>
                  <a:srgbClr val="C0C0C0"/>
                </a:highlight>
              </a:rPr>
            </a:br>
            <a:r>
              <a:rPr lang="en-SE" dirty="0"/>
              <a:t>function</a:t>
            </a:r>
            <a:endParaRPr lang="en-US" sz="22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DFC175-47E6-2743-07A2-3E169E98F231}"/>
              </a:ext>
            </a:extLst>
          </p:cNvPr>
          <p:cNvSpPr txBox="1"/>
          <p:nvPr/>
        </p:nvSpPr>
        <p:spPr>
          <a:xfrm>
            <a:off x="628651" y="1671504"/>
            <a:ext cx="3475973" cy="1823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E" sz="1875" b="1" dirty="0"/>
              <a:t>Feature selection </a:t>
            </a:r>
            <a:r>
              <a:rPr lang="en-SE" sz="1875" dirty="0"/>
              <a:t>identifies genes whose expression varies substantially across cells and therefore may help distinguish different cellular states or cell types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EBCE57-3344-5FF3-2D21-0F526311D005}"/>
              </a:ext>
            </a:extLst>
          </p:cNvPr>
          <p:cNvSpPr txBox="1"/>
          <p:nvPr/>
        </p:nvSpPr>
        <p:spPr>
          <a:xfrm>
            <a:off x="467544" y="3786788"/>
            <a:ext cx="4752529" cy="1211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75" dirty="0">
                <a:solidFill>
                  <a:srgbClr val="FF0000"/>
                </a:solidFill>
              </a:rPr>
              <a:t>Note:</a:t>
            </a:r>
          </a:p>
          <a:p>
            <a:r>
              <a:rPr lang="en-SE" sz="1800" dirty="0">
                <a:solidFill>
                  <a:srgbClr val="FF0000"/>
                </a:solidFill>
              </a:rPr>
              <a:t>We are not deleting the other genes from the dataset. </a:t>
            </a:r>
          </a:p>
          <a:p>
            <a:r>
              <a:rPr lang="en-US" sz="1800" dirty="0">
                <a:solidFill>
                  <a:srgbClr val="FF0000"/>
                </a:solidFill>
              </a:rPr>
              <a:t>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FD78C3-D1DD-E222-B121-4C4BD04E9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073" y="0"/>
            <a:ext cx="3923928" cy="4548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432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7475A-9009-A426-4B61-121C4BAC8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i="1" dirty="0">
                <a:highlight>
                  <a:srgbClr val="C0C0C0"/>
                </a:highlight>
              </a:rPr>
              <a:t>ScaleData()</a:t>
            </a:r>
            <a:r>
              <a:rPr lang="en-US" dirty="0">
                <a:highlight>
                  <a:srgbClr val="C0C0C0"/>
                </a:highlight>
              </a:rPr>
              <a:t> </a:t>
            </a:r>
            <a:r>
              <a:rPr lang="en-US" dirty="0"/>
              <a:t>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2F110-655F-F69A-C5AE-A636D4BD1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894861"/>
          </a:xfrm>
        </p:spPr>
        <p:txBody>
          <a:bodyPr/>
          <a:lstStyle/>
          <a:p>
            <a:r>
              <a:rPr lang="en-US" dirty="0"/>
              <a:t>Normalization make the cells comparable</a:t>
            </a:r>
          </a:p>
          <a:p>
            <a:r>
              <a:rPr lang="en-US" dirty="0"/>
              <a:t>Scaling makes the genes comparable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B7EDF9-4EB4-6BBD-F443-0113527CA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7287" y="2571750"/>
            <a:ext cx="3069306" cy="1128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2910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97572A-3DC1-840D-1B13-9AA15FD5FE60}"/>
              </a:ext>
            </a:extLst>
          </p:cNvPr>
          <p:cNvGraphicFramePr>
            <a:graphicFrameLocks noGrp="1"/>
          </p:cNvGraphicFramePr>
          <p:nvPr/>
        </p:nvGraphicFramePr>
        <p:xfrm>
          <a:off x="246084" y="1139600"/>
          <a:ext cx="3234651" cy="16840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78217">
                  <a:extLst>
                    <a:ext uri="{9D8B030D-6E8A-4147-A177-3AD203B41FA5}">
                      <a16:colId xmlns:a16="http://schemas.microsoft.com/office/drawing/2014/main" val="1414015059"/>
                    </a:ext>
                  </a:extLst>
                </a:gridCol>
                <a:gridCol w="1078217">
                  <a:extLst>
                    <a:ext uri="{9D8B030D-6E8A-4147-A177-3AD203B41FA5}">
                      <a16:colId xmlns:a16="http://schemas.microsoft.com/office/drawing/2014/main" val="3492755834"/>
                    </a:ext>
                  </a:extLst>
                </a:gridCol>
                <a:gridCol w="1078217">
                  <a:extLst>
                    <a:ext uri="{9D8B030D-6E8A-4147-A177-3AD203B41FA5}">
                      <a16:colId xmlns:a16="http://schemas.microsoft.com/office/drawing/2014/main" val="1084322866"/>
                    </a:ext>
                  </a:extLst>
                </a:gridCol>
              </a:tblGrid>
              <a:tr h="321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Cell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Gene A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 dirty="0">
                          <a:effectLst/>
                        </a:rPr>
                        <a:t>Gene B</a:t>
                      </a:r>
                    </a:p>
                  </a:txBody>
                  <a:tcPr marL="85725" marR="85725" marT="57150" marB="57150" anchor="ctr"/>
                </a:tc>
                <a:extLst>
                  <a:ext uri="{0D108BD9-81ED-4DB2-BD59-A6C34878D82A}">
                    <a16:rowId xmlns:a16="http://schemas.microsoft.com/office/drawing/2014/main" val="4282107244"/>
                  </a:ext>
                </a:extLst>
              </a:tr>
              <a:tr h="321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 dirty="0">
                          <a:effectLst/>
                        </a:rPr>
                        <a:t>Cell 1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100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2</a:t>
                      </a:r>
                    </a:p>
                  </a:txBody>
                  <a:tcPr marL="85725" marR="85725" marT="57150" marB="57150" anchor="ctr"/>
                </a:tc>
                <a:extLst>
                  <a:ext uri="{0D108BD9-81ED-4DB2-BD59-A6C34878D82A}">
                    <a16:rowId xmlns:a16="http://schemas.microsoft.com/office/drawing/2014/main" val="3665507770"/>
                  </a:ext>
                </a:extLst>
              </a:tr>
              <a:tr h="321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 dirty="0">
                          <a:effectLst/>
                        </a:rPr>
                        <a:t>Cell 2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200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4</a:t>
                      </a:r>
                    </a:p>
                  </a:txBody>
                  <a:tcPr marL="85725" marR="85725" marT="57150" marB="57150" anchor="ctr"/>
                </a:tc>
                <a:extLst>
                  <a:ext uri="{0D108BD9-81ED-4DB2-BD59-A6C34878D82A}">
                    <a16:rowId xmlns:a16="http://schemas.microsoft.com/office/drawing/2014/main" val="1260690438"/>
                  </a:ext>
                </a:extLst>
              </a:tr>
              <a:tr h="321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Cell 3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300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 dirty="0">
                          <a:effectLst/>
                        </a:rPr>
                        <a:t>6</a:t>
                      </a:r>
                    </a:p>
                  </a:txBody>
                  <a:tcPr marL="85725" marR="85725" marT="57150" marB="57150" anchor="ctr"/>
                </a:tc>
                <a:extLst>
                  <a:ext uri="{0D108BD9-81ED-4DB2-BD59-A6C34878D82A}">
                    <a16:rowId xmlns:a16="http://schemas.microsoft.com/office/drawing/2014/main" val="377089106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700" b="1" dirty="0">
                          <a:effectLst/>
                        </a:rPr>
                        <a:t>Mean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700" b="1" dirty="0">
                          <a:effectLst/>
                        </a:rPr>
                        <a:t>200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700" b="1" dirty="0">
                          <a:effectLst/>
                        </a:rPr>
                        <a:t>4</a:t>
                      </a:r>
                    </a:p>
                  </a:txBody>
                  <a:tcPr marL="85725" marR="85725" marT="57150" marB="57150" anchor="ctr"/>
                </a:tc>
                <a:extLst>
                  <a:ext uri="{0D108BD9-81ED-4DB2-BD59-A6C34878D82A}">
                    <a16:rowId xmlns:a16="http://schemas.microsoft.com/office/drawing/2014/main" val="129516724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7C999FF-7393-5105-4D9D-3199219F6F23}"/>
              </a:ext>
            </a:extLst>
          </p:cNvPr>
          <p:cNvSpPr txBox="1"/>
          <p:nvPr/>
        </p:nvSpPr>
        <p:spPr>
          <a:xfrm>
            <a:off x="798534" y="294525"/>
            <a:ext cx="6933156" cy="66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SE" sz="1875" dirty="0"/>
              <a:t>Without scaling, genes with large numerical variation can have a stronger influence on PCA.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76B9AC-0A8B-FDAF-D537-862B541119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170" r="6794" b="57143"/>
          <a:stretch>
            <a:fillRect/>
          </a:stretch>
        </p:blipFill>
        <p:spPr>
          <a:xfrm>
            <a:off x="4206716" y="2815385"/>
            <a:ext cx="1283677" cy="276999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9530087-AA89-09DD-3A41-9FE003633CE0}"/>
              </a:ext>
            </a:extLst>
          </p:cNvPr>
          <p:cNvGraphicFramePr>
            <a:graphicFrameLocks noGrp="1"/>
          </p:cNvGraphicFramePr>
          <p:nvPr/>
        </p:nvGraphicFramePr>
        <p:xfrm>
          <a:off x="246084" y="3043465"/>
          <a:ext cx="3234651" cy="16150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78217">
                  <a:extLst>
                    <a:ext uri="{9D8B030D-6E8A-4147-A177-3AD203B41FA5}">
                      <a16:colId xmlns:a16="http://schemas.microsoft.com/office/drawing/2014/main" val="4169410469"/>
                    </a:ext>
                  </a:extLst>
                </a:gridCol>
                <a:gridCol w="1078217">
                  <a:extLst>
                    <a:ext uri="{9D8B030D-6E8A-4147-A177-3AD203B41FA5}">
                      <a16:colId xmlns:a16="http://schemas.microsoft.com/office/drawing/2014/main" val="3599161334"/>
                    </a:ext>
                  </a:extLst>
                </a:gridCol>
                <a:gridCol w="1078217">
                  <a:extLst>
                    <a:ext uri="{9D8B030D-6E8A-4147-A177-3AD203B41FA5}">
                      <a16:colId xmlns:a16="http://schemas.microsoft.com/office/drawing/2014/main" val="1430171257"/>
                    </a:ext>
                  </a:extLst>
                </a:gridCol>
              </a:tblGrid>
              <a:tr h="4037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Cell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Gene A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 dirty="0">
                          <a:effectLst/>
                        </a:rPr>
                        <a:t>Gene B</a:t>
                      </a:r>
                    </a:p>
                  </a:txBody>
                  <a:tcPr marL="85725" marR="85725" marT="57150" marB="57150" anchor="ctr"/>
                </a:tc>
                <a:extLst>
                  <a:ext uri="{0D108BD9-81ED-4DB2-BD59-A6C34878D82A}">
                    <a16:rowId xmlns:a16="http://schemas.microsoft.com/office/drawing/2014/main" val="1858668862"/>
                  </a:ext>
                </a:extLst>
              </a:tr>
              <a:tr h="4037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Cell 1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−100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−2</a:t>
                      </a:r>
                    </a:p>
                  </a:txBody>
                  <a:tcPr marL="85725" marR="85725" marT="57150" marB="57150" anchor="ctr"/>
                </a:tc>
                <a:extLst>
                  <a:ext uri="{0D108BD9-81ED-4DB2-BD59-A6C34878D82A}">
                    <a16:rowId xmlns:a16="http://schemas.microsoft.com/office/drawing/2014/main" val="2433695257"/>
                  </a:ext>
                </a:extLst>
              </a:tr>
              <a:tr h="4037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Cell 2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0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0</a:t>
                      </a:r>
                    </a:p>
                  </a:txBody>
                  <a:tcPr marL="85725" marR="85725" marT="57150" marB="57150" anchor="ctr"/>
                </a:tc>
                <a:extLst>
                  <a:ext uri="{0D108BD9-81ED-4DB2-BD59-A6C34878D82A}">
                    <a16:rowId xmlns:a16="http://schemas.microsoft.com/office/drawing/2014/main" val="1132980046"/>
                  </a:ext>
                </a:extLst>
              </a:tr>
              <a:tr h="4037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Cell 3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100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 dirty="0">
                          <a:effectLst/>
                        </a:rPr>
                        <a:t>2</a:t>
                      </a:r>
                    </a:p>
                  </a:txBody>
                  <a:tcPr marL="85725" marR="85725" marT="57150" marB="57150" anchor="ctr"/>
                </a:tc>
                <a:extLst>
                  <a:ext uri="{0D108BD9-81ED-4DB2-BD59-A6C34878D82A}">
                    <a16:rowId xmlns:a16="http://schemas.microsoft.com/office/drawing/2014/main" val="287615459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C9F2E93-48F7-14B9-83BB-D93121EF55A5}"/>
              </a:ext>
            </a:extLst>
          </p:cNvPr>
          <p:cNvSpPr txBox="1"/>
          <p:nvPr/>
        </p:nvSpPr>
        <p:spPr>
          <a:xfrm>
            <a:off x="4068003" y="2512547"/>
            <a:ext cx="1877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Centering the data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EECE31E-266A-F59B-D364-C74B5F6CFE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943" y="4228604"/>
            <a:ext cx="1757566" cy="646331"/>
          </a:xfrm>
          <a:prstGeom prst="rect">
            <a:avLst/>
          </a:prstGeom>
        </p:spPr>
      </p:pic>
      <p:sp>
        <p:nvSpPr>
          <p:cNvPr id="12" name="U-turn Arrow 11">
            <a:extLst>
              <a:ext uri="{FF2B5EF4-FFF2-40B4-BE49-F238E27FC236}">
                <a16:creationId xmlns:a16="http://schemas.microsoft.com/office/drawing/2014/main" id="{6F9EE862-9681-9037-032D-D4CA70B0F092}"/>
              </a:ext>
            </a:extLst>
          </p:cNvPr>
          <p:cNvSpPr/>
          <p:nvPr/>
        </p:nvSpPr>
        <p:spPr>
          <a:xfrm rot="5400000">
            <a:off x="3021238" y="2521904"/>
            <a:ext cx="1506263" cy="587267"/>
          </a:xfrm>
          <a:prstGeom prst="uturnArrow">
            <a:avLst>
              <a:gd name="adj1" fmla="val 15269"/>
              <a:gd name="adj2" fmla="val 25000"/>
              <a:gd name="adj3" fmla="val 28244"/>
              <a:gd name="adj4" fmla="val 62975"/>
              <a:gd name="adj5" fmla="val 9121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tx1"/>
              </a:solidFill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6508FB1-EC13-3F77-B558-9E6D2CACA03A}"/>
              </a:ext>
            </a:extLst>
          </p:cNvPr>
          <p:cNvGraphicFramePr>
            <a:graphicFrameLocks noGrp="1"/>
          </p:cNvGraphicFramePr>
          <p:nvPr/>
        </p:nvGraphicFramePr>
        <p:xfrm>
          <a:off x="6107848" y="3342715"/>
          <a:ext cx="2520960" cy="15062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0320">
                  <a:extLst>
                    <a:ext uri="{9D8B030D-6E8A-4147-A177-3AD203B41FA5}">
                      <a16:colId xmlns:a16="http://schemas.microsoft.com/office/drawing/2014/main" val="491131899"/>
                    </a:ext>
                  </a:extLst>
                </a:gridCol>
                <a:gridCol w="840320">
                  <a:extLst>
                    <a:ext uri="{9D8B030D-6E8A-4147-A177-3AD203B41FA5}">
                      <a16:colId xmlns:a16="http://schemas.microsoft.com/office/drawing/2014/main" val="1009437878"/>
                    </a:ext>
                  </a:extLst>
                </a:gridCol>
                <a:gridCol w="840320">
                  <a:extLst>
                    <a:ext uri="{9D8B030D-6E8A-4147-A177-3AD203B41FA5}">
                      <a16:colId xmlns:a16="http://schemas.microsoft.com/office/drawing/2014/main" val="1081144246"/>
                    </a:ext>
                  </a:extLst>
                </a:gridCol>
              </a:tblGrid>
              <a:tr h="3765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Cell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Gene A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Gene B</a:t>
                      </a:r>
                    </a:p>
                  </a:txBody>
                  <a:tcPr marL="85725" marR="85725" marT="57150" marB="57150" anchor="ctr"/>
                </a:tc>
                <a:extLst>
                  <a:ext uri="{0D108BD9-81ED-4DB2-BD59-A6C34878D82A}">
                    <a16:rowId xmlns:a16="http://schemas.microsoft.com/office/drawing/2014/main" val="2029656115"/>
                  </a:ext>
                </a:extLst>
              </a:tr>
              <a:tr h="3765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 dirty="0">
                          <a:effectLst/>
                        </a:rPr>
                        <a:t>Cell 1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−1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−1</a:t>
                      </a:r>
                    </a:p>
                  </a:txBody>
                  <a:tcPr marL="85725" marR="85725" marT="57150" marB="57150" anchor="ctr"/>
                </a:tc>
                <a:extLst>
                  <a:ext uri="{0D108BD9-81ED-4DB2-BD59-A6C34878D82A}">
                    <a16:rowId xmlns:a16="http://schemas.microsoft.com/office/drawing/2014/main" val="305383244"/>
                  </a:ext>
                </a:extLst>
              </a:tr>
              <a:tr h="3765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Cell 2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0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0</a:t>
                      </a:r>
                    </a:p>
                  </a:txBody>
                  <a:tcPr marL="85725" marR="85725" marT="57150" marB="57150" anchor="ctr"/>
                </a:tc>
                <a:extLst>
                  <a:ext uri="{0D108BD9-81ED-4DB2-BD59-A6C34878D82A}">
                    <a16:rowId xmlns:a16="http://schemas.microsoft.com/office/drawing/2014/main" val="2067133884"/>
                  </a:ext>
                </a:extLst>
              </a:tr>
              <a:tr h="3765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Cell 3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1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 dirty="0">
                          <a:effectLst/>
                        </a:rPr>
                        <a:t>1</a:t>
                      </a:r>
                    </a:p>
                  </a:txBody>
                  <a:tcPr marL="85725" marR="85725" marT="57150" marB="57150" anchor="ctr"/>
                </a:tc>
                <a:extLst>
                  <a:ext uri="{0D108BD9-81ED-4DB2-BD59-A6C34878D82A}">
                    <a16:rowId xmlns:a16="http://schemas.microsoft.com/office/drawing/2014/main" val="1603266850"/>
                  </a:ext>
                </a:extLst>
              </a:tr>
            </a:tbl>
          </a:graphicData>
        </a:graphic>
      </p:graphicFrame>
      <p:sp>
        <p:nvSpPr>
          <p:cNvPr id="14" name="Right Arrow 13">
            <a:extLst>
              <a:ext uri="{FF2B5EF4-FFF2-40B4-BE49-F238E27FC236}">
                <a16:creationId xmlns:a16="http://schemas.microsoft.com/office/drawing/2014/main" id="{8EC0CC43-E8CA-C97D-E471-2FB679A2829A}"/>
              </a:ext>
            </a:extLst>
          </p:cNvPr>
          <p:cNvSpPr/>
          <p:nvPr/>
        </p:nvSpPr>
        <p:spPr>
          <a:xfrm>
            <a:off x="3558188" y="3907694"/>
            <a:ext cx="1817077" cy="24295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2F7551-B419-D408-0838-31855A36FE4F}"/>
              </a:ext>
            </a:extLst>
          </p:cNvPr>
          <p:cNvSpPr txBox="1"/>
          <p:nvPr/>
        </p:nvSpPr>
        <p:spPr>
          <a:xfrm>
            <a:off x="3727597" y="3633019"/>
            <a:ext cx="1659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Scaling the data</a:t>
            </a:r>
          </a:p>
        </p:txBody>
      </p:sp>
    </p:spTree>
    <p:extLst>
      <p:ext uri="{BB962C8B-B14F-4D97-AF65-F5344CB8AC3E}">
        <p14:creationId xmlns:p14="http://schemas.microsoft.com/office/powerpoint/2010/main" val="3325162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 animBg="1"/>
      <p:bldP spid="14" grpId="0" animBg="1"/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01EE5-9790-8DF4-91D5-88618967F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Dimensionality reduction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89B376A-947C-AC0E-D6AE-AA0D5B287F5D}"/>
              </a:ext>
            </a:extLst>
          </p:cNvPr>
          <p:cNvGraphicFramePr>
            <a:graphicFrameLocks noGrp="1"/>
          </p:cNvGraphicFramePr>
          <p:nvPr/>
        </p:nvGraphicFramePr>
        <p:xfrm>
          <a:off x="628650" y="1421428"/>
          <a:ext cx="3714750" cy="2300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8250">
                  <a:extLst>
                    <a:ext uri="{9D8B030D-6E8A-4147-A177-3AD203B41FA5}">
                      <a16:colId xmlns:a16="http://schemas.microsoft.com/office/drawing/2014/main" val="1426804801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579476272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3490398597"/>
                    </a:ext>
                  </a:extLst>
                </a:gridCol>
              </a:tblGrid>
              <a:tr h="3286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Cell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 dirty="0">
                          <a:effectLst/>
                        </a:rPr>
                        <a:t>Gene A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 dirty="0">
                          <a:effectLst/>
                        </a:rPr>
                        <a:t>Gene B</a:t>
                      </a:r>
                    </a:p>
                  </a:txBody>
                  <a:tcPr marL="85725" marR="85725" marT="57150" marB="57150" anchor="ctr"/>
                </a:tc>
                <a:extLst>
                  <a:ext uri="{0D108BD9-81ED-4DB2-BD59-A6C34878D82A}">
                    <a16:rowId xmlns:a16="http://schemas.microsoft.com/office/drawing/2014/main" val="4076702874"/>
                  </a:ext>
                </a:extLst>
              </a:tr>
              <a:tr h="3286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Cell 1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-1.2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-1.0</a:t>
                      </a:r>
                    </a:p>
                  </a:txBody>
                  <a:tcPr marL="85725" marR="85725" marT="57150" marB="57150" anchor="ctr"/>
                </a:tc>
                <a:extLst>
                  <a:ext uri="{0D108BD9-81ED-4DB2-BD59-A6C34878D82A}">
                    <a16:rowId xmlns:a16="http://schemas.microsoft.com/office/drawing/2014/main" val="172683120"/>
                  </a:ext>
                </a:extLst>
              </a:tr>
              <a:tr h="3286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Cell 2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-0.8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-0.7</a:t>
                      </a:r>
                    </a:p>
                  </a:txBody>
                  <a:tcPr marL="85725" marR="85725" marT="57150" marB="57150" anchor="ctr"/>
                </a:tc>
                <a:extLst>
                  <a:ext uri="{0D108BD9-81ED-4DB2-BD59-A6C34878D82A}">
                    <a16:rowId xmlns:a16="http://schemas.microsoft.com/office/drawing/2014/main" val="2325148212"/>
                  </a:ext>
                </a:extLst>
              </a:tr>
              <a:tr h="3286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Cell 3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-0.3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 dirty="0">
                          <a:effectLst/>
                        </a:rPr>
                        <a:t>-0.2</a:t>
                      </a:r>
                    </a:p>
                  </a:txBody>
                  <a:tcPr marL="85725" marR="85725" marT="57150" marB="57150" anchor="ctr"/>
                </a:tc>
                <a:extLst>
                  <a:ext uri="{0D108BD9-81ED-4DB2-BD59-A6C34878D82A}">
                    <a16:rowId xmlns:a16="http://schemas.microsoft.com/office/drawing/2014/main" val="2590945593"/>
                  </a:ext>
                </a:extLst>
              </a:tr>
              <a:tr h="3286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Cell 4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0.4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0.3</a:t>
                      </a:r>
                    </a:p>
                  </a:txBody>
                  <a:tcPr marL="85725" marR="85725" marT="57150" marB="57150" anchor="ctr"/>
                </a:tc>
                <a:extLst>
                  <a:ext uri="{0D108BD9-81ED-4DB2-BD59-A6C34878D82A}">
                    <a16:rowId xmlns:a16="http://schemas.microsoft.com/office/drawing/2014/main" val="1655553443"/>
                  </a:ext>
                </a:extLst>
              </a:tr>
              <a:tr h="3286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Cell 5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0.8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0.7</a:t>
                      </a:r>
                    </a:p>
                  </a:txBody>
                  <a:tcPr marL="85725" marR="85725" marT="57150" marB="57150" anchor="ctr"/>
                </a:tc>
                <a:extLst>
                  <a:ext uri="{0D108BD9-81ED-4DB2-BD59-A6C34878D82A}">
                    <a16:rowId xmlns:a16="http://schemas.microsoft.com/office/drawing/2014/main" val="3773722584"/>
                  </a:ext>
                </a:extLst>
              </a:tr>
              <a:tr h="3286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Cell 6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>
                          <a:effectLst/>
                        </a:rPr>
                        <a:t>1.1</a:t>
                      </a:r>
                    </a:p>
                  </a:txBody>
                  <a:tcPr marL="85725" marR="857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E" sz="1400" dirty="0">
                          <a:effectLst/>
                        </a:rPr>
                        <a:t>1.0</a:t>
                      </a:r>
                    </a:p>
                  </a:txBody>
                  <a:tcPr marL="85725" marR="85725" marT="57150" marB="57150" anchor="ctr"/>
                </a:tc>
                <a:extLst>
                  <a:ext uri="{0D108BD9-81ED-4DB2-BD59-A6C34878D82A}">
                    <a16:rowId xmlns:a16="http://schemas.microsoft.com/office/drawing/2014/main" val="3484193825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82A62917-FC2A-AB71-69D7-CF6FBC783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1" y="1421428"/>
            <a:ext cx="4020506" cy="20910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DC8C496-957E-E673-CCCF-F1264130D383}"/>
              </a:ext>
            </a:extLst>
          </p:cNvPr>
          <p:cNvSpPr txBox="1"/>
          <p:nvPr/>
        </p:nvSpPr>
        <p:spPr>
          <a:xfrm>
            <a:off x="628650" y="4152900"/>
            <a:ext cx="410189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b="1" dirty="0"/>
              <a:t>Selected features are normally between 2k to 3k</a:t>
            </a:r>
          </a:p>
        </p:txBody>
      </p:sp>
    </p:spTree>
    <p:extLst>
      <p:ext uri="{BB962C8B-B14F-4D97-AF65-F5344CB8AC3E}">
        <p14:creationId xmlns:p14="http://schemas.microsoft.com/office/powerpoint/2010/main" val="14927107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D01B2-EDF8-0F74-AE45-4A8A4730C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4171950" cy="994172"/>
          </a:xfrm>
        </p:spPr>
        <p:txBody>
          <a:bodyPr/>
          <a:lstStyle/>
          <a:p>
            <a:r>
              <a:rPr lang="en-US" i="1" dirty="0" err="1">
                <a:highlight>
                  <a:srgbClr val="C0C0C0"/>
                </a:highlight>
              </a:rPr>
              <a:t>RunPCA</a:t>
            </a:r>
            <a:r>
              <a:rPr lang="en-US" i="1" dirty="0">
                <a:highlight>
                  <a:srgbClr val="C0C0C0"/>
                </a:highlight>
              </a:rPr>
              <a:t>() </a:t>
            </a:r>
            <a:r>
              <a:rPr lang="en-US" dirty="0"/>
              <a:t>function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1EC263-2311-9EE0-3228-AE212795B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1472269"/>
            <a:ext cx="4321643" cy="25187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0F4DD24-8C00-2109-3F99-82D8394A10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1859" y="1635056"/>
            <a:ext cx="4042329" cy="23559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9D090F-CE57-FE23-EEE4-6BAC9D40AD2A}"/>
              </a:ext>
            </a:extLst>
          </p:cNvPr>
          <p:cNvSpPr txBox="1"/>
          <p:nvPr/>
        </p:nvSpPr>
        <p:spPr>
          <a:xfrm>
            <a:off x="4892346" y="1124926"/>
            <a:ext cx="36025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PCA plot  alone cannot show all the variation</a:t>
            </a:r>
          </a:p>
        </p:txBody>
      </p:sp>
    </p:spTree>
    <p:extLst>
      <p:ext uri="{BB962C8B-B14F-4D97-AF65-F5344CB8AC3E}">
        <p14:creationId xmlns:p14="http://schemas.microsoft.com/office/powerpoint/2010/main" val="8227180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0B3D0BA-1F15-93D4-BD1A-A9452B6927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025" y="1435031"/>
            <a:ext cx="5829300" cy="339738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97A71704-2320-77F4-ED9A-E27343A65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4171950" cy="994172"/>
          </a:xfrm>
        </p:spPr>
        <p:txBody>
          <a:bodyPr/>
          <a:lstStyle/>
          <a:p>
            <a:r>
              <a:rPr lang="en-US" i="1" dirty="0" err="1">
                <a:highlight>
                  <a:srgbClr val="C0C0C0"/>
                </a:highlight>
              </a:rPr>
              <a:t>RunUMAP</a:t>
            </a:r>
            <a:r>
              <a:rPr lang="en-US" i="1" dirty="0">
                <a:highlight>
                  <a:srgbClr val="C0C0C0"/>
                </a:highlight>
              </a:rPr>
              <a:t>() </a:t>
            </a:r>
            <a:r>
              <a:rPr lang="en-US" dirty="0"/>
              <a:t>function</a:t>
            </a:r>
          </a:p>
        </p:txBody>
      </p:sp>
    </p:spTree>
    <p:extLst>
      <p:ext uri="{BB962C8B-B14F-4D97-AF65-F5344CB8AC3E}">
        <p14:creationId xmlns:p14="http://schemas.microsoft.com/office/powerpoint/2010/main" val="40386767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94255-7BD7-D442-FF0F-D562B9DE5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E" dirty="0">
                <a:highlight>
                  <a:srgbClr val="C0C0C0"/>
                </a:highlight>
              </a:rPr>
              <a:t>RunHarmony() </a:t>
            </a:r>
            <a:r>
              <a:rPr lang="en-SE" dirty="0"/>
              <a:t>function</a:t>
            </a:r>
            <a:br>
              <a:rPr lang="en-SE" dirty="0"/>
            </a:br>
            <a:r>
              <a:rPr lang="en-US" sz="2250" dirty="0"/>
              <a:t>Batch effect correction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8E1AC8-BA9E-9612-BCD8-E5B3C320A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1268017"/>
            <a:ext cx="5829300" cy="3397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03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83A87-5511-B57F-C1A8-714F439DC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we can group the cells (clustering)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444AD26-6722-1329-0279-EDCF3E8CC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5" y="1452563"/>
            <a:ext cx="3352800" cy="13620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4C80149-103A-C7C6-670C-BFF39D03E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050" y="1452563"/>
            <a:ext cx="3543300" cy="1371600"/>
          </a:xfrm>
          <a:prstGeom prst="rect">
            <a:avLst/>
          </a:prstGeom>
        </p:spPr>
      </p:pic>
      <p:sp>
        <p:nvSpPr>
          <p:cNvPr id="15" name="Right Arrow 14">
            <a:extLst>
              <a:ext uri="{FF2B5EF4-FFF2-40B4-BE49-F238E27FC236}">
                <a16:creationId xmlns:a16="http://schemas.microsoft.com/office/drawing/2014/main" id="{F6CB4390-012A-1B78-7A61-B4B2D335A67B}"/>
              </a:ext>
            </a:extLst>
          </p:cNvPr>
          <p:cNvSpPr/>
          <p:nvPr/>
        </p:nvSpPr>
        <p:spPr>
          <a:xfrm>
            <a:off x="4152900" y="2014538"/>
            <a:ext cx="371475" cy="2381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8135247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54901-435D-F84F-96E8-58F72D1BE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err="1">
                <a:highlight>
                  <a:srgbClr val="C0C0C0"/>
                </a:highlight>
              </a:rPr>
              <a:t>FindNeighbors</a:t>
            </a:r>
            <a:r>
              <a:rPr lang="en-US" i="1" dirty="0">
                <a:highlight>
                  <a:srgbClr val="C0C0C0"/>
                </a:highlight>
              </a:rPr>
              <a:t>()</a:t>
            </a:r>
            <a:r>
              <a:rPr lang="en-US" dirty="0"/>
              <a:t> function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6120D8-0DD9-15CE-1F7A-DFCB90984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513" y="1619250"/>
            <a:ext cx="5514975" cy="16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8379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05048-DE42-3A8C-EE64-B2567FFE6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err="1">
                <a:highlight>
                  <a:srgbClr val="C0C0C0"/>
                </a:highlight>
              </a:rPr>
              <a:t>FindClusters</a:t>
            </a:r>
            <a:r>
              <a:rPr lang="en-US" i="1" dirty="0">
                <a:highlight>
                  <a:srgbClr val="C0C0C0"/>
                </a:highlight>
              </a:rPr>
              <a:t>() </a:t>
            </a:r>
            <a:r>
              <a:rPr lang="en-US" dirty="0"/>
              <a:t>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6ADE2-B2A1-814B-B2D4-BC665C464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3600450" cy="1678781"/>
          </a:xfrm>
        </p:spPr>
        <p:txBody>
          <a:bodyPr>
            <a:normAutofit/>
          </a:bodyPr>
          <a:lstStyle/>
          <a:p>
            <a:r>
              <a:rPr lang="en-US" dirty="0"/>
              <a:t>Using the information in similarity step we can group the cells together with different resolutions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D6B313-5394-7792-813D-BB912A1D8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325" y="954406"/>
            <a:ext cx="4229100" cy="380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6471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4F2C1C-F863-8E51-0E44-86A2F671CD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sv-SE"/>
              <a:t>Karolinska Institutet - a medical university</a:t>
            </a:r>
            <a:endParaRPr lang="sv-S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0FC373-84CC-80E5-E2A0-F4084A339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9A5A2-19A1-4CFC-BFE3-8B9C2E2B5BE0}" type="datetime1">
              <a:rPr lang="en-GB" smtClean="0"/>
              <a:t>19/10/2026</a:t>
            </a:fld>
            <a:endParaRPr lang="sv-S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A3837-1962-793C-F255-948868DB7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9C56-CB7E-413F-8971-4226A1EF6823}" type="slidenum">
              <a:rPr lang="sv-SE" smtClean="0"/>
              <a:pPr/>
              <a:t>22</a:t>
            </a:fld>
            <a:endParaRPr lang="sv-S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8A5DD76-E1C0-D339-46B4-38AD9BBA7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9670" y="29156"/>
            <a:ext cx="7025977" cy="4683985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75B1AE7-97F9-B227-9BBA-483611C0C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17" y="430359"/>
            <a:ext cx="1939753" cy="1678781"/>
          </a:xfrm>
        </p:spPr>
        <p:txBody>
          <a:bodyPr>
            <a:normAutofit/>
          </a:bodyPr>
          <a:lstStyle/>
          <a:p>
            <a:r>
              <a:rPr lang="en-US" dirty="0"/>
              <a:t>Top cluster signatures</a:t>
            </a:r>
          </a:p>
        </p:txBody>
      </p:sp>
    </p:spTree>
    <p:extLst>
      <p:ext uri="{BB962C8B-B14F-4D97-AF65-F5344CB8AC3E}">
        <p14:creationId xmlns:p14="http://schemas.microsoft.com/office/powerpoint/2010/main" val="9087532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A14DE7-7574-B985-5F28-B0EF1C5163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sv-SE"/>
              <a:t>Karolinska Institutet - a medical university</a:t>
            </a:r>
            <a:endParaRPr lang="sv-S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F6584F-903C-422B-69BE-65E8A6C08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9A5A2-19A1-4CFC-BFE3-8B9C2E2B5BE0}" type="datetime1">
              <a:rPr lang="en-GB" smtClean="0"/>
              <a:t>19/10/2026</a:t>
            </a:fld>
            <a:endParaRPr lang="sv-S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7A42E-4B4C-E9AB-52C1-AC029C61B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59C56-CB7E-413F-8971-4226A1EF6823}" type="slidenum">
              <a:rPr lang="sv-SE" smtClean="0"/>
              <a:pPr/>
              <a:t>23</a:t>
            </a:fld>
            <a:endParaRPr lang="sv-S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CD7CAE-1912-5327-6D65-9AB85D5C7571}"/>
              </a:ext>
            </a:extLst>
          </p:cNvPr>
          <p:cNvSpPr txBox="1"/>
          <p:nvPr/>
        </p:nvSpPr>
        <p:spPr>
          <a:xfrm>
            <a:off x="844153" y="699542"/>
            <a:ext cx="2446504" cy="1477328"/>
          </a:xfrm>
          <a:prstGeom prst="rect">
            <a:avLst/>
          </a:prstGeom>
          <a:noFill/>
          <a:ln w="6350">
            <a:noFill/>
          </a:ln>
        </p:spPr>
        <p:txBody>
          <a:bodyPr wrap="none" rtlCol="0">
            <a:spAutoFit/>
          </a:bodyPr>
          <a:lstStyle/>
          <a:p>
            <a:pPr algn="l"/>
            <a:r>
              <a:rPr lang="en-US" sz="1800" dirty="0">
                <a:latin typeface="+mn-lt"/>
              </a:rPr>
              <a:t>Annotation and</a:t>
            </a:r>
          </a:p>
          <a:p>
            <a:pPr algn="l"/>
            <a:r>
              <a:rPr lang="en-US" sz="1800" dirty="0">
                <a:latin typeface="+mn-lt"/>
              </a:rPr>
              <a:t>Downstream analysis</a:t>
            </a:r>
          </a:p>
          <a:p>
            <a:pPr algn="l"/>
            <a:r>
              <a:rPr lang="en-US" sz="1800" dirty="0">
                <a:latin typeface="+mn-lt"/>
              </a:rPr>
              <a:t>.</a:t>
            </a:r>
          </a:p>
          <a:p>
            <a:pPr algn="l"/>
            <a:r>
              <a:rPr lang="en-US" sz="1800" dirty="0">
                <a:latin typeface="+mn-lt"/>
              </a:rPr>
              <a:t>.</a:t>
            </a:r>
          </a:p>
          <a:p>
            <a:pPr algn="l"/>
            <a:r>
              <a:rPr lang="en-US" sz="1800" dirty="0">
                <a:latin typeface="+mn-lt"/>
              </a:rPr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7D65E2-6066-48C9-23E0-DA542D84E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299" y="177104"/>
            <a:ext cx="4143548" cy="4143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6513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67048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0BABF-BD00-6AB5-9737-EBB44D6D7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7417B71-1807-A4EE-2C21-EAAD8B2A90C6}"/>
              </a:ext>
            </a:extLst>
          </p:cNvPr>
          <p:cNvSpPr txBox="1"/>
          <p:nvPr/>
        </p:nvSpPr>
        <p:spPr>
          <a:xfrm>
            <a:off x="4788024" y="273844"/>
            <a:ext cx="4123877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500" b="1" dirty="0"/>
              <a:t>CELLS</a:t>
            </a:r>
          </a:p>
          <a:p>
            <a:r>
              <a:rPr lang="en-US" sz="1500" dirty="0"/>
              <a:t>                 </a:t>
            </a:r>
          </a:p>
          <a:p>
            <a:r>
              <a:rPr lang="en-US" sz="1500" dirty="0">
                <a:highlight>
                  <a:srgbClr val="00FFFF"/>
                </a:highlight>
              </a:rPr>
              <a:t>Gene A          </a:t>
            </a:r>
            <a:r>
              <a:rPr lang="en-US" sz="1500" dirty="0"/>
              <a:t>100  102   98  101   99  100</a:t>
            </a:r>
          </a:p>
          <a:p>
            <a:r>
              <a:rPr lang="en-US" sz="1500" dirty="0"/>
              <a:t>                 └──── similar in all cells ────┘</a:t>
            </a:r>
          </a:p>
          <a:p>
            <a:r>
              <a:rPr lang="en-US" sz="1500" dirty="0"/>
              <a:t>                                           ↓</a:t>
            </a:r>
          </a:p>
          <a:p>
            <a:r>
              <a:rPr lang="en-US" sz="1500" b="1" dirty="0"/>
              <a:t>                           LOW VARIABILITY</a:t>
            </a:r>
          </a:p>
          <a:p>
            <a:r>
              <a:rPr lang="en-US" sz="1500" b="1" dirty="0"/>
              <a:t>                        Not very informative</a:t>
            </a:r>
          </a:p>
          <a:p>
            <a:endParaRPr lang="en-US" sz="1500" dirty="0"/>
          </a:p>
          <a:p>
            <a:endParaRPr lang="en-US" sz="1500" dirty="0"/>
          </a:p>
          <a:p>
            <a:r>
              <a:rPr lang="en-US" sz="1500" dirty="0">
                <a:highlight>
                  <a:srgbClr val="00FFFF"/>
                </a:highlight>
              </a:rPr>
              <a:t>Gene B            </a:t>
            </a:r>
            <a:r>
              <a:rPr lang="en-US" sz="1500" dirty="0"/>
              <a:t>0    1    0   50   55   48</a:t>
            </a:r>
          </a:p>
          <a:p>
            <a:r>
              <a:rPr lang="en-US" sz="1500" dirty="0"/>
              <a:t>                 └──── strongly different ─────┘</a:t>
            </a:r>
          </a:p>
          <a:p>
            <a:r>
              <a:rPr lang="en-US" sz="1500" dirty="0"/>
              <a:t>                                            ↓</a:t>
            </a:r>
          </a:p>
          <a:p>
            <a:r>
              <a:rPr lang="en-US" sz="1500" b="1" dirty="0"/>
              <a:t>                             HIGH VARIABILITY</a:t>
            </a:r>
          </a:p>
          <a:p>
            <a:r>
              <a:rPr lang="en-US" sz="1500" b="1" dirty="0"/>
              <a:t>                               INFORMATIVE ✓</a:t>
            </a:r>
          </a:p>
          <a:p>
            <a:endParaRPr lang="en-US" sz="1500" dirty="0"/>
          </a:p>
          <a:p>
            <a:endParaRPr lang="en-US" sz="1500" dirty="0"/>
          </a:p>
          <a:p>
            <a:r>
              <a:rPr lang="en-US" sz="1500" dirty="0">
                <a:highlight>
                  <a:srgbClr val="00FFFF"/>
                </a:highlight>
              </a:rPr>
              <a:t>Gene C            </a:t>
            </a:r>
            <a:r>
              <a:rPr lang="en-US" sz="1500" dirty="0"/>
              <a:t>0    0    0    0    1    0</a:t>
            </a:r>
          </a:p>
          <a:p>
            <a:r>
              <a:rPr lang="en-US" sz="1500" dirty="0"/>
              <a:t>                                             ↓</a:t>
            </a:r>
          </a:p>
          <a:p>
            <a:r>
              <a:rPr lang="en-US" sz="1500" b="1" dirty="0"/>
              <a:t>                               Very low signal</a:t>
            </a:r>
          </a:p>
          <a:p>
            <a:r>
              <a:rPr lang="en-US" sz="1500" b="1" dirty="0"/>
              <a:t>                           Not very informative</a:t>
            </a:r>
          </a:p>
        </p:txBody>
      </p:sp>
    </p:spTree>
    <p:extLst>
      <p:ext uri="{BB962C8B-B14F-4D97-AF65-F5344CB8AC3E}">
        <p14:creationId xmlns:p14="http://schemas.microsoft.com/office/powerpoint/2010/main" val="23052575"/>
      </p:ext>
    </p:extLst>
  </p:cSld>
  <p:clrMapOvr>
    <a:masterClrMapping/>
  </p:clrMapOvr>
</p:sld>
</file>

<file path=ppt/theme/theme1.xml><?xml version="1.0" encoding="utf-8"?>
<a:theme xmlns:a="http://schemas.openxmlformats.org/drawingml/2006/main" name="16:9 Plum eng">
  <a:themeElements>
    <a:clrScheme name="KI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F0433"/>
      </a:accent1>
      <a:accent2>
        <a:srgbClr val="FF876F"/>
      </a:accent2>
      <a:accent3>
        <a:srgbClr val="870052"/>
      </a:accent3>
      <a:accent4>
        <a:srgbClr val="FFDDD6"/>
      </a:accent4>
      <a:accent5>
        <a:srgbClr val="4DB5BC"/>
      </a:accent5>
      <a:accent6>
        <a:srgbClr val="CCEBED"/>
      </a:accent6>
      <a:hlink>
        <a:srgbClr val="870052"/>
      </a:hlink>
      <a:folHlink>
        <a:srgbClr val="C490AA"/>
      </a:folHlink>
    </a:clrScheme>
    <a:fontScheme name="KI PPT">
      <a:majorFont>
        <a:latin typeface="DM Sans Medium"/>
        <a:ea typeface=""/>
        <a:cs typeface=""/>
      </a:majorFont>
      <a:minorFont>
        <a:latin typeface="DM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400" b="0" i="0" u="none" strike="noStrike" cap="none" normalizeH="0" baseline="0" dirty="0" err="1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sv-SE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/>
          </a:defRPr>
        </a:defPPr>
      </a:lstStyle>
    </a:lnDef>
    <a:txDef>
      <a:spPr>
        <a:noFill/>
        <a:ln w="6350">
          <a:solidFill>
            <a:schemeClr val="accent1"/>
          </a:solidFill>
        </a:ln>
      </a:spPr>
      <a:bodyPr wrap="none" rtlCol="0">
        <a:spAutoFit/>
      </a:bodyPr>
      <a:lstStyle>
        <a:defPPr algn="l">
          <a:defRPr sz="1400" dirty="0">
            <a:latin typeface="+mn-lt"/>
          </a:defRPr>
        </a:defPPr>
      </a:lstStyle>
    </a:txDef>
  </a:objectDefaults>
  <a:extraClrSchemeLst>
    <a:extraClrScheme>
      <a:clrScheme name="Office-tem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61B54"/>
        </a:accent1>
        <a:accent2>
          <a:srgbClr val="97D8DA"/>
        </a:accent2>
        <a:accent3>
          <a:srgbClr val="FFFFFF"/>
        </a:accent3>
        <a:accent4>
          <a:srgbClr val="000000"/>
        </a:accent4>
        <a:accent5>
          <a:srgbClr val="BDABB3"/>
        </a:accent5>
        <a:accent6>
          <a:srgbClr val="88C4C5"/>
        </a:accent6>
        <a:hlink>
          <a:srgbClr val="CF0063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_16_9_eng" id="{B60A8902-C4BA-424D-ABCA-661BEF1FE7B8}" vid="{E512F04E-F30A-4076-822C-0B2544EA0FF1}"/>
    </a:ext>
  </a:extLst>
</a:theme>
</file>

<file path=ppt/theme/theme2.xml><?xml version="1.0" encoding="utf-8"?>
<a:theme xmlns:a="http://schemas.openxmlformats.org/drawingml/2006/main" name="Office-t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8615BE51D60BA44B86811C5F608C49E" ma:contentTypeVersion="4" ma:contentTypeDescription="Skapa ett nytt dokument." ma:contentTypeScope="" ma:versionID="1ba7e5491846bba44b7184d586d4c8ef">
  <xsd:schema xmlns:xsd="http://www.w3.org/2001/XMLSchema" xmlns:xs="http://www.w3.org/2001/XMLSchema" xmlns:p="http://schemas.microsoft.com/office/2006/metadata/properties" xmlns:ns2="6843b716-3f6d-4983-a753-faa1afd2f446" targetNamespace="http://schemas.microsoft.com/office/2006/metadata/properties" ma:root="true" ma:fieldsID="0f473e2ddd19dd1b49b0db32a06ee5a2" ns2:_="">
    <xsd:import namespace="6843b716-3f6d-4983-a753-faa1afd2f44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43b716-3f6d-4983-a753-faa1afd2f44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9F79469-2F05-42F0-ADD1-5263841AE7B9}">
  <ds:schemaRefs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purl.org/dc/dcmitype/"/>
    <ds:schemaRef ds:uri="http://schemas.microsoft.com/office/2006/documentManagement/types"/>
    <ds:schemaRef ds:uri="6843b716-3f6d-4983-a753-faa1afd2f446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F007827D-8545-430A-B6DC-8C56BC8926C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3890F4D-C5EB-4FCF-AEB3-55B3225E2A6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843b716-3f6d-4983-a753-faa1afd2f44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16:9 Plum eng</Template>
  <TotalTime>5604</TotalTime>
  <Words>717</Words>
  <Application>Microsoft Macintosh PowerPoint</Application>
  <PresentationFormat>On-screen Show (16:9)</PresentationFormat>
  <Paragraphs>306</Paragraphs>
  <Slides>25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DM Sans</vt:lpstr>
      <vt:lpstr>DM Sans Medium</vt:lpstr>
      <vt:lpstr>Times</vt:lpstr>
      <vt:lpstr>Wingdings</vt:lpstr>
      <vt:lpstr>16:9 Plum eng</vt:lpstr>
      <vt:lpstr>Bioinformatics Workshop</vt:lpstr>
      <vt:lpstr>PowerPoint Presentation</vt:lpstr>
      <vt:lpstr>How the data looks like in data repositories</vt:lpstr>
      <vt:lpstr>Read10X() function</vt:lpstr>
      <vt:lpstr>CreateSeuratObject() function</vt:lpstr>
      <vt:lpstr>PercentageFeatureSet() function  </vt:lpstr>
      <vt:lpstr>Normalization</vt:lpstr>
      <vt:lpstr>NormalizeData() function</vt:lpstr>
      <vt:lpstr> 2. Gene length</vt:lpstr>
      <vt:lpstr> 2. Gene length</vt:lpstr>
      <vt:lpstr>Question:  We have ~20,000 genes. Do we really need all of them to distinguish cell populations?  </vt:lpstr>
      <vt:lpstr>FindVariableFeatures()  function</vt:lpstr>
      <vt:lpstr>ScaleData() function</vt:lpstr>
      <vt:lpstr>PowerPoint Presentation</vt:lpstr>
      <vt:lpstr>Dimensionality reduction</vt:lpstr>
      <vt:lpstr>RunPCA() function</vt:lpstr>
      <vt:lpstr>RunUMAP() function</vt:lpstr>
      <vt:lpstr>RunHarmony() function Batch effect correction</vt:lpstr>
      <vt:lpstr>How we can group the cells (clustering)</vt:lpstr>
      <vt:lpstr>FindNeighbors() function</vt:lpstr>
      <vt:lpstr>FindClusters() function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Elyas Mohammadi</dc:creator>
  <cp:lastModifiedBy>Elyas Mohammadi</cp:lastModifiedBy>
  <cp:revision>1</cp:revision>
  <cp:lastPrinted>2005-09-23T14:22:03Z</cp:lastPrinted>
  <dcterms:created xsi:type="dcterms:W3CDTF">2026-07-27T12:20:29Z</dcterms:created>
  <dcterms:modified xsi:type="dcterms:W3CDTF">2026-10-19T11:46:31Z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0x010100B8615BE51D60BA44B86811C5F608C49E</vt:lpwstr>
  </property>
</Properties>
</file>