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4"/>
  </p:sldMasterIdLst>
  <p:notesMasterIdLst>
    <p:notesMasterId r:id="rId35"/>
  </p:notesMasterIdLst>
  <p:handoutMasterIdLst>
    <p:handoutMasterId r:id="rId36"/>
  </p:handoutMasterIdLst>
  <p:sldIdLst>
    <p:sldId id="263" r:id="rId5"/>
    <p:sldId id="265" r:id="rId6"/>
    <p:sldId id="296" r:id="rId7"/>
    <p:sldId id="291" r:id="rId8"/>
    <p:sldId id="290" r:id="rId9"/>
    <p:sldId id="270" r:id="rId10"/>
    <p:sldId id="266" r:id="rId11"/>
    <p:sldId id="267" r:id="rId12"/>
    <p:sldId id="276" r:id="rId13"/>
    <p:sldId id="292" r:id="rId14"/>
    <p:sldId id="293" r:id="rId15"/>
    <p:sldId id="277" r:id="rId16"/>
    <p:sldId id="278" r:id="rId17"/>
    <p:sldId id="281" r:id="rId18"/>
    <p:sldId id="294" r:id="rId19"/>
    <p:sldId id="285" r:id="rId20"/>
    <p:sldId id="284" r:id="rId21"/>
    <p:sldId id="297" r:id="rId22"/>
    <p:sldId id="288" r:id="rId23"/>
    <p:sldId id="295" r:id="rId24"/>
    <p:sldId id="289" r:id="rId25"/>
    <p:sldId id="260" r:id="rId26"/>
    <p:sldId id="271" r:id="rId27"/>
    <p:sldId id="272" r:id="rId28"/>
    <p:sldId id="273" r:id="rId29"/>
    <p:sldId id="279" r:id="rId30"/>
    <p:sldId id="280" r:id="rId31"/>
    <p:sldId id="287" r:id="rId32"/>
    <p:sldId id="298" r:id="rId33"/>
    <p:sldId id="286" r:id="rId34"/>
  </p:sldIdLst>
  <p:sldSz cx="9144000" cy="5143500" type="screen16x9"/>
  <p:notesSz cx="6858000" cy="9144000"/>
  <p:defaultTextStyle>
    <a:defPPr>
      <a:defRPr lang="sv-SE"/>
    </a:defPPr>
    <a:lvl1pPr algn="l" rtl="0" eaLnBrk="0" fontAlgn="base" hangingPunct="0">
      <a:spcBef>
        <a:spcPct val="0"/>
      </a:spcBef>
      <a:spcAft>
        <a:spcPct val="0"/>
      </a:spcAft>
      <a:defRPr sz="2400" kern="1200">
        <a:solidFill>
          <a:schemeClr val="tx1"/>
        </a:solidFill>
        <a:latin typeface="Times"/>
        <a:ea typeface="+mn-ea"/>
        <a:cs typeface="+mn-cs"/>
      </a:defRPr>
    </a:lvl1pPr>
    <a:lvl2pPr marL="457200" algn="l" rtl="0" eaLnBrk="0" fontAlgn="base" hangingPunct="0">
      <a:spcBef>
        <a:spcPct val="0"/>
      </a:spcBef>
      <a:spcAft>
        <a:spcPct val="0"/>
      </a:spcAft>
      <a:defRPr sz="2400" kern="1200">
        <a:solidFill>
          <a:schemeClr val="tx1"/>
        </a:solidFill>
        <a:latin typeface="Times"/>
        <a:ea typeface="+mn-ea"/>
        <a:cs typeface="+mn-cs"/>
      </a:defRPr>
    </a:lvl2pPr>
    <a:lvl3pPr marL="914400" algn="l" rtl="0" eaLnBrk="0" fontAlgn="base" hangingPunct="0">
      <a:spcBef>
        <a:spcPct val="0"/>
      </a:spcBef>
      <a:spcAft>
        <a:spcPct val="0"/>
      </a:spcAft>
      <a:defRPr sz="2400" kern="1200">
        <a:solidFill>
          <a:schemeClr val="tx1"/>
        </a:solidFill>
        <a:latin typeface="Times"/>
        <a:ea typeface="+mn-ea"/>
        <a:cs typeface="+mn-cs"/>
      </a:defRPr>
    </a:lvl3pPr>
    <a:lvl4pPr marL="1371600" algn="l" rtl="0" eaLnBrk="0" fontAlgn="base" hangingPunct="0">
      <a:spcBef>
        <a:spcPct val="0"/>
      </a:spcBef>
      <a:spcAft>
        <a:spcPct val="0"/>
      </a:spcAft>
      <a:defRPr sz="2400" kern="1200">
        <a:solidFill>
          <a:schemeClr val="tx1"/>
        </a:solidFill>
        <a:latin typeface="Times"/>
        <a:ea typeface="+mn-ea"/>
        <a:cs typeface="+mn-cs"/>
      </a:defRPr>
    </a:lvl4pPr>
    <a:lvl5pPr marL="1828800" algn="l" rtl="0" eaLnBrk="0" fontAlgn="base" hangingPunct="0">
      <a:spcBef>
        <a:spcPct val="0"/>
      </a:spcBef>
      <a:spcAft>
        <a:spcPct val="0"/>
      </a:spcAft>
      <a:defRPr sz="2400" kern="1200">
        <a:solidFill>
          <a:schemeClr val="tx1"/>
        </a:solidFill>
        <a:latin typeface="Times"/>
        <a:ea typeface="+mn-ea"/>
        <a:cs typeface="+mn-cs"/>
      </a:defRPr>
    </a:lvl5pPr>
    <a:lvl6pPr marL="2286000" algn="l" defTabSz="914400" rtl="0" eaLnBrk="1" latinLnBrk="0" hangingPunct="1">
      <a:defRPr sz="2400" kern="1200">
        <a:solidFill>
          <a:schemeClr val="tx1"/>
        </a:solidFill>
        <a:latin typeface="Times"/>
        <a:ea typeface="+mn-ea"/>
        <a:cs typeface="+mn-cs"/>
      </a:defRPr>
    </a:lvl6pPr>
    <a:lvl7pPr marL="2743200" algn="l" defTabSz="914400" rtl="0" eaLnBrk="1" latinLnBrk="0" hangingPunct="1">
      <a:defRPr sz="2400" kern="1200">
        <a:solidFill>
          <a:schemeClr val="tx1"/>
        </a:solidFill>
        <a:latin typeface="Times"/>
        <a:ea typeface="+mn-ea"/>
        <a:cs typeface="+mn-cs"/>
      </a:defRPr>
    </a:lvl7pPr>
    <a:lvl8pPr marL="3200400" algn="l" defTabSz="914400" rtl="0" eaLnBrk="1" latinLnBrk="0" hangingPunct="1">
      <a:defRPr sz="2400" kern="1200">
        <a:solidFill>
          <a:schemeClr val="tx1"/>
        </a:solidFill>
        <a:latin typeface="Times"/>
        <a:ea typeface="+mn-ea"/>
        <a:cs typeface="+mn-cs"/>
      </a:defRPr>
    </a:lvl8pPr>
    <a:lvl9pPr marL="3657600" algn="l" defTabSz="914400" rtl="0" eaLnBrk="1" latinLnBrk="0" hangingPunct="1">
      <a:defRPr sz="2400" kern="1200">
        <a:solidFill>
          <a:schemeClr val="tx1"/>
        </a:solidFill>
        <a:latin typeface="Times"/>
        <a:ea typeface="+mn-ea"/>
        <a:cs typeface="+mn-cs"/>
      </a:defRPr>
    </a:lvl9pPr>
  </p:defaultTextStyle>
  <p:extLst>
    <p:ext uri="{EFAFB233-063F-42B5-8137-9DF3F51BA10A}">
      <p15:sldGuideLst xmlns:p15="http://schemas.microsoft.com/office/powerpoint/2012/main">
        <p15:guide id="1" orient="horz" pos="622">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F4F4"/>
    <a:srgbClr val="C7ECDC"/>
    <a:srgbClr val="4F0433"/>
    <a:srgbClr val="CCEBED"/>
    <a:srgbClr val="FFDDD6"/>
    <a:srgbClr val="666666"/>
    <a:srgbClr val="DDDEE0"/>
    <a:srgbClr val="FF876F"/>
    <a:srgbClr val="FFE7C2"/>
    <a:srgbClr val="FFC6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0FCAF0-CDD0-B54E-97BD-53DF99714156}" v="9" dt="2026-10-08T08:29:47.9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270" autoAdjust="0"/>
    <p:restoredTop sz="76934" autoAdjust="0"/>
  </p:normalViewPr>
  <p:slideViewPr>
    <p:cSldViewPr>
      <p:cViewPr varScale="1">
        <p:scale>
          <a:sx n="119" d="100"/>
          <a:sy n="119" d="100"/>
        </p:scale>
        <p:origin x="2128" y="176"/>
      </p:cViewPr>
      <p:guideLst>
        <p:guide orient="horz" pos="622"/>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howGuides="1">
      <p:cViewPr varScale="1">
        <p:scale>
          <a:sx n="118" d="100"/>
          <a:sy n="118" d="100"/>
        </p:scale>
        <p:origin x="4152"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yas Mohammadi" userId="ab684601-edc7-4875-8fff-9d5095aa6075" providerId="ADAL" clId="{CDBD354A-C000-5838-B637-5715743394FE}"/>
    <pc:docChg chg="undo custSel addSld delSld modSld sldOrd">
      <pc:chgData name="Elyas Mohammadi" userId="ab684601-edc7-4875-8fff-9d5095aa6075" providerId="ADAL" clId="{CDBD354A-C000-5838-B637-5715743394FE}" dt="2026-10-19T07:45:41.385" v="3989" actId="20578"/>
      <pc:docMkLst>
        <pc:docMk/>
      </pc:docMkLst>
      <pc:sldChg chg="modSp mod">
        <pc:chgData name="Elyas Mohammadi" userId="ab684601-edc7-4875-8fff-9d5095aa6075" providerId="ADAL" clId="{CDBD354A-C000-5838-B637-5715743394FE}" dt="2026-10-02T09:10:37.876" v="3964"/>
        <pc:sldMkLst>
          <pc:docMk/>
          <pc:sldMk cId="1099428093" sldId="263"/>
        </pc:sldMkLst>
        <pc:spChg chg="mod">
          <ac:chgData name="Elyas Mohammadi" userId="ab684601-edc7-4875-8fff-9d5095aa6075" providerId="ADAL" clId="{CDBD354A-C000-5838-B637-5715743394FE}" dt="2026-10-02T09:09:40.521" v="3963" actId="20577"/>
          <ac:spMkLst>
            <pc:docMk/>
            <pc:sldMk cId="1099428093" sldId="263"/>
            <ac:spMk id="2" creationId="{6250195B-8A87-0659-1403-6E7233781A4D}"/>
          </ac:spMkLst>
        </pc:spChg>
        <pc:spChg chg="mod">
          <ac:chgData name="Elyas Mohammadi" userId="ab684601-edc7-4875-8fff-9d5095aa6075" providerId="ADAL" clId="{CDBD354A-C000-5838-B637-5715743394FE}" dt="2026-10-02T09:10:37.876" v="3964"/>
          <ac:spMkLst>
            <pc:docMk/>
            <pc:sldMk cId="1099428093" sldId="263"/>
            <ac:spMk id="3" creationId="{1B4D2C54-6FB1-D0FC-01BE-847D5965E867}"/>
          </ac:spMkLst>
        </pc:spChg>
      </pc:sldChg>
      <pc:sldChg chg="ord">
        <pc:chgData name="Elyas Mohammadi" userId="ab684601-edc7-4875-8fff-9d5095aa6075" providerId="ADAL" clId="{CDBD354A-C000-5838-B637-5715743394FE}" dt="2026-10-19T07:45:41.385" v="3989" actId="20578"/>
        <pc:sldMkLst>
          <pc:docMk/>
          <pc:sldMk cId="1146512148" sldId="265"/>
        </pc:sldMkLst>
      </pc:sldChg>
      <pc:sldChg chg="modSp mod">
        <pc:chgData name="Elyas Mohammadi" userId="ab684601-edc7-4875-8fff-9d5095aa6075" providerId="ADAL" clId="{CDBD354A-C000-5838-B637-5715743394FE}" dt="2026-10-05T11:19:18.034" v="3966" actId="732"/>
        <pc:sldMkLst>
          <pc:docMk/>
          <pc:sldMk cId="69113688" sldId="267"/>
        </pc:sldMkLst>
        <pc:picChg chg="mod modCrop">
          <ac:chgData name="Elyas Mohammadi" userId="ab684601-edc7-4875-8fff-9d5095aa6075" providerId="ADAL" clId="{CDBD354A-C000-5838-B637-5715743394FE}" dt="2026-10-05T11:19:18.034" v="3966" actId="732"/>
          <ac:picMkLst>
            <pc:docMk/>
            <pc:sldMk cId="69113688" sldId="267"/>
            <ac:picMk id="2" creationId="{AC065B26-0A17-9F7F-904C-B4594C60EAF3}"/>
          </ac:picMkLst>
        </pc:picChg>
      </pc:sldChg>
      <pc:sldChg chg="add">
        <pc:chgData name="Elyas Mohammadi" userId="ab684601-edc7-4875-8fff-9d5095aa6075" providerId="ADAL" clId="{CDBD354A-C000-5838-B637-5715743394FE}" dt="2026-09-28T08:08:58.670" v="3960"/>
        <pc:sldMkLst>
          <pc:docMk/>
          <pc:sldMk cId="399897553" sldId="271"/>
        </pc:sldMkLst>
      </pc:sldChg>
      <pc:sldChg chg="add">
        <pc:chgData name="Elyas Mohammadi" userId="ab684601-edc7-4875-8fff-9d5095aa6075" providerId="ADAL" clId="{CDBD354A-C000-5838-B637-5715743394FE}" dt="2026-09-28T08:08:58.670" v="3960"/>
        <pc:sldMkLst>
          <pc:docMk/>
          <pc:sldMk cId="1694056239" sldId="272"/>
        </pc:sldMkLst>
      </pc:sldChg>
      <pc:sldChg chg="add">
        <pc:chgData name="Elyas Mohammadi" userId="ab684601-edc7-4875-8fff-9d5095aa6075" providerId="ADAL" clId="{CDBD354A-C000-5838-B637-5715743394FE}" dt="2026-09-28T08:08:58.670" v="3960"/>
        <pc:sldMkLst>
          <pc:docMk/>
          <pc:sldMk cId="3907442538" sldId="273"/>
        </pc:sldMkLst>
      </pc:sldChg>
      <pc:sldChg chg="add">
        <pc:chgData name="Elyas Mohammadi" userId="ab684601-edc7-4875-8fff-9d5095aa6075" providerId="ADAL" clId="{CDBD354A-C000-5838-B637-5715743394FE}" dt="2026-09-28T08:10:16.410" v="3962"/>
        <pc:sldMkLst>
          <pc:docMk/>
          <pc:sldMk cId="959697141" sldId="279"/>
        </pc:sldMkLst>
      </pc:sldChg>
      <pc:sldChg chg="add">
        <pc:chgData name="Elyas Mohammadi" userId="ab684601-edc7-4875-8fff-9d5095aa6075" providerId="ADAL" clId="{CDBD354A-C000-5838-B637-5715743394FE}" dt="2026-09-28T08:10:16.410" v="3962"/>
        <pc:sldMkLst>
          <pc:docMk/>
          <pc:sldMk cId="1156744125" sldId="280"/>
        </pc:sldMkLst>
      </pc:sldChg>
      <pc:sldChg chg="add">
        <pc:chgData name="Elyas Mohammadi" userId="ab684601-edc7-4875-8fff-9d5095aa6075" providerId="ADAL" clId="{CDBD354A-C000-5838-B637-5715743394FE}" dt="2026-10-08T08:29:16.240" v="3980"/>
        <pc:sldMkLst>
          <pc:docMk/>
          <pc:sldMk cId="1996869389" sldId="286"/>
        </pc:sldMkLst>
      </pc:sldChg>
      <pc:sldChg chg="add">
        <pc:chgData name="Elyas Mohammadi" userId="ab684601-edc7-4875-8fff-9d5095aa6075" providerId="ADAL" clId="{CDBD354A-C000-5838-B637-5715743394FE}" dt="2026-10-08T08:28:43.322" v="3978"/>
        <pc:sldMkLst>
          <pc:docMk/>
          <pc:sldMk cId="3087365411" sldId="287"/>
        </pc:sldMkLst>
      </pc:sldChg>
      <pc:sldChg chg="addSp delSp mod addAnim delAnim">
        <pc:chgData name="Elyas Mohammadi" userId="ab684601-edc7-4875-8fff-9d5095aa6075" providerId="ADAL" clId="{CDBD354A-C000-5838-B637-5715743394FE}" dt="2026-10-08T08:29:26.212" v="3982" actId="21"/>
        <pc:sldMkLst>
          <pc:docMk/>
          <pc:sldMk cId="2499951475" sldId="288"/>
        </pc:sldMkLst>
        <pc:spChg chg="add del">
          <ac:chgData name="Elyas Mohammadi" userId="ab684601-edc7-4875-8fff-9d5095aa6075" providerId="ADAL" clId="{CDBD354A-C000-5838-B637-5715743394FE}" dt="2026-10-08T08:29:26.212" v="3982" actId="21"/>
          <ac:spMkLst>
            <pc:docMk/>
            <pc:sldMk cId="2499951475" sldId="288"/>
            <ac:spMk id="2" creationId="{B4641606-CFC6-09E3-8D2A-467209A9D716}"/>
          </ac:spMkLst>
        </pc:spChg>
        <pc:spChg chg="add del">
          <ac:chgData name="Elyas Mohammadi" userId="ab684601-edc7-4875-8fff-9d5095aa6075" providerId="ADAL" clId="{CDBD354A-C000-5838-B637-5715743394FE}" dt="2026-10-08T08:29:26.212" v="3982" actId="21"/>
          <ac:spMkLst>
            <pc:docMk/>
            <pc:sldMk cId="2499951475" sldId="288"/>
            <ac:spMk id="8" creationId="{A4F5FCB0-B84C-3495-DE9E-1ADC4B3543E7}"/>
          </ac:spMkLst>
        </pc:spChg>
      </pc:sldChg>
      <pc:sldChg chg="addSp delSp modSp new modAnim">
        <pc:chgData name="Elyas Mohammadi" userId="ab684601-edc7-4875-8fff-9d5095aa6075" providerId="ADAL" clId="{CDBD354A-C000-5838-B637-5715743394FE}" dt="2026-10-08T08:28:30.956" v="3974"/>
        <pc:sldMkLst>
          <pc:docMk/>
          <pc:sldMk cId="3177897924" sldId="297"/>
        </pc:sldMkLst>
        <pc:picChg chg="add mod">
          <ac:chgData name="Elyas Mohammadi" userId="ab684601-edc7-4875-8fff-9d5095aa6075" providerId="ADAL" clId="{CDBD354A-C000-5838-B637-5715743394FE}" dt="2026-10-08T08:28:30.956" v="3974"/>
          <ac:picMkLst>
            <pc:docMk/>
            <pc:sldMk cId="3177897924" sldId="297"/>
            <ac:picMk id="7" creationId="{E208E902-7338-4DBF-3531-B63D577C7FDA}"/>
          </ac:picMkLst>
        </pc:picChg>
        <pc:picChg chg="add mod">
          <ac:chgData name="Elyas Mohammadi" userId="ab684601-edc7-4875-8fff-9d5095aa6075" providerId="ADAL" clId="{CDBD354A-C000-5838-B637-5715743394FE}" dt="2026-10-08T08:28:30.956" v="3974"/>
          <ac:picMkLst>
            <pc:docMk/>
            <pc:sldMk cId="3177897924" sldId="297"/>
            <ac:picMk id="8" creationId="{4F5C52C0-AA80-956E-BC50-813539DF05CD}"/>
          </ac:picMkLst>
        </pc:picChg>
      </pc:sldChg>
      <pc:sldChg chg="delSp modSp add mod delAnim">
        <pc:chgData name="Elyas Mohammadi" userId="ab684601-edc7-4875-8fff-9d5095aa6075" providerId="ADAL" clId="{CDBD354A-C000-5838-B637-5715743394FE}" dt="2026-10-08T08:30:03.291" v="3988" actId="478"/>
        <pc:sldMkLst>
          <pc:docMk/>
          <pc:sldMk cId="2243799962" sldId="298"/>
        </pc:sldMkLst>
        <pc:picChg chg="mod">
          <ac:chgData name="Elyas Mohammadi" userId="ab684601-edc7-4875-8fff-9d5095aa6075" providerId="ADAL" clId="{CDBD354A-C000-5838-B637-5715743394FE}" dt="2026-10-08T08:30:01.706" v="3987" actId="1076"/>
          <ac:picMkLst>
            <pc:docMk/>
            <pc:sldMk cId="2243799962" sldId="298"/>
            <ac:picMk id="7" creationId="{B7E259C5-9707-8702-7511-C07393563BAE}"/>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diagrams/_rels/drawing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diagrams/colors1.xml><?xml version="1.0" encoding="utf-8"?>
<dgm:colorsDef xmlns:dgm="http://schemas.openxmlformats.org/drawingml/2006/diagram" xmlns:a="http://schemas.openxmlformats.org/drawingml/2006/main" uniqueId="urn:microsoft.com/office/officeart/2005/8/colors/accent1_2#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0C23CB-F832-814F-8607-CE3D21854028}" type="doc">
      <dgm:prSet loTypeId="urn:microsoft.com/office/officeart/2005/8/layout/vList3" loCatId="" qsTypeId="urn:microsoft.com/office/officeart/2005/8/quickstyle/simple1#4" qsCatId="simple" csTypeId="urn:microsoft.com/office/officeart/2005/8/colors/accent1_2#6" csCatId="accent1" phldr="1"/>
      <dgm:spPr/>
    </dgm:pt>
    <dgm:pt modelId="{A4C86BEA-CC9F-3745-82A4-52CC3C39B9CC}">
      <dgm:prSet phldrT="[Text]"/>
      <dgm:spPr/>
      <dgm:t>
        <a:bodyPr/>
        <a:lstStyle/>
        <a:p>
          <a:r>
            <a:rPr lang="en-US" dirty="0"/>
            <a:t>Bulk RNA-seq</a:t>
          </a:r>
          <a:endParaRPr lang="en-GB" dirty="0"/>
        </a:p>
      </dgm:t>
    </dgm:pt>
    <dgm:pt modelId="{797AA29E-94BA-C743-AB20-531A4B6389FA}" type="parTrans" cxnId="{59533618-C024-6844-8B9B-8167B081F495}">
      <dgm:prSet/>
      <dgm:spPr/>
      <dgm:t>
        <a:bodyPr/>
        <a:lstStyle/>
        <a:p>
          <a:endParaRPr lang="en-GB"/>
        </a:p>
      </dgm:t>
    </dgm:pt>
    <dgm:pt modelId="{04B21DD8-C8DF-2D4A-BDDC-74A53B10934B}" type="sibTrans" cxnId="{59533618-C024-6844-8B9B-8167B081F495}">
      <dgm:prSet/>
      <dgm:spPr/>
      <dgm:t>
        <a:bodyPr/>
        <a:lstStyle/>
        <a:p>
          <a:endParaRPr lang="en-GB"/>
        </a:p>
      </dgm:t>
    </dgm:pt>
    <dgm:pt modelId="{F93B83B4-9576-484F-ADD0-5E0C930A63D6}">
      <dgm:prSet phldrT="[Text]"/>
      <dgm:spPr/>
      <dgm:t>
        <a:bodyPr/>
        <a:lstStyle/>
        <a:p>
          <a:r>
            <a:rPr lang="en-US" dirty="0"/>
            <a:t>Single-cell RNA-seq</a:t>
          </a:r>
          <a:endParaRPr lang="en-GB" dirty="0"/>
        </a:p>
      </dgm:t>
    </dgm:pt>
    <dgm:pt modelId="{18BCEDFF-1145-6B43-BC6D-CBC7CC3ED4B3}" type="parTrans" cxnId="{7128E8C5-EC45-174D-AD92-54E5E6E9E162}">
      <dgm:prSet/>
      <dgm:spPr/>
      <dgm:t>
        <a:bodyPr/>
        <a:lstStyle/>
        <a:p>
          <a:endParaRPr lang="en-GB"/>
        </a:p>
      </dgm:t>
    </dgm:pt>
    <dgm:pt modelId="{7C65E8A1-C366-0543-B5D2-C4306D1F5345}" type="sibTrans" cxnId="{7128E8C5-EC45-174D-AD92-54E5E6E9E162}">
      <dgm:prSet/>
      <dgm:spPr/>
      <dgm:t>
        <a:bodyPr/>
        <a:lstStyle/>
        <a:p>
          <a:endParaRPr lang="en-GB"/>
        </a:p>
      </dgm:t>
    </dgm:pt>
    <dgm:pt modelId="{FB1C0FC5-EBEE-2E44-8734-AA2A992EA0F0}">
      <dgm:prSet phldrT="[Text]"/>
      <dgm:spPr/>
      <dgm:t>
        <a:bodyPr/>
        <a:lstStyle/>
        <a:p>
          <a:r>
            <a:rPr lang="en-US" dirty="0"/>
            <a:t>Spatial Transcriptomics</a:t>
          </a:r>
          <a:endParaRPr lang="en-GB" dirty="0"/>
        </a:p>
      </dgm:t>
    </dgm:pt>
    <dgm:pt modelId="{F91E6EDD-22E4-6944-86C9-656CBCA5CB9F}" type="parTrans" cxnId="{799F9C43-A276-0146-B535-D4A890B8EB63}">
      <dgm:prSet/>
      <dgm:spPr/>
      <dgm:t>
        <a:bodyPr/>
        <a:lstStyle/>
        <a:p>
          <a:endParaRPr lang="en-GB"/>
        </a:p>
      </dgm:t>
    </dgm:pt>
    <dgm:pt modelId="{A8BC3290-4F5E-0B42-9307-2DB2F8AB60FE}" type="sibTrans" cxnId="{799F9C43-A276-0146-B535-D4A890B8EB63}">
      <dgm:prSet/>
      <dgm:spPr/>
      <dgm:t>
        <a:bodyPr/>
        <a:lstStyle/>
        <a:p>
          <a:endParaRPr lang="en-GB"/>
        </a:p>
      </dgm:t>
    </dgm:pt>
    <dgm:pt modelId="{79D5942B-75C1-654B-8BE1-C7F62CE140A8}" type="pres">
      <dgm:prSet presAssocID="{1E0C23CB-F832-814F-8607-CE3D21854028}" presName="linearFlow" presStyleCnt="0">
        <dgm:presLayoutVars>
          <dgm:dir/>
          <dgm:resizeHandles val="exact"/>
        </dgm:presLayoutVars>
      </dgm:prSet>
      <dgm:spPr/>
    </dgm:pt>
    <dgm:pt modelId="{79ABF229-FFF6-1E4A-A433-703D2426A2D5}" type="pres">
      <dgm:prSet presAssocID="{A4C86BEA-CC9F-3745-82A4-52CC3C39B9CC}" presName="composite" presStyleCnt="0"/>
      <dgm:spPr/>
    </dgm:pt>
    <dgm:pt modelId="{19640809-ACE5-E541-80A5-EF4124AE7273}" type="pres">
      <dgm:prSet presAssocID="{A4C86BEA-CC9F-3745-82A4-52CC3C39B9CC}" presName="imgShp" presStyleLbl="fgImgPlace1" presStyleIdx="0" presStyleCnt="3" custLinFactNeighborY="-5150"/>
      <dgm:spPr>
        <a:blipFill>
          <a:blip xmlns:r="http://schemas.openxmlformats.org/officeDocument/2006/relationships" r:embed="rId1"/>
          <a:srcRect/>
          <a:stretch>
            <a:fillRect/>
          </a:stretch>
        </a:blipFill>
      </dgm:spPr>
    </dgm:pt>
    <dgm:pt modelId="{9359D4F5-EA8E-2940-9354-504AF985753D}" type="pres">
      <dgm:prSet presAssocID="{A4C86BEA-CC9F-3745-82A4-52CC3C39B9CC}" presName="txShp" presStyleLbl="node1" presStyleIdx="0" presStyleCnt="3">
        <dgm:presLayoutVars>
          <dgm:bulletEnabled val="1"/>
        </dgm:presLayoutVars>
      </dgm:prSet>
      <dgm:spPr/>
    </dgm:pt>
    <dgm:pt modelId="{185D26F6-A3A6-D747-8C8A-70C1383430D9}" type="pres">
      <dgm:prSet presAssocID="{04B21DD8-C8DF-2D4A-BDDC-74A53B10934B}" presName="spacing" presStyleCnt="0"/>
      <dgm:spPr/>
    </dgm:pt>
    <dgm:pt modelId="{931E5D83-CBD0-F64F-8B14-9A2E6443572C}" type="pres">
      <dgm:prSet presAssocID="{F93B83B4-9576-484F-ADD0-5E0C930A63D6}" presName="composite" presStyleCnt="0"/>
      <dgm:spPr/>
    </dgm:pt>
    <dgm:pt modelId="{4403633D-2EA5-B641-95D0-A7BD41FF39AF}" type="pres">
      <dgm:prSet presAssocID="{F93B83B4-9576-484F-ADD0-5E0C930A63D6}" presName="imgShp" presStyleLbl="fgImgPlace1" presStyleIdx="1" presStyleCnt="3"/>
      <dgm:spPr>
        <a:blipFill>
          <a:blip xmlns:r="http://schemas.openxmlformats.org/officeDocument/2006/relationships" r:embed="rId2"/>
          <a:srcRect/>
          <a:stretch>
            <a:fillRect l="-1000" r="-1000"/>
          </a:stretch>
        </a:blipFill>
      </dgm:spPr>
    </dgm:pt>
    <dgm:pt modelId="{39715886-3F60-984F-90A2-51FD73314E13}" type="pres">
      <dgm:prSet presAssocID="{F93B83B4-9576-484F-ADD0-5E0C930A63D6}" presName="txShp" presStyleLbl="node1" presStyleIdx="1" presStyleCnt="3">
        <dgm:presLayoutVars>
          <dgm:bulletEnabled val="1"/>
        </dgm:presLayoutVars>
      </dgm:prSet>
      <dgm:spPr/>
    </dgm:pt>
    <dgm:pt modelId="{72F1B593-DA31-E74D-8538-7FA09CC5F650}" type="pres">
      <dgm:prSet presAssocID="{7C65E8A1-C366-0543-B5D2-C4306D1F5345}" presName="spacing" presStyleCnt="0"/>
      <dgm:spPr/>
    </dgm:pt>
    <dgm:pt modelId="{5E525317-F2E8-CE49-8E1F-53B4CEA76D55}" type="pres">
      <dgm:prSet presAssocID="{FB1C0FC5-EBEE-2E44-8734-AA2A992EA0F0}" presName="composite" presStyleCnt="0"/>
      <dgm:spPr/>
    </dgm:pt>
    <dgm:pt modelId="{CB88E513-7771-1C47-8CA9-84EB03F29718}" type="pres">
      <dgm:prSet presAssocID="{FB1C0FC5-EBEE-2E44-8734-AA2A992EA0F0}" presName="imgShp" presStyleLbl="fgImgPlace1" presStyleIdx="2" presStyleCnt="3"/>
      <dgm:spPr>
        <a:blipFill>
          <a:blip xmlns:r="http://schemas.openxmlformats.org/officeDocument/2006/relationships" r:embed="rId3"/>
          <a:srcRect/>
          <a:stretch>
            <a:fillRect l="-10000" r="-10000"/>
          </a:stretch>
        </a:blipFill>
      </dgm:spPr>
    </dgm:pt>
    <dgm:pt modelId="{FB7CE253-1CA1-5D40-A385-617C2579697B}" type="pres">
      <dgm:prSet presAssocID="{FB1C0FC5-EBEE-2E44-8734-AA2A992EA0F0}" presName="txShp" presStyleLbl="node1" presStyleIdx="2" presStyleCnt="3">
        <dgm:presLayoutVars>
          <dgm:bulletEnabled val="1"/>
        </dgm:presLayoutVars>
      </dgm:prSet>
      <dgm:spPr/>
    </dgm:pt>
  </dgm:ptLst>
  <dgm:cxnLst>
    <dgm:cxn modelId="{B0D11B01-42FF-6B41-9C77-03FC6FCBE25E}" type="presOf" srcId="{1E0C23CB-F832-814F-8607-CE3D21854028}" destId="{79D5942B-75C1-654B-8BE1-C7F62CE140A8}" srcOrd="0" destOrd="0" presId="urn:microsoft.com/office/officeart/2005/8/layout/vList3"/>
    <dgm:cxn modelId="{59533618-C024-6844-8B9B-8167B081F495}" srcId="{1E0C23CB-F832-814F-8607-CE3D21854028}" destId="{A4C86BEA-CC9F-3745-82A4-52CC3C39B9CC}" srcOrd="0" destOrd="0" parTransId="{797AA29E-94BA-C743-AB20-531A4B6389FA}" sibTransId="{04B21DD8-C8DF-2D4A-BDDC-74A53B10934B}"/>
    <dgm:cxn modelId="{C66A4240-A18D-F543-941B-A75E7A616243}" type="presOf" srcId="{A4C86BEA-CC9F-3745-82A4-52CC3C39B9CC}" destId="{9359D4F5-EA8E-2940-9354-504AF985753D}" srcOrd="0" destOrd="0" presId="urn:microsoft.com/office/officeart/2005/8/layout/vList3"/>
    <dgm:cxn modelId="{799F9C43-A276-0146-B535-D4A890B8EB63}" srcId="{1E0C23CB-F832-814F-8607-CE3D21854028}" destId="{FB1C0FC5-EBEE-2E44-8734-AA2A992EA0F0}" srcOrd="2" destOrd="0" parTransId="{F91E6EDD-22E4-6944-86C9-656CBCA5CB9F}" sibTransId="{A8BC3290-4F5E-0B42-9307-2DB2F8AB60FE}"/>
    <dgm:cxn modelId="{1B2A3C85-3F79-6C45-AE05-CE2FABE7984D}" type="presOf" srcId="{F93B83B4-9576-484F-ADD0-5E0C930A63D6}" destId="{39715886-3F60-984F-90A2-51FD73314E13}" srcOrd="0" destOrd="0" presId="urn:microsoft.com/office/officeart/2005/8/layout/vList3"/>
    <dgm:cxn modelId="{7128E8C5-EC45-174D-AD92-54E5E6E9E162}" srcId="{1E0C23CB-F832-814F-8607-CE3D21854028}" destId="{F93B83B4-9576-484F-ADD0-5E0C930A63D6}" srcOrd="1" destOrd="0" parTransId="{18BCEDFF-1145-6B43-BC6D-CBC7CC3ED4B3}" sibTransId="{7C65E8A1-C366-0543-B5D2-C4306D1F5345}"/>
    <dgm:cxn modelId="{A6E8BFE2-EDEB-614B-BCA4-20ADB5537D38}" type="presOf" srcId="{FB1C0FC5-EBEE-2E44-8734-AA2A992EA0F0}" destId="{FB7CE253-1CA1-5D40-A385-617C2579697B}" srcOrd="0" destOrd="0" presId="urn:microsoft.com/office/officeart/2005/8/layout/vList3"/>
    <dgm:cxn modelId="{B640410C-153A-A349-87BE-833762EC83F6}" type="presParOf" srcId="{79D5942B-75C1-654B-8BE1-C7F62CE140A8}" destId="{79ABF229-FFF6-1E4A-A433-703D2426A2D5}" srcOrd="0" destOrd="0" presId="urn:microsoft.com/office/officeart/2005/8/layout/vList3"/>
    <dgm:cxn modelId="{37B9A533-0C82-B648-B86E-72F7B07A5AD1}" type="presParOf" srcId="{79ABF229-FFF6-1E4A-A433-703D2426A2D5}" destId="{19640809-ACE5-E541-80A5-EF4124AE7273}" srcOrd="0" destOrd="0" presId="urn:microsoft.com/office/officeart/2005/8/layout/vList3"/>
    <dgm:cxn modelId="{9AB57768-CEE2-794B-9F29-561BC9AB9543}" type="presParOf" srcId="{79ABF229-FFF6-1E4A-A433-703D2426A2D5}" destId="{9359D4F5-EA8E-2940-9354-504AF985753D}" srcOrd="1" destOrd="0" presId="urn:microsoft.com/office/officeart/2005/8/layout/vList3"/>
    <dgm:cxn modelId="{21BD2E0F-EDD4-AB4E-980A-3491A88BBD6D}" type="presParOf" srcId="{79D5942B-75C1-654B-8BE1-C7F62CE140A8}" destId="{185D26F6-A3A6-D747-8C8A-70C1383430D9}" srcOrd="1" destOrd="0" presId="urn:microsoft.com/office/officeart/2005/8/layout/vList3"/>
    <dgm:cxn modelId="{25E50D46-ECC6-1B48-9267-3E6B2187624F}" type="presParOf" srcId="{79D5942B-75C1-654B-8BE1-C7F62CE140A8}" destId="{931E5D83-CBD0-F64F-8B14-9A2E6443572C}" srcOrd="2" destOrd="0" presId="urn:microsoft.com/office/officeart/2005/8/layout/vList3"/>
    <dgm:cxn modelId="{5A6B2BE0-781F-5F4E-9CF0-5525D10D5527}" type="presParOf" srcId="{931E5D83-CBD0-F64F-8B14-9A2E6443572C}" destId="{4403633D-2EA5-B641-95D0-A7BD41FF39AF}" srcOrd="0" destOrd="0" presId="urn:microsoft.com/office/officeart/2005/8/layout/vList3"/>
    <dgm:cxn modelId="{555A978C-F8FB-E84F-82A6-1F46833C1CC9}" type="presParOf" srcId="{931E5D83-CBD0-F64F-8B14-9A2E6443572C}" destId="{39715886-3F60-984F-90A2-51FD73314E13}" srcOrd="1" destOrd="0" presId="urn:microsoft.com/office/officeart/2005/8/layout/vList3"/>
    <dgm:cxn modelId="{C693DF25-3143-974E-ACD8-E2CD377F18DB}" type="presParOf" srcId="{79D5942B-75C1-654B-8BE1-C7F62CE140A8}" destId="{72F1B593-DA31-E74D-8538-7FA09CC5F650}" srcOrd="3" destOrd="0" presId="urn:microsoft.com/office/officeart/2005/8/layout/vList3"/>
    <dgm:cxn modelId="{2FBBA449-1B89-6745-B8AA-82AEF106BC8C}" type="presParOf" srcId="{79D5942B-75C1-654B-8BE1-C7F62CE140A8}" destId="{5E525317-F2E8-CE49-8E1F-53B4CEA76D55}" srcOrd="4" destOrd="0" presId="urn:microsoft.com/office/officeart/2005/8/layout/vList3"/>
    <dgm:cxn modelId="{A1B19FBE-DEF7-DA40-98A6-236BEBBDF116}" type="presParOf" srcId="{5E525317-F2E8-CE49-8E1F-53B4CEA76D55}" destId="{CB88E513-7771-1C47-8CA9-84EB03F29718}" srcOrd="0" destOrd="0" presId="urn:microsoft.com/office/officeart/2005/8/layout/vList3"/>
    <dgm:cxn modelId="{F8A5D2FA-641F-FC46-A5A3-0BC39948E129}" type="presParOf" srcId="{5E525317-F2E8-CE49-8E1F-53B4CEA76D55}" destId="{FB7CE253-1CA1-5D40-A385-617C2579697B}"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59D4F5-EA8E-2940-9354-504AF985753D}">
      <dsp:nvSpPr>
        <dsp:cNvPr id="0" name=""/>
        <dsp:cNvSpPr/>
      </dsp:nvSpPr>
      <dsp:spPr>
        <a:xfrm rot="10800000">
          <a:off x="1181091" y="1948"/>
          <a:ext cx="3466895" cy="1231405"/>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43016" tIns="83820" rIns="156464" bIns="83820" numCol="1" spcCol="1270" anchor="ctr" anchorCtr="0">
          <a:noAutofit/>
        </a:bodyPr>
        <a:lstStyle/>
        <a:p>
          <a:pPr marL="0" lvl="0" indent="0" algn="ctr" defTabSz="977900">
            <a:lnSpc>
              <a:spcPct val="90000"/>
            </a:lnSpc>
            <a:spcBef>
              <a:spcPct val="0"/>
            </a:spcBef>
            <a:spcAft>
              <a:spcPct val="35000"/>
            </a:spcAft>
            <a:buNone/>
          </a:pPr>
          <a:r>
            <a:rPr lang="en-US" sz="2200" kern="1200" dirty="0"/>
            <a:t>Bulk RNA-seq</a:t>
          </a:r>
          <a:endParaRPr lang="en-GB" sz="2200" kern="1200" dirty="0"/>
        </a:p>
      </dsp:txBody>
      <dsp:txXfrm rot="10800000">
        <a:off x="1488942" y="1948"/>
        <a:ext cx="3159044" cy="1231405"/>
      </dsp:txXfrm>
    </dsp:sp>
    <dsp:sp modelId="{19640809-ACE5-E541-80A5-EF4124AE7273}">
      <dsp:nvSpPr>
        <dsp:cNvPr id="0" name=""/>
        <dsp:cNvSpPr/>
      </dsp:nvSpPr>
      <dsp:spPr>
        <a:xfrm>
          <a:off x="565389" y="0"/>
          <a:ext cx="1231405" cy="1231405"/>
        </a:xfrm>
        <a:prstGeom prst="ellipse">
          <a:avLst/>
        </a:prstGeom>
        <a:blipFill>
          <a:blip xmlns:r="http://schemas.openxmlformats.org/officeDocument/2006/relationships" r:embed="rId1"/>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9715886-3F60-984F-90A2-51FD73314E13}">
      <dsp:nvSpPr>
        <dsp:cNvPr id="0" name=""/>
        <dsp:cNvSpPr/>
      </dsp:nvSpPr>
      <dsp:spPr>
        <a:xfrm rot="10800000">
          <a:off x="1181091" y="1600937"/>
          <a:ext cx="3466895" cy="1231405"/>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43016" tIns="83820" rIns="156464" bIns="83820" numCol="1" spcCol="1270" anchor="ctr" anchorCtr="0">
          <a:noAutofit/>
        </a:bodyPr>
        <a:lstStyle/>
        <a:p>
          <a:pPr marL="0" lvl="0" indent="0" algn="ctr" defTabSz="977900">
            <a:lnSpc>
              <a:spcPct val="90000"/>
            </a:lnSpc>
            <a:spcBef>
              <a:spcPct val="0"/>
            </a:spcBef>
            <a:spcAft>
              <a:spcPct val="35000"/>
            </a:spcAft>
            <a:buNone/>
          </a:pPr>
          <a:r>
            <a:rPr lang="en-US" sz="2200" kern="1200" dirty="0"/>
            <a:t>Single-cell RNA-seq</a:t>
          </a:r>
          <a:endParaRPr lang="en-GB" sz="2200" kern="1200" dirty="0"/>
        </a:p>
      </dsp:txBody>
      <dsp:txXfrm rot="10800000">
        <a:off x="1488942" y="1600937"/>
        <a:ext cx="3159044" cy="1231405"/>
      </dsp:txXfrm>
    </dsp:sp>
    <dsp:sp modelId="{4403633D-2EA5-B641-95D0-A7BD41FF39AF}">
      <dsp:nvSpPr>
        <dsp:cNvPr id="0" name=""/>
        <dsp:cNvSpPr/>
      </dsp:nvSpPr>
      <dsp:spPr>
        <a:xfrm>
          <a:off x="565389" y="1600937"/>
          <a:ext cx="1231405" cy="1231405"/>
        </a:xfrm>
        <a:prstGeom prst="ellipse">
          <a:avLst/>
        </a:prstGeom>
        <a:blipFill>
          <a:blip xmlns:r="http://schemas.openxmlformats.org/officeDocument/2006/relationships" r:embed="rId2"/>
          <a:srcRect/>
          <a:stretch>
            <a:fillRect l="-1000" r="-1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B7CE253-1CA1-5D40-A385-617C2579697B}">
      <dsp:nvSpPr>
        <dsp:cNvPr id="0" name=""/>
        <dsp:cNvSpPr/>
      </dsp:nvSpPr>
      <dsp:spPr>
        <a:xfrm rot="10800000">
          <a:off x="1181091" y="3199926"/>
          <a:ext cx="3466895" cy="1231405"/>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43016" tIns="83820" rIns="156464" bIns="83820" numCol="1" spcCol="1270" anchor="ctr" anchorCtr="0">
          <a:noAutofit/>
        </a:bodyPr>
        <a:lstStyle/>
        <a:p>
          <a:pPr marL="0" lvl="0" indent="0" algn="ctr" defTabSz="977900">
            <a:lnSpc>
              <a:spcPct val="90000"/>
            </a:lnSpc>
            <a:spcBef>
              <a:spcPct val="0"/>
            </a:spcBef>
            <a:spcAft>
              <a:spcPct val="35000"/>
            </a:spcAft>
            <a:buNone/>
          </a:pPr>
          <a:r>
            <a:rPr lang="en-US" sz="2200" kern="1200" dirty="0"/>
            <a:t>Spatial Transcriptomics</a:t>
          </a:r>
          <a:endParaRPr lang="en-GB" sz="2200" kern="1200" dirty="0"/>
        </a:p>
      </dsp:txBody>
      <dsp:txXfrm rot="10800000">
        <a:off x="1488942" y="3199926"/>
        <a:ext cx="3159044" cy="1231405"/>
      </dsp:txXfrm>
    </dsp:sp>
    <dsp:sp modelId="{CB88E513-7771-1C47-8CA9-84EB03F29718}">
      <dsp:nvSpPr>
        <dsp:cNvPr id="0" name=""/>
        <dsp:cNvSpPr/>
      </dsp:nvSpPr>
      <dsp:spPr>
        <a:xfrm>
          <a:off x="565389" y="3199926"/>
          <a:ext cx="1231405" cy="1231405"/>
        </a:xfrm>
        <a:prstGeom prst="ellipse">
          <a:avLst/>
        </a:prstGeom>
        <a:blipFill>
          <a:blip xmlns:r="http://schemas.openxmlformats.org/officeDocument/2006/relationships" r:embed="rId3"/>
          <a:srcRect/>
          <a:stretch>
            <a:fillRect l="-10000" r="-10000"/>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a:extLst>
              <a:ext uri="{FF2B5EF4-FFF2-40B4-BE49-F238E27FC236}">
                <a16:creationId xmlns:a16="http://schemas.microsoft.com/office/drawing/2014/main" id="{6818A54A-96AB-47F2-9FE3-5AA7C5EE68C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dirty="0"/>
          </a:p>
        </p:txBody>
      </p:sp>
      <p:sp>
        <p:nvSpPr>
          <p:cNvPr id="3" name="Platshållare för datum 2">
            <a:extLst>
              <a:ext uri="{FF2B5EF4-FFF2-40B4-BE49-F238E27FC236}">
                <a16:creationId xmlns:a16="http://schemas.microsoft.com/office/drawing/2014/main" id="{077C3AE1-DBA2-4DA9-A7CE-D2A621C810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E55F06C-14D9-45DF-81A5-F25F8ECA9886}" type="datetimeFigureOut">
              <a:rPr lang="sv-SE" smtClean="0"/>
              <a:t>2026-10-19</a:t>
            </a:fld>
            <a:endParaRPr lang="sv-SE" dirty="0"/>
          </a:p>
        </p:txBody>
      </p:sp>
      <p:sp>
        <p:nvSpPr>
          <p:cNvPr id="4" name="Platshållare för sidfot 3">
            <a:extLst>
              <a:ext uri="{FF2B5EF4-FFF2-40B4-BE49-F238E27FC236}">
                <a16:creationId xmlns:a16="http://schemas.microsoft.com/office/drawing/2014/main" id="{6FB76FC6-F54A-4120-9B8F-E28E2A08E52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dirty="0"/>
          </a:p>
        </p:txBody>
      </p:sp>
      <p:sp>
        <p:nvSpPr>
          <p:cNvPr id="5" name="Platshållare för bildnummer 4">
            <a:extLst>
              <a:ext uri="{FF2B5EF4-FFF2-40B4-BE49-F238E27FC236}">
                <a16:creationId xmlns:a16="http://schemas.microsoft.com/office/drawing/2014/main" id="{4D9B89EF-3F47-4486-BAA9-AF9A8BE096D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F7CC5D8-C806-4BBF-A442-91371CDD1BC5}" type="slidenum">
              <a:rPr lang="sv-SE" smtClean="0"/>
              <a:t>‹#›</a:t>
            </a:fld>
            <a:endParaRPr lang="sv-SE" dirty="0"/>
          </a:p>
        </p:txBody>
      </p:sp>
    </p:spTree>
    <p:extLst>
      <p:ext uri="{BB962C8B-B14F-4D97-AF65-F5344CB8AC3E}">
        <p14:creationId xmlns:p14="http://schemas.microsoft.com/office/powerpoint/2010/main" val="6023786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000">
                <a:latin typeface="DM Sans" pitchFamily="2" charset="0"/>
              </a:defRPr>
            </a:lvl1pPr>
          </a:lstStyle>
          <a:p>
            <a:endParaRPr lang="sv-SE" dirty="0"/>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000">
                <a:latin typeface="DM Sans" pitchFamily="2" charset="0"/>
              </a:defRPr>
            </a:lvl1pPr>
          </a:lstStyle>
          <a:p>
            <a:endParaRPr lang="sv-SE" dirty="0"/>
          </a:p>
        </p:txBody>
      </p:sp>
      <p:sp>
        <p:nvSpPr>
          <p:cNvPr id="410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dirty="0"/>
              <a:t>Click here to add text</a:t>
            </a:r>
            <a:endParaRPr lang="sv-SE" dirty="0"/>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000">
                <a:latin typeface="DM Sans" pitchFamily="2" charset="0"/>
              </a:defRPr>
            </a:lvl1pPr>
          </a:lstStyle>
          <a:p>
            <a:endParaRPr lang="sv-SE" dirty="0"/>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000">
                <a:latin typeface="DM Sans" pitchFamily="2" charset="0"/>
              </a:defRPr>
            </a:lvl1pPr>
          </a:lstStyle>
          <a:p>
            <a:fld id="{E4F6DBA7-38D3-4FF9-B176-AA5B07999DDF}" type="slidenum">
              <a:rPr lang="sv-SE" smtClean="0"/>
              <a:pPr/>
              <a:t>‹#›</a:t>
            </a:fld>
            <a:endParaRPr lang="sv-SE" dirty="0"/>
          </a:p>
        </p:txBody>
      </p:sp>
    </p:spTree>
    <p:extLst>
      <p:ext uri="{BB962C8B-B14F-4D97-AF65-F5344CB8AC3E}">
        <p14:creationId xmlns:p14="http://schemas.microsoft.com/office/powerpoint/2010/main" val="149392908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DM Sans" pitchFamily="2" charset="0"/>
        <a:ea typeface="+mn-ea"/>
        <a:cs typeface="+mn-cs"/>
      </a:defRPr>
    </a:lvl1pPr>
    <a:lvl2pPr marL="457200" algn="l" rtl="0" fontAlgn="base">
      <a:spcBef>
        <a:spcPct val="30000"/>
      </a:spcBef>
      <a:spcAft>
        <a:spcPct val="0"/>
      </a:spcAft>
      <a:defRPr sz="1000" kern="1200">
        <a:solidFill>
          <a:schemeClr val="tx1"/>
        </a:solidFill>
        <a:latin typeface="DM Sans" pitchFamily="2" charset="0"/>
        <a:ea typeface="+mn-ea"/>
        <a:cs typeface="+mn-cs"/>
      </a:defRPr>
    </a:lvl2pPr>
    <a:lvl3pPr marL="914400" algn="l" rtl="0" fontAlgn="base">
      <a:spcBef>
        <a:spcPct val="30000"/>
      </a:spcBef>
      <a:spcAft>
        <a:spcPct val="0"/>
      </a:spcAft>
      <a:defRPr sz="1000" kern="1200">
        <a:solidFill>
          <a:schemeClr val="tx1"/>
        </a:solidFill>
        <a:latin typeface="DM Sans" pitchFamily="2" charset="0"/>
        <a:ea typeface="+mn-ea"/>
        <a:cs typeface="+mn-cs"/>
      </a:defRPr>
    </a:lvl3pPr>
    <a:lvl4pPr marL="1371600" algn="l" rtl="0" fontAlgn="base">
      <a:spcBef>
        <a:spcPct val="30000"/>
      </a:spcBef>
      <a:spcAft>
        <a:spcPct val="0"/>
      </a:spcAft>
      <a:defRPr sz="1000" kern="1200">
        <a:solidFill>
          <a:schemeClr val="tx1"/>
        </a:solidFill>
        <a:latin typeface="DM Sans" pitchFamily="2" charset="0"/>
        <a:ea typeface="+mn-ea"/>
        <a:cs typeface="+mn-cs"/>
      </a:defRPr>
    </a:lvl4pPr>
    <a:lvl5pPr marL="1828800" algn="l" rtl="0" fontAlgn="base">
      <a:spcBef>
        <a:spcPct val="30000"/>
      </a:spcBef>
      <a:spcAft>
        <a:spcPct val="0"/>
      </a:spcAft>
      <a:defRPr sz="1000" kern="1200">
        <a:solidFill>
          <a:schemeClr val="tx1"/>
        </a:solidFill>
        <a:latin typeface="DM Sans"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5"/>
          </p:nvPr>
        </p:nvSpPr>
        <p:spPr/>
        <p:txBody>
          <a:bodyPr/>
          <a:lstStyle/>
          <a:p>
            <a:fld id="{E4F6DBA7-38D3-4FF9-B176-AA5B07999DDF}" type="slidenum">
              <a:rPr lang="sv-SE" smtClean="0"/>
              <a:pPr/>
              <a:t>1</a:t>
            </a:fld>
            <a:endParaRPr lang="sv-SE" dirty="0"/>
          </a:p>
        </p:txBody>
      </p:sp>
    </p:spTree>
    <p:extLst>
      <p:ext uri="{BB962C8B-B14F-4D97-AF65-F5344CB8AC3E}">
        <p14:creationId xmlns:p14="http://schemas.microsoft.com/office/powerpoint/2010/main" val="36279239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5"/>
          </p:nvPr>
        </p:nvSpPr>
        <p:spPr/>
        <p:txBody>
          <a:bodyPr/>
          <a:lstStyle/>
          <a:p>
            <a:fld id="{E4F6DBA7-38D3-4FF9-B176-AA5B07999DDF}" type="slidenum">
              <a:rPr lang="sv-SE" smtClean="0"/>
              <a:pPr/>
              <a:t>2</a:t>
            </a:fld>
            <a:endParaRPr lang="sv-SE" dirty="0"/>
          </a:p>
        </p:txBody>
      </p:sp>
    </p:spTree>
    <p:extLst>
      <p:ext uri="{BB962C8B-B14F-4D97-AF65-F5344CB8AC3E}">
        <p14:creationId xmlns:p14="http://schemas.microsoft.com/office/powerpoint/2010/main" val="1115150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b="1" dirty="0"/>
              <a:t>The Central Dogma and Why Transcriptomics Matters</a:t>
            </a:r>
          </a:p>
          <a:p>
            <a:r>
              <a:rPr lang="en-SE" dirty="0"/>
              <a:t>The flow of genetic information follows the </a:t>
            </a:r>
            <a:r>
              <a:rPr lang="en-SE" b="1" dirty="0"/>
              <a:t>central dogma of molecular biology</a:t>
            </a:r>
            <a:r>
              <a:rPr lang="en-SE" dirty="0"/>
              <a:t>: </a:t>
            </a:r>
            <a:r>
              <a:rPr lang="en-SE" b="1" dirty="0"/>
              <a:t>DNA → RNA → Protein</a:t>
            </a:r>
            <a:r>
              <a:rPr lang="en-SE" dirty="0"/>
              <a:t>. DNA stores the genetic blueprint of the cell, RNA represents the genes that are actively being expressed, and proteins carry out the biological functions that ultimately determine a cell’s phenotype.</a:t>
            </a:r>
          </a:p>
          <a:p>
            <a:r>
              <a:rPr lang="en-SE" dirty="0"/>
              <a:t>Although nearly all cells in the body contain the </a:t>
            </a:r>
            <a:r>
              <a:rPr lang="en-SE" b="1" dirty="0"/>
              <a:t>same DNA</a:t>
            </a:r>
            <a:r>
              <a:rPr lang="en-SE" dirty="0"/>
              <a:t>, they have very different structures and functions. For example, </a:t>
            </a:r>
            <a:r>
              <a:rPr lang="en-SE" b="1" dirty="0"/>
              <a:t>neurons, astrocytes, oligodendrocytes, and microglia</a:t>
            </a:r>
            <a:r>
              <a:rPr lang="en-SE" dirty="0"/>
              <a:t> all share the same genome, yet they perform remarkably different roles. The key difference is </a:t>
            </a:r>
            <a:r>
              <a:rPr lang="en-SE" b="1" dirty="0"/>
              <a:t>gene expression</a:t>
            </a:r>
            <a:r>
              <a:rPr lang="en-SE" dirty="0"/>
              <a:t>: each cell type activates a distinct set of genes, producing a unique transcriptome that defines its identity and function.</a:t>
            </a:r>
          </a:p>
          <a:p>
            <a:r>
              <a:rPr lang="en-SE" dirty="0"/>
              <a:t>Unlike DNA, which is relatively stable, the </a:t>
            </a:r>
            <a:r>
              <a:rPr lang="en-SE" b="1" dirty="0"/>
              <a:t>transcriptome is highly dynamic</a:t>
            </a:r>
            <a:r>
              <a:rPr lang="en-SE" dirty="0"/>
              <a:t>. RNA levels change rapidly in response to development, environmental stimuli, disease, and therapeutic interventions. These changes are translated into proteins, which execute cellular functions and ultimately shape the phenotype of the cell.</a:t>
            </a:r>
          </a:p>
          <a:p>
            <a:endParaRPr lang="en-SE" dirty="0"/>
          </a:p>
          <a:p>
            <a:r>
              <a:rPr lang="en-SE" dirty="0"/>
              <a:t>This is why </a:t>
            </a:r>
            <a:r>
              <a:rPr lang="en-SE" b="1" dirty="0"/>
              <a:t>transcriptomics</a:t>
            </a:r>
            <a:r>
              <a:rPr lang="en-SE" dirty="0"/>
              <a:t> is so important. Transcriptomic changes can therefore be used to:</a:t>
            </a:r>
          </a:p>
          <a:p>
            <a:pPr lvl="0"/>
            <a:r>
              <a:rPr lang="en-SE" dirty="0"/>
              <a:t>Understand the molecular mechanisms underlying disease.</a:t>
            </a:r>
          </a:p>
          <a:p>
            <a:pPr lvl="0"/>
            <a:r>
              <a:rPr lang="en-SE" dirty="0"/>
              <a:t>Identify diagnostic and prognostic biomarkers, often before clinical symptoms appear.</a:t>
            </a:r>
          </a:p>
          <a:p>
            <a:pPr lvl="0"/>
            <a:r>
              <a:rPr lang="en-SE" dirty="0"/>
              <a:t>Discover therapeutic targets and evaluate treatment responses.</a:t>
            </a:r>
          </a:p>
          <a:p>
            <a:pPr lvl="0"/>
            <a:r>
              <a:rPr lang="en-SE" dirty="0"/>
              <a:t>Reveal how different cell types respond to disease or injury.</a:t>
            </a:r>
          </a:p>
          <a:p>
            <a:pPr lvl="0"/>
            <a:endParaRPr lang="en-SE" dirty="0"/>
          </a:p>
          <a:p>
            <a:r>
              <a:rPr lang="en-SE" dirty="0"/>
              <a:t>Modern transcriptomic technologies provide complementary views of gene expression. Depending on the biological question, they can answer different levels of information:</a:t>
            </a:r>
          </a:p>
          <a:p>
            <a:pPr lvl="0"/>
            <a:r>
              <a:rPr lang="en-SE" i="1" dirty="0"/>
              <a:t>Which genes are changing?</a:t>
            </a:r>
            <a:endParaRPr lang="en-SE" dirty="0"/>
          </a:p>
          <a:p>
            <a:pPr lvl="0"/>
            <a:r>
              <a:rPr lang="en-SE" i="1" dirty="0"/>
              <a:t>Which genes are changing in which cell types?</a:t>
            </a:r>
            <a:endParaRPr lang="en-SE" dirty="0"/>
          </a:p>
          <a:p>
            <a:pPr lvl="0"/>
            <a:r>
              <a:rPr lang="en-SE" i="1" dirty="0"/>
              <a:t>Which genes are changing, in which cells, and where are those cells located within the tissue?</a:t>
            </a:r>
            <a:endParaRPr lang="en-SE" dirty="0"/>
          </a:p>
          <a:p>
            <a:r>
              <a:rPr lang="en-SE" dirty="0"/>
              <a:t>Choosing the appropriate transcriptomic technology therefore depends on the biological question being asked. Throughout this workshop, we will explore how each technology provides unique insights into the transcriptome and how they complement one another to better understand health and disease.</a:t>
            </a:r>
          </a:p>
        </p:txBody>
      </p:sp>
      <p:sp>
        <p:nvSpPr>
          <p:cNvPr id="4" name="Slide Number Placeholder 3"/>
          <p:cNvSpPr>
            <a:spLocks noGrp="1"/>
          </p:cNvSpPr>
          <p:nvPr>
            <p:ph type="sldNum" sz="quarter" idx="5"/>
          </p:nvPr>
        </p:nvSpPr>
        <p:spPr/>
        <p:txBody>
          <a:bodyPr/>
          <a:lstStyle/>
          <a:p>
            <a:fld id="{E4F6DBA7-38D3-4FF9-B176-AA5B07999DDF}" type="slidenum">
              <a:rPr lang="sv-SE" smtClean="0"/>
              <a:pPr/>
              <a:t>6</a:t>
            </a:fld>
            <a:endParaRPr lang="sv-SE" dirty="0"/>
          </a:p>
        </p:txBody>
      </p:sp>
    </p:spTree>
    <p:extLst>
      <p:ext uri="{BB962C8B-B14F-4D97-AF65-F5344CB8AC3E}">
        <p14:creationId xmlns:p14="http://schemas.microsoft.com/office/powerpoint/2010/main" val="5061694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F6DBA7-38D3-4FF9-B176-AA5B07999DDF}" type="slidenum">
              <a:rPr lang="sv-SE" smtClean="0"/>
              <a:pPr/>
              <a:t>10</a:t>
            </a:fld>
            <a:endParaRPr lang="sv-SE" dirty="0"/>
          </a:p>
        </p:txBody>
      </p:sp>
    </p:spTree>
    <p:extLst>
      <p:ext uri="{BB962C8B-B14F-4D97-AF65-F5344CB8AC3E}">
        <p14:creationId xmlns:p14="http://schemas.microsoft.com/office/powerpoint/2010/main" val="6797325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SE" b="1" dirty="0"/>
              <a:t>Single-cell RNA-seq generally requires fresh, viable cells (or nuclei from frozen tissue), whereas many spatial transcriptomics technologies are compatible with preserved tissue, including FFPE.</a:t>
            </a:r>
            <a:endParaRPr lang="en-SE" dirty="0"/>
          </a:p>
          <a:p>
            <a:endParaRPr lang="en-US" dirty="0"/>
          </a:p>
        </p:txBody>
      </p:sp>
      <p:sp>
        <p:nvSpPr>
          <p:cNvPr id="4" name="Slide Number Placeholder 3"/>
          <p:cNvSpPr>
            <a:spLocks noGrp="1"/>
          </p:cNvSpPr>
          <p:nvPr>
            <p:ph type="sldNum" sz="quarter" idx="5"/>
          </p:nvPr>
        </p:nvSpPr>
        <p:spPr/>
        <p:txBody>
          <a:bodyPr/>
          <a:lstStyle/>
          <a:p>
            <a:fld id="{E4F6DBA7-38D3-4FF9-B176-AA5B07999DDF}" type="slidenum">
              <a:rPr lang="sv-SE" smtClean="0"/>
              <a:pPr/>
              <a:t>16</a:t>
            </a:fld>
            <a:endParaRPr lang="sv-SE" dirty="0"/>
          </a:p>
        </p:txBody>
      </p:sp>
    </p:spTree>
    <p:extLst>
      <p:ext uri="{BB962C8B-B14F-4D97-AF65-F5344CB8AC3E}">
        <p14:creationId xmlns:p14="http://schemas.microsoft.com/office/powerpoint/2010/main" val="3741885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E" sz="1200" kern="1200" dirty="0">
                <a:solidFill>
                  <a:schemeClr val="tx1"/>
                </a:solidFill>
                <a:effectLst/>
                <a:latin typeface="DM Sans" pitchFamily="2" charset="0"/>
                <a:ea typeface="+mn-ea"/>
                <a:cs typeface="+mn-cs"/>
              </a:rPr>
              <a:t>Library preparation converts RNA into a stable, sequencing-ready cDNA library. Total RNA is first isolated from the sample, fragmented into short pieces (because sequencing machine can sequence fragments up to 200-300 bp and a gene can be larger than this size), reverse-transcribed into complementary DNA (cDNA), and ligated with adapter sequences. These adapters allow the sequencing instrument to recognize each fragment and contain sample-specific barcodes, enabling multiple samples to be pooled and sequenced in a single run (multiplexing).</a:t>
            </a:r>
          </a:p>
          <a:p>
            <a:br>
              <a:rPr lang="en-SE" sz="1200" kern="1200" dirty="0">
                <a:solidFill>
                  <a:schemeClr val="tx1"/>
                </a:solidFill>
                <a:effectLst/>
                <a:latin typeface="DM Sans" pitchFamily="2" charset="0"/>
                <a:ea typeface="+mn-ea"/>
                <a:cs typeface="+mn-cs"/>
              </a:rPr>
            </a:br>
            <a:endParaRPr lang="en-SE" sz="1200" kern="1200" dirty="0">
              <a:solidFill>
                <a:schemeClr val="tx1"/>
              </a:solidFill>
              <a:effectLst/>
              <a:latin typeface="DM Sans" pitchFamily="2" charset="0"/>
              <a:ea typeface="+mn-ea"/>
              <a:cs typeface="+mn-cs"/>
            </a:endParaRPr>
          </a:p>
          <a:p>
            <a:r>
              <a:rPr lang="en-SE" sz="1200" kern="1200" dirty="0">
                <a:solidFill>
                  <a:schemeClr val="tx1"/>
                </a:solidFill>
                <a:effectLst/>
                <a:latin typeface="DM Sans" pitchFamily="2" charset="0"/>
                <a:ea typeface="+mn-ea"/>
                <a:cs typeface="+mn-cs"/>
              </a:rPr>
              <a:t>The cDNA library is then amplified by PCR to generate sufficient material for sequencing, followed by quality control (QC) to assess library concentration, fragment size, purity, and adapter contamination. Only high-quality libraries are submitted for sequencing, ensuring accurate and reliable gene expression measurements.</a:t>
            </a:r>
          </a:p>
          <a:p>
            <a:endParaRPr lang="en-US" dirty="0"/>
          </a:p>
        </p:txBody>
      </p:sp>
      <p:sp>
        <p:nvSpPr>
          <p:cNvPr id="4" name="Slide Number Placeholder 3"/>
          <p:cNvSpPr>
            <a:spLocks noGrp="1"/>
          </p:cNvSpPr>
          <p:nvPr>
            <p:ph type="sldNum" sz="quarter" idx="5"/>
          </p:nvPr>
        </p:nvSpPr>
        <p:spPr/>
        <p:txBody>
          <a:bodyPr/>
          <a:lstStyle/>
          <a:p>
            <a:fld id="{E4F6DBA7-38D3-4FF9-B176-AA5B07999DDF}" type="slidenum">
              <a:rPr lang="sv-SE" smtClean="0"/>
              <a:pPr/>
              <a:t>23</a:t>
            </a:fld>
            <a:endParaRPr lang="sv-SE" dirty="0"/>
          </a:p>
        </p:txBody>
      </p:sp>
    </p:spTree>
    <p:extLst>
      <p:ext uri="{BB962C8B-B14F-4D97-AF65-F5344CB8AC3E}">
        <p14:creationId xmlns:p14="http://schemas.microsoft.com/office/powerpoint/2010/main" val="22995900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tart slide">
    <p:bg>
      <p:bgPr>
        <a:solidFill>
          <a:schemeClr val="accent1"/>
        </a:solidFill>
        <a:effectLst/>
      </p:bgPr>
    </p:bg>
    <p:spTree>
      <p:nvGrpSpPr>
        <p:cNvPr id="1" name=""/>
        <p:cNvGrpSpPr/>
        <p:nvPr/>
      </p:nvGrpSpPr>
      <p:grpSpPr>
        <a:xfrm>
          <a:off x="0" y="0"/>
          <a:ext cx="0" cy="0"/>
          <a:chOff x="0" y="0"/>
          <a:chExt cx="0" cy="0"/>
        </a:xfrm>
      </p:grpSpPr>
      <p:pic>
        <p:nvPicPr>
          <p:cNvPr id="4" name="Bild 3" descr="Logotype Karolinska Institutet.">
            <a:extLst>
              <a:ext uri="{FF2B5EF4-FFF2-40B4-BE49-F238E27FC236}">
                <a16:creationId xmlns:a16="http://schemas.microsoft.com/office/drawing/2014/main" id="{5C58A32B-CE37-00A7-BB2A-05D502F7394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181478" y="262850"/>
            <a:ext cx="1691680" cy="704867"/>
          </a:xfrm>
          <a:prstGeom prst="rect">
            <a:avLst/>
          </a:prstGeom>
        </p:spPr>
      </p:pic>
      <p:sp>
        <p:nvSpPr>
          <p:cNvPr id="3074" name="Rectangle 2"/>
          <p:cNvSpPr>
            <a:spLocks noGrp="1" noChangeArrowheads="1"/>
          </p:cNvSpPr>
          <p:nvPr>
            <p:ph type="ctrTitle" hasCustomPrompt="1"/>
          </p:nvPr>
        </p:nvSpPr>
        <p:spPr>
          <a:xfrm>
            <a:off x="685800" y="1545332"/>
            <a:ext cx="7772400" cy="857250"/>
          </a:xfrm>
        </p:spPr>
        <p:txBody>
          <a:bodyPr anchor="ctr"/>
          <a:lstStyle>
            <a:lvl1pPr>
              <a:defRPr sz="3200" kern="1200" spc="-80" baseline="0">
                <a:solidFill>
                  <a:srgbClr val="FFFFFF"/>
                </a:solidFill>
              </a:defRPr>
            </a:lvl1pPr>
          </a:lstStyle>
          <a:p>
            <a:pPr lvl="0"/>
            <a:r>
              <a:rPr lang="sv-SE" noProof="0" dirty="0" err="1"/>
              <a:t>Click</a:t>
            </a:r>
            <a:r>
              <a:rPr lang="sv-SE" noProof="0" dirty="0"/>
              <a:t> to </a:t>
            </a:r>
            <a:r>
              <a:rPr lang="sv-SE" noProof="0" dirty="0" err="1"/>
              <a:t>add</a:t>
            </a:r>
            <a:r>
              <a:rPr lang="sv-SE" noProof="0" dirty="0"/>
              <a:t> </a:t>
            </a:r>
            <a:r>
              <a:rPr lang="sv-SE" noProof="0" dirty="0" err="1"/>
              <a:t>heading</a:t>
            </a:r>
            <a:endParaRPr lang="sv-SE" noProof="0" dirty="0"/>
          </a:p>
        </p:txBody>
      </p:sp>
      <p:sp>
        <p:nvSpPr>
          <p:cNvPr id="3075" name="Rectangle 3"/>
          <p:cNvSpPr>
            <a:spLocks noGrp="1" noChangeArrowheads="1"/>
          </p:cNvSpPr>
          <p:nvPr>
            <p:ph type="subTitle" idx="1" hasCustomPrompt="1"/>
          </p:nvPr>
        </p:nvSpPr>
        <p:spPr>
          <a:xfrm>
            <a:off x="685800" y="2553444"/>
            <a:ext cx="7772400" cy="1314450"/>
          </a:xfrm>
        </p:spPr>
        <p:txBody>
          <a:bodyPr/>
          <a:lstStyle>
            <a:lvl1pPr marL="0" indent="0">
              <a:buFont typeface="Wingdings" charset="2"/>
              <a:buNone/>
              <a:defRPr sz="1800" spc="-20" baseline="0">
                <a:solidFill>
                  <a:srgbClr val="FFFFFF"/>
                </a:solidFill>
              </a:defRPr>
            </a:lvl1pPr>
          </a:lstStyle>
          <a:p>
            <a:pPr lvl="0"/>
            <a:r>
              <a:rPr lang="sv-SE" noProof="0" dirty="0" err="1"/>
              <a:t>Click</a:t>
            </a:r>
            <a:r>
              <a:rPr lang="sv-SE" noProof="0" dirty="0"/>
              <a:t> to </a:t>
            </a:r>
            <a:r>
              <a:rPr lang="sv-SE" noProof="0" dirty="0" err="1"/>
              <a:t>add</a:t>
            </a:r>
            <a:r>
              <a:rPr lang="sv-SE" noProof="0" dirty="0"/>
              <a:t> </a:t>
            </a:r>
            <a:r>
              <a:rPr lang="sv-SE" noProof="0" dirty="0" err="1"/>
              <a:t>subheading</a:t>
            </a:r>
            <a:endParaRPr lang="sv-SE" noProof="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Section slide">
    <p:bg>
      <p:bgPr>
        <a:solidFill>
          <a:srgbClr val="EDF4F4"/>
        </a:solidFill>
        <a:effectLst/>
      </p:bgPr>
    </p:bg>
    <p:spTree>
      <p:nvGrpSpPr>
        <p:cNvPr id="1" name=""/>
        <p:cNvGrpSpPr/>
        <p:nvPr/>
      </p:nvGrpSpPr>
      <p:grpSpPr>
        <a:xfrm>
          <a:off x="0" y="0"/>
          <a:ext cx="0" cy="0"/>
          <a:chOff x="0" y="0"/>
          <a:chExt cx="0" cy="0"/>
        </a:xfrm>
      </p:grpSpPr>
      <p:sp>
        <p:nvSpPr>
          <p:cNvPr id="2" name="Platshållare för sidfot 2">
            <a:extLst>
              <a:ext uri="{FF2B5EF4-FFF2-40B4-BE49-F238E27FC236}">
                <a16:creationId xmlns:a16="http://schemas.microsoft.com/office/drawing/2014/main" id="{57C9B0D4-41C6-B8AE-EB61-778050516C6C}"/>
              </a:ext>
            </a:extLst>
          </p:cNvPr>
          <p:cNvSpPr>
            <a:spLocks noGrp="1"/>
          </p:cNvSpPr>
          <p:nvPr>
            <p:ph type="ftr" sz="quarter" idx="3"/>
          </p:nvPr>
        </p:nvSpPr>
        <p:spPr>
          <a:xfrm>
            <a:off x="255983" y="5280620"/>
            <a:ext cx="2803849" cy="171450"/>
          </a:xfrm>
          <a:prstGeom prst="rect">
            <a:avLst/>
          </a:prstGeom>
        </p:spPr>
        <p:txBody>
          <a:bodyPr vert="horz" lIns="91440" tIns="45720" rIns="91440" bIns="45720" rtlCol="0" anchor="t"/>
          <a:lstStyle>
            <a:lvl1pPr algn="l">
              <a:tabLst/>
              <a:defRPr sz="800">
                <a:solidFill>
                  <a:srgbClr val="4F0433"/>
                </a:solidFill>
                <a:latin typeface="+mn-lt"/>
              </a:defRPr>
            </a:lvl1pPr>
          </a:lstStyle>
          <a:p>
            <a:r>
              <a:rPr lang="sv-SE" dirty="0"/>
              <a:t>Karolinska Institutet - a </a:t>
            </a:r>
            <a:r>
              <a:rPr lang="sv-SE" dirty="0" err="1"/>
              <a:t>medical</a:t>
            </a:r>
            <a:r>
              <a:rPr lang="sv-SE" dirty="0"/>
              <a:t> </a:t>
            </a:r>
            <a:r>
              <a:rPr lang="sv-SE" dirty="0" err="1"/>
              <a:t>university</a:t>
            </a:r>
            <a:endParaRPr lang="sv-SE" dirty="0"/>
          </a:p>
        </p:txBody>
      </p:sp>
      <p:sp>
        <p:nvSpPr>
          <p:cNvPr id="3" name="Platshållare för datum 3">
            <a:extLst>
              <a:ext uri="{FF2B5EF4-FFF2-40B4-BE49-F238E27FC236}">
                <a16:creationId xmlns:a16="http://schemas.microsoft.com/office/drawing/2014/main" id="{40CF9FCA-BB63-EAA4-5BF3-C52FD54F8314}"/>
              </a:ext>
            </a:extLst>
          </p:cNvPr>
          <p:cNvSpPr>
            <a:spLocks noGrp="1"/>
          </p:cNvSpPr>
          <p:nvPr>
            <p:ph type="dt" sz="half" idx="10"/>
          </p:nvPr>
        </p:nvSpPr>
        <p:spPr>
          <a:xfrm>
            <a:off x="6623447" y="5278502"/>
            <a:ext cx="1905000" cy="171450"/>
          </a:xfrm>
        </p:spPr>
        <p:txBody>
          <a:bodyPr/>
          <a:lstStyle>
            <a:lvl1pPr>
              <a:defRPr/>
            </a:lvl1pPr>
          </a:lstStyle>
          <a:p>
            <a:fld id="{0B99A5A2-19A1-4CFC-BFE3-8B9C2E2B5BE0}" type="datetime1">
              <a:rPr lang="en-GB" smtClean="0"/>
              <a:t>19/10/2026</a:t>
            </a:fld>
            <a:endParaRPr lang="sv-SE" dirty="0"/>
          </a:p>
        </p:txBody>
      </p:sp>
      <p:sp>
        <p:nvSpPr>
          <p:cNvPr id="4" name="Platshållare för bildnummer 5">
            <a:extLst>
              <a:ext uri="{FF2B5EF4-FFF2-40B4-BE49-F238E27FC236}">
                <a16:creationId xmlns:a16="http://schemas.microsoft.com/office/drawing/2014/main" id="{BED4CF09-3C12-3EF1-D5E7-34A36AB16DEE}"/>
              </a:ext>
            </a:extLst>
          </p:cNvPr>
          <p:cNvSpPr>
            <a:spLocks noGrp="1"/>
          </p:cNvSpPr>
          <p:nvPr>
            <p:ph type="sldNum" sz="quarter" idx="12"/>
          </p:nvPr>
        </p:nvSpPr>
        <p:spPr>
          <a:xfrm>
            <a:off x="8299847" y="5278502"/>
            <a:ext cx="685800" cy="171450"/>
          </a:xfrm>
        </p:spPr>
        <p:txBody>
          <a:bodyPr/>
          <a:lstStyle>
            <a:lvl1pPr>
              <a:defRPr/>
            </a:lvl1pPr>
          </a:lstStyle>
          <a:p>
            <a:fld id="{15859C56-CB7E-413F-8971-4226A1EF6823}" type="slidenum">
              <a:rPr lang="sv-SE"/>
              <a:pPr/>
              <a:t>‹#›</a:t>
            </a:fld>
            <a:endParaRPr lang="sv-SE" dirty="0"/>
          </a:p>
        </p:txBody>
      </p:sp>
      <p:sp>
        <p:nvSpPr>
          <p:cNvPr id="3074" name="Rectangle 2"/>
          <p:cNvSpPr>
            <a:spLocks noGrp="1" noChangeArrowheads="1"/>
          </p:cNvSpPr>
          <p:nvPr>
            <p:ph type="ctrTitle" hasCustomPrompt="1"/>
          </p:nvPr>
        </p:nvSpPr>
        <p:spPr>
          <a:xfrm>
            <a:off x="685800" y="1545332"/>
            <a:ext cx="7772400" cy="857250"/>
          </a:xfrm>
        </p:spPr>
        <p:txBody>
          <a:bodyPr anchor="ctr"/>
          <a:lstStyle>
            <a:lvl1pPr>
              <a:defRPr sz="3200" spc="-50" baseline="0">
                <a:solidFill>
                  <a:srgbClr val="4F0433"/>
                </a:solidFill>
              </a:defRPr>
            </a:lvl1pPr>
          </a:lstStyle>
          <a:p>
            <a:pPr lvl="0"/>
            <a:r>
              <a:rPr lang="sv-SE" noProof="0" dirty="0" err="1"/>
              <a:t>Click</a:t>
            </a:r>
            <a:r>
              <a:rPr lang="sv-SE" noProof="0" dirty="0"/>
              <a:t> to </a:t>
            </a:r>
            <a:r>
              <a:rPr lang="sv-SE" noProof="0" dirty="0" err="1"/>
              <a:t>add</a:t>
            </a:r>
            <a:r>
              <a:rPr lang="sv-SE" noProof="0" dirty="0"/>
              <a:t> </a:t>
            </a:r>
            <a:r>
              <a:rPr lang="sv-SE" noProof="0" dirty="0" err="1"/>
              <a:t>heading</a:t>
            </a:r>
            <a:endParaRPr lang="sv-SE" noProof="0" dirty="0"/>
          </a:p>
        </p:txBody>
      </p:sp>
      <p:sp>
        <p:nvSpPr>
          <p:cNvPr id="3075" name="Rectangle 3"/>
          <p:cNvSpPr>
            <a:spLocks noGrp="1" noChangeArrowheads="1"/>
          </p:cNvSpPr>
          <p:nvPr>
            <p:ph type="subTitle" idx="1" hasCustomPrompt="1"/>
          </p:nvPr>
        </p:nvSpPr>
        <p:spPr>
          <a:xfrm>
            <a:off x="685800" y="2553444"/>
            <a:ext cx="7772400" cy="1314450"/>
          </a:xfrm>
        </p:spPr>
        <p:txBody>
          <a:bodyPr/>
          <a:lstStyle>
            <a:lvl1pPr marL="0" indent="0">
              <a:buFont typeface="Wingdings" charset="2"/>
              <a:buNone/>
              <a:defRPr sz="1800" spc="-20" baseline="0">
                <a:solidFill>
                  <a:srgbClr val="4F0433"/>
                </a:solidFill>
              </a:defRPr>
            </a:lvl1pPr>
          </a:lstStyle>
          <a:p>
            <a:pPr lvl="0"/>
            <a:r>
              <a:rPr lang="sv-SE" noProof="0" dirty="0" err="1"/>
              <a:t>Click</a:t>
            </a:r>
            <a:r>
              <a:rPr lang="sv-SE" noProof="0" dirty="0"/>
              <a:t> to </a:t>
            </a:r>
            <a:r>
              <a:rPr lang="sv-SE" noProof="0" dirty="0" err="1"/>
              <a:t>add</a:t>
            </a:r>
            <a:r>
              <a:rPr lang="sv-SE" noProof="0" dirty="0"/>
              <a:t> </a:t>
            </a:r>
            <a:r>
              <a:rPr lang="sv-SE" noProof="0" dirty="0" err="1"/>
              <a:t>subheading</a:t>
            </a:r>
            <a:endParaRPr lang="sv-SE" noProof="0" dirty="0"/>
          </a:p>
        </p:txBody>
      </p:sp>
    </p:spTree>
    <p:extLst>
      <p:ext uri="{BB962C8B-B14F-4D97-AF65-F5344CB8AC3E}">
        <p14:creationId xmlns:p14="http://schemas.microsoft.com/office/powerpoint/2010/main" val="1633792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9" name="Rectangle 2"/>
          <p:cNvSpPr>
            <a:spLocks noGrp="1" noChangeArrowheads="1"/>
          </p:cNvSpPr>
          <p:nvPr>
            <p:ph type="title" hasCustomPrompt="1"/>
          </p:nvPr>
        </p:nvSpPr>
        <p:spPr bwMode="auto">
          <a:xfrm>
            <a:off x="255971" y="339502"/>
            <a:ext cx="8632045"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baseline="0"/>
            </a:lvl1pPr>
          </a:lstStyle>
          <a:p>
            <a:pPr lvl="0"/>
            <a:r>
              <a:rPr lang="sv-SE" dirty="0" err="1"/>
              <a:t>Click</a:t>
            </a:r>
            <a:r>
              <a:rPr lang="sv-SE" dirty="0"/>
              <a:t> to </a:t>
            </a:r>
            <a:r>
              <a:rPr lang="sv-SE" dirty="0" err="1"/>
              <a:t>add</a:t>
            </a:r>
            <a:r>
              <a:rPr lang="sv-SE" dirty="0"/>
              <a:t> </a:t>
            </a:r>
            <a:r>
              <a:rPr lang="sv-SE" dirty="0" err="1"/>
              <a:t>heading</a:t>
            </a:r>
            <a:endParaRPr lang="sv-SE" dirty="0"/>
          </a:p>
        </p:txBody>
      </p:sp>
      <p:sp>
        <p:nvSpPr>
          <p:cNvPr id="10" name="Rectangle 3"/>
          <p:cNvSpPr>
            <a:spLocks noGrp="1" noChangeArrowheads="1"/>
          </p:cNvSpPr>
          <p:nvPr>
            <p:ph idx="1" hasCustomPrompt="1"/>
          </p:nvPr>
        </p:nvSpPr>
        <p:spPr bwMode="auto">
          <a:xfrm>
            <a:off x="256774" y="1402829"/>
            <a:ext cx="8631243" cy="3190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stStyle>
          <a:p>
            <a:pPr lvl="0"/>
            <a:r>
              <a:rPr lang="sv-SE" dirty="0" err="1"/>
              <a:t>Write</a:t>
            </a:r>
            <a:r>
              <a:rPr lang="sv-SE" dirty="0"/>
              <a:t> text </a:t>
            </a:r>
            <a:r>
              <a:rPr lang="sv-SE" dirty="0" err="1"/>
              <a:t>here</a:t>
            </a:r>
            <a:endParaRPr lang="sv-SE" dirty="0"/>
          </a:p>
          <a:p>
            <a:pPr lvl="1"/>
            <a:r>
              <a:rPr lang="sv-SE" dirty="0" err="1"/>
              <a:t>Level</a:t>
            </a:r>
            <a:r>
              <a:rPr lang="sv-SE" dirty="0"/>
              <a:t> </a:t>
            </a:r>
            <a:r>
              <a:rPr lang="sv-SE" dirty="0" err="1"/>
              <a:t>two</a:t>
            </a:r>
            <a:endParaRPr lang="sv-SE" dirty="0"/>
          </a:p>
          <a:p>
            <a:pPr lvl="2"/>
            <a:r>
              <a:rPr lang="sv-SE" dirty="0" err="1"/>
              <a:t>Level</a:t>
            </a:r>
            <a:r>
              <a:rPr lang="sv-SE" dirty="0"/>
              <a:t> </a:t>
            </a:r>
            <a:r>
              <a:rPr lang="sv-SE" dirty="0" err="1"/>
              <a:t>three</a:t>
            </a:r>
            <a:endParaRPr lang="sv-SE" dirty="0"/>
          </a:p>
          <a:p>
            <a:pPr lvl="3"/>
            <a:r>
              <a:rPr lang="sv-SE" dirty="0" err="1"/>
              <a:t>Level</a:t>
            </a:r>
            <a:r>
              <a:rPr lang="sv-SE" dirty="0"/>
              <a:t> </a:t>
            </a:r>
            <a:r>
              <a:rPr lang="sv-SE" dirty="0" err="1"/>
              <a:t>four</a:t>
            </a:r>
            <a:endParaRPr lang="sv-SE" dirty="0"/>
          </a:p>
        </p:txBody>
      </p:sp>
      <p:sp>
        <p:nvSpPr>
          <p:cNvPr id="2" name="Platshållare för sidfot 2">
            <a:extLst>
              <a:ext uri="{FF2B5EF4-FFF2-40B4-BE49-F238E27FC236}">
                <a16:creationId xmlns:a16="http://schemas.microsoft.com/office/drawing/2014/main" id="{009749DF-7E5C-713A-D45D-D9653C97CE16}"/>
              </a:ext>
            </a:extLst>
          </p:cNvPr>
          <p:cNvSpPr>
            <a:spLocks noGrp="1"/>
          </p:cNvSpPr>
          <p:nvPr>
            <p:ph type="ftr" sz="quarter" idx="3"/>
          </p:nvPr>
        </p:nvSpPr>
        <p:spPr>
          <a:xfrm>
            <a:off x="255983" y="4790351"/>
            <a:ext cx="2803849" cy="171450"/>
          </a:xfrm>
          <a:prstGeom prst="rect">
            <a:avLst/>
          </a:prstGeom>
        </p:spPr>
        <p:txBody>
          <a:bodyPr vert="horz" lIns="91440" tIns="45720" rIns="91440" bIns="45720" rtlCol="0" anchor="t"/>
          <a:lstStyle>
            <a:lvl1pPr algn="l">
              <a:tabLst/>
              <a:defRPr sz="800">
                <a:solidFill>
                  <a:srgbClr val="4F0433"/>
                </a:solidFill>
                <a:latin typeface="+mn-lt"/>
              </a:defRPr>
            </a:lvl1pPr>
          </a:lstStyle>
          <a:p>
            <a:r>
              <a:rPr lang="sv-SE" dirty="0"/>
              <a:t>Karolinska Institutet - a </a:t>
            </a:r>
            <a:r>
              <a:rPr lang="sv-SE" dirty="0" err="1"/>
              <a:t>medical</a:t>
            </a:r>
            <a:r>
              <a:rPr lang="sv-SE" dirty="0"/>
              <a:t> </a:t>
            </a:r>
            <a:r>
              <a:rPr lang="sv-SE" dirty="0" err="1"/>
              <a:t>university</a:t>
            </a:r>
            <a:endParaRPr lang="sv-SE" dirty="0"/>
          </a:p>
        </p:txBody>
      </p:sp>
      <p:sp>
        <p:nvSpPr>
          <p:cNvPr id="4" name="Platshållare för datum 3"/>
          <p:cNvSpPr>
            <a:spLocks noGrp="1"/>
          </p:cNvSpPr>
          <p:nvPr>
            <p:ph type="dt" sz="half" idx="10"/>
          </p:nvPr>
        </p:nvSpPr>
        <p:spPr/>
        <p:txBody>
          <a:bodyPr/>
          <a:lstStyle>
            <a:lvl1pPr>
              <a:defRPr/>
            </a:lvl1pPr>
          </a:lstStyle>
          <a:p>
            <a:fld id="{0B99A5A2-19A1-4CFC-BFE3-8B9C2E2B5BE0}" type="datetime1">
              <a:rPr lang="en-GB" smtClean="0"/>
              <a:t>19/10/2026</a:t>
            </a:fld>
            <a:endParaRPr lang="sv-SE" dirty="0"/>
          </a:p>
        </p:txBody>
      </p:sp>
      <p:sp>
        <p:nvSpPr>
          <p:cNvPr id="6" name="Platshållare för bildnummer 5"/>
          <p:cNvSpPr>
            <a:spLocks noGrp="1"/>
          </p:cNvSpPr>
          <p:nvPr>
            <p:ph type="sldNum" sz="quarter" idx="12"/>
          </p:nvPr>
        </p:nvSpPr>
        <p:spPr/>
        <p:txBody>
          <a:bodyPr/>
          <a:lstStyle>
            <a:lvl1pPr>
              <a:defRPr/>
            </a:lvl1pPr>
          </a:lstStyle>
          <a:p>
            <a:fld id="{15859C56-CB7E-413F-8971-4226A1EF6823}" type="slidenum">
              <a:rPr lang="sv-SE"/>
              <a:pPr/>
              <a:t>‹#›</a:t>
            </a:fld>
            <a:endParaRPr lang="sv-SE" dirty="0"/>
          </a:p>
        </p:txBody>
      </p:sp>
    </p:spTree>
    <p:extLst>
      <p:ext uri="{BB962C8B-B14F-4D97-AF65-F5344CB8AC3E}">
        <p14:creationId xmlns:p14="http://schemas.microsoft.com/office/powerpoint/2010/main" val="3512632945"/>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eadline + 2 content parts">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ED75CC17-B226-9EC7-7062-ECD0FA065757}"/>
              </a:ext>
            </a:extLst>
          </p:cNvPr>
          <p:cNvSpPr>
            <a:spLocks noGrp="1" noChangeArrowheads="1"/>
          </p:cNvSpPr>
          <p:nvPr>
            <p:ph type="title" hasCustomPrompt="1"/>
          </p:nvPr>
        </p:nvSpPr>
        <p:spPr bwMode="auto">
          <a:xfrm>
            <a:off x="255971" y="339502"/>
            <a:ext cx="8632045"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a:lvl1pPr>
          </a:lstStyle>
          <a:p>
            <a:pPr lvl="0"/>
            <a:r>
              <a:rPr lang="sv-SE" dirty="0" err="1"/>
              <a:t>Click</a:t>
            </a:r>
            <a:r>
              <a:rPr lang="sv-SE" dirty="0"/>
              <a:t> to </a:t>
            </a:r>
            <a:r>
              <a:rPr lang="sv-SE" dirty="0" err="1"/>
              <a:t>add</a:t>
            </a:r>
            <a:r>
              <a:rPr lang="sv-SE" dirty="0"/>
              <a:t> </a:t>
            </a:r>
            <a:r>
              <a:rPr lang="sv-SE" dirty="0" err="1"/>
              <a:t>heading</a:t>
            </a:r>
            <a:endParaRPr lang="sv-SE" dirty="0"/>
          </a:p>
        </p:txBody>
      </p:sp>
      <p:sp>
        <p:nvSpPr>
          <p:cNvPr id="9" name="Rectangle 3">
            <a:extLst>
              <a:ext uri="{FF2B5EF4-FFF2-40B4-BE49-F238E27FC236}">
                <a16:creationId xmlns:a16="http://schemas.microsoft.com/office/drawing/2014/main" id="{B73CEA02-8FD8-B27D-7351-D598B5116632}"/>
              </a:ext>
            </a:extLst>
          </p:cNvPr>
          <p:cNvSpPr>
            <a:spLocks noGrp="1" noChangeArrowheads="1"/>
          </p:cNvSpPr>
          <p:nvPr>
            <p:ph idx="13" hasCustomPrompt="1"/>
          </p:nvPr>
        </p:nvSpPr>
        <p:spPr bwMode="auto">
          <a:xfrm>
            <a:off x="256774" y="1402829"/>
            <a:ext cx="4170039" cy="3190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sv-SE" dirty="0" err="1"/>
              <a:t>Write</a:t>
            </a:r>
            <a:r>
              <a:rPr lang="sv-SE" dirty="0"/>
              <a:t> text </a:t>
            </a:r>
            <a:r>
              <a:rPr lang="sv-SE" dirty="0" err="1"/>
              <a:t>here</a:t>
            </a:r>
            <a:endParaRPr lang="sv-SE" dirty="0"/>
          </a:p>
          <a:p>
            <a:pPr lvl="1"/>
            <a:r>
              <a:rPr lang="sv-SE" dirty="0" err="1"/>
              <a:t>Level</a:t>
            </a:r>
            <a:r>
              <a:rPr lang="sv-SE" dirty="0"/>
              <a:t> </a:t>
            </a:r>
            <a:r>
              <a:rPr lang="sv-SE" dirty="0" err="1"/>
              <a:t>two</a:t>
            </a:r>
            <a:endParaRPr lang="sv-SE" dirty="0"/>
          </a:p>
          <a:p>
            <a:pPr lvl="2"/>
            <a:r>
              <a:rPr lang="sv-SE" dirty="0" err="1"/>
              <a:t>Level</a:t>
            </a:r>
            <a:r>
              <a:rPr lang="sv-SE" dirty="0"/>
              <a:t> </a:t>
            </a:r>
            <a:r>
              <a:rPr lang="sv-SE" dirty="0" err="1"/>
              <a:t>three</a:t>
            </a:r>
            <a:endParaRPr lang="sv-SE" dirty="0"/>
          </a:p>
          <a:p>
            <a:pPr lvl="3"/>
            <a:r>
              <a:rPr lang="sv-SE" dirty="0" err="1"/>
              <a:t>Level</a:t>
            </a:r>
            <a:r>
              <a:rPr lang="sv-SE" dirty="0"/>
              <a:t> </a:t>
            </a:r>
            <a:r>
              <a:rPr lang="sv-SE" dirty="0" err="1"/>
              <a:t>four</a:t>
            </a:r>
            <a:endParaRPr lang="sv-SE" dirty="0"/>
          </a:p>
        </p:txBody>
      </p:sp>
      <p:sp>
        <p:nvSpPr>
          <p:cNvPr id="4" name="Platshållare för innehåll 3"/>
          <p:cNvSpPr>
            <a:spLocks noGrp="1"/>
          </p:cNvSpPr>
          <p:nvPr>
            <p:ph sz="half" idx="2" hasCustomPrompt="1"/>
          </p:nvPr>
        </p:nvSpPr>
        <p:spPr>
          <a:xfrm>
            <a:off x="4711200" y="1403857"/>
            <a:ext cx="4170040" cy="3189163"/>
          </a:xfrm>
        </p:spPr>
        <p:txBody>
          <a:bodyPr/>
          <a:lstStyle>
            <a:lvl1pPr>
              <a:defRPr sz="1800"/>
            </a:lvl1pPr>
            <a:lvl2pPr>
              <a:defRPr sz="1600"/>
            </a:lvl2pPr>
            <a:lvl3pPr>
              <a:defRPr sz="1400"/>
            </a:lvl3pPr>
            <a:lvl4pPr>
              <a:defRPr sz="1200"/>
            </a:lvl4pPr>
            <a:lvl5pPr>
              <a:defRPr sz="1600"/>
            </a:lvl5pPr>
            <a:lvl6pPr>
              <a:defRPr sz="1800"/>
            </a:lvl6pPr>
            <a:lvl7pPr>
              <a:defRPr sz="1800"/>
            </a:lvl7pPr>
            <a:lvl8pPr>
              <a:defRPr sz="1800"/>
            </a:lvl8pPr>
            <a:lvl9pPr>
              <a:defRPr sz="1800"/>
            </a:lvl9pPr>
          </a:lstStyle>
          <a:p>
            <a:pPr lvl="0"/>
            <a:r>
              <a:rPr lang="sv-SE" dirty="0" err="1"/>
              <a:t>Write</a:t>
            </a:r>
            <a:r>
              <a:rPr lang="sv-SE" dirty="0"/>
              <a:t> text </a:t>
            </a:r>
            <a:r>
              <a:rPr lang="sv-SE" dirty="0" err="1"/>
              <a:t>here</a:t>
            </a:r>
            <a:endParaRPr lang="sv-SE" dirty="0"/>
          </a:p>
          <a:p>
            <a:pPr lvl="1"/>
            <a:r>
              <a:rPr lang="sv-SE" dirty="0" err="1"/>
              <a:t>Level</a:t>
            </a:r>
            <a:r>
              <a:rPr lang="sv-SE" dirty="0"/>
              <a:t> </a:t>
            </a:r>
            <a:r>
              <a:rPr lang="sv-SE" dirty="0" err="1"/>
              <a:t>two</a:t>
            </a:r>
            <a:endParaRPr lang="sv-SE" dirty="0"/>
          </a:p>
          <a:p>
            <a:pPr lvl="2"/>
            <a:r>
              <a:rPr lang="sv-SE" dirty="0" err="1"/>
              <a:t>Level</a:t>
            </a:r>
            <a:r>
              <a:rPr lang="sv-SE" dirty="0"/>
              <a:t> </a:t>
            </a:r>
            <a:r>
              <a:rPr lang="sv-SE" dirty="0" err="1"/>
              <a:t>three</a:t>
            </a:r>
            <a:endParaRPr lang="sv-SE" dirty="0"/>
          </a:p>
          <a:p>
            <a:pPr lvl="3"/>
            <a:r>
              <a:rPr lang="sv-SE" dirty="0" err="1"/>
              <a:t>Level</a:t>
            </a:r>
            <a:r>
              <a:rPr lang="sv-SE" dirty="0"/>
              <a:t> </a:t>
            </a:r>
            <a:r>
              <a:rPr lang="sv-SE" dirty="0" err="1"/>
              <a:t>four</a:t>
            </a:r>
            <a:endParaRPr lang="sv-SE" dirty="0"/>
          </a:p>
        </p:txBody>
      </p:sp>
      <p:sp>
        <p:nvSpPr>
          <p:cNvPr id="2" name="Platshållare för sidfot 2">
            <a:extLst>
              <a:ext uri="{FF2B5EF4-FFF2-40B4-BE49-F238E27FC236}">
                <a16:creationId xmlns:a16="http://schemas.microsoft.com/office/drawing/2014/main" id="{BBC55AFF-EEAC-CC84-7EDE-436AC101B92B}"/>
              </a:ext>
            </a:extLst>
          </p:cNvPr>
          <p:cNvSpPr>
            <a:spLocks noGrp="1"/>
          </p:cNvSpPr>
          <p:nvPr>
            <p:ph type="ftr" sz="quarter" idx="3"/>
          </p:nvPr>
        </p:nvSpPr>
        <p:spPr>
          <a:xfrm>
            <a:off x="255983" y="4790351"/>
            <a:ext cx="2803849" cy="171450"/>
          </a:xfrm>
          <a:prstGeom prst="rect">
            <a:avLst/>
          </a:prstGeom>
        </p:spPr>
        <p:txBody>
          <a:bodyPr vert="horz" lIns="91440" tIns="45720" rIns="91440" bIns="45720" rtlCol="0" anchor="t"/>
          <a:lstStyle>
            <a:lvl1pPr algn="l">
              <a:tabLst/>
              <a:defRPr sz="800">
                <a:solidFill>
                  <a:srgbClr val="4F0433"/>
                </a:solidFill>
                <a:latin typeface="+mn-lt"/>
              </a:defRPr>
            </a:lvl1pPr>
          </a:lstStyle>
          <a:p>
            <a:r>
              <a:rPr lang="sv-SE"/>
              <a:t>Karolinska Institutet - a medical university</a:t>
            </a:r>
            <a:endParaRPr lang="sv-SE" dirty="0"/>
          </a:p>
        </p:txBody>
      </p:sp>
      <p:sp>
        <p:nvSpPr>
          <p:cNvPr id="5" name="Platshållare för datum 4"/>
          <p:cNvSpPr>
            <a:spLocks noGrp="1"/>
          </p:cNvSpPr>
          <p:nvPr>
            <p:ph type="dt" sz="half" idx="10"/>
          </p:nvPr>
        </p:nvSpPr>
        <p:spPr/>
        <p:txBody>
          <a:bodyPr/>
          <a:lstStyle>
            <a:lvl1pPr>
              <a:defRPr/>
            </a:lvl1pPr>
          </a:lstStyle>
          <a:p>
            <a:fld id="{4B55F560-0FA5-4CC3-99C4-83095CAE330C}" type="datetime1">
              <a:rPr lang="en-GB" smtClean="0"/>
              <a:t>19/10/2026</a:t>
            </a:fld>
            <a:endParaRPr lang="sv-SE" dirty="0"/>
          </a:p>
        </p:txBody>
      </p:sp>
      <p:sp>
        <p:nvSpPr>
          <p:cNvPr id="7" name="Platshållare för bildnummer 6"/>
          <p:cNvSpPr>
            <a:spLocks noGrp="1"/>
          </p:cNvSpPr>
          <p:nvPr>
            <p:ph type="sldNum" sz="quarter" idx="12"/>
          </p:nvPr>
        </p:nvSpPr>
        <p:spPr/>
        <p:txBody>
          <a:bodyPr/>
          <a:lstStyle>
            <a:lvl1pPr>
              <a:defRPr/>
            </a:lvl1pPr>
          </a:lstStyle>
          <a:p>
            <a:fld id="{719C98C6-00F0-4387-A9BA-FB521E0564CA}" type="slidenum">
              <a:rPr lang="sv-SE"/>
              <a:pPr/>
              <a:t>‹#›</a:t>
            </a:fld>
            <a:endParaRPr lang="sv-SE" dirty="0"/>
          </a:p>
        </p:txBody>
      </p:sp>
    </p:spTree>
    <p:extLst>
      <p:ext uri="{BB962C8B-B14F-4D97-AF65-F5344CB8AC3E}">
        <p14:creationId xmlns:p14="http://schemas.microsoft.com/office/powerpoint/2010/main" val="2168485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ull frame">
    <p:spTree>
      <p:nvGrpSpPr>
        <p:cNvPr id="1" name=""/>
        <p:cNvGrpSpPr/>
        <p:nvPr/>
      </p:nvGrpSpPr>
      <p:grpSpPr>
        <a:xfrm>
          <a:off x="0" y="0"/>
          <a:ext cx="0" cy="0"/>
          <a:chOff x="0" y="0"/>
          <a:chExt cx="0" cy="0"/>
        </a:xfrm>
      </p:grpSpPr>
      <p:sp>
        <p:nvSpPr>
          <p:cNvPr id="4" name="Platshållare för innehåll 3">
            <a:extLst>
              <a:ext uri="{FF2B5EF4-FFF2-40B4-BE49-F238E27FC236}">
                <a16:creationId xmlns:a16="http://schemas.microsoft.com/office/drawing/2014/main" id="{A0504E30-026F-2F4E-8AA4-42B2AD69F803}"/>
              </a:ext>
            </a:extLst>
          </p:cNvPr>
          <p:cNvSpPr>
            <a:spLocks noGrp="1"/>
          </p:cNvSpPr>
          <p:nvPr>
            <p:ph sz="quarter" idx="13" hasCustomPrompt="1"/>
          </p:nvPr>
        </p:nvSpPr>
        <p:spPr>
          <a:xfrm>
            <a:off x="0" y="0"/>
            <a:ext cx="9144000" cy="5143500"/>
          </a:xfrm>
        </p:spPr>
        <p:txBody>
          <a:bodyPr/>
          <a:lstStyle>
            <a:lvl1pPr marL="0" indent="0">
              <a:buNone/>
              <a:defRPr sz="1400"/>
            </a:lvl1pPr>
            <a:lvl2pPr marL="457200" indent="0">
              <a:buNone/>
              <a:defRPr/>
            </a:lvl2pPr>
            <a:lvl3pPr marL="914400" indent="0">
              <a:buNone/>
              <a:defRPr/>
            </a:lvl3pPr>
            <a:lvl4pPr marL="1371600" indent="0">
              <a:buNone/>
              <a:defRPr/>
            </a:lvl4pPr>
            <a:lvl5pPr marL="1828800" indent="0">
              <a:buFont typeface="Arial" panose="020B0604020202020204" pitchFamily="34" charset="0"/>
              <a:buNone/>
              <a:defRPr/>
            </a:lvl5pPr>
          </a:lstStyle>
          <a:p>
            <a:pPr lvl="0"/>
            <a:r>
              <a:rPr lang="en-US" dirty="0"/>
              <a:t>Click the first or second icon in the second row of icons to insert an image</a:t>
            </a:r>
            <a:endParaRPr lang="en-GB" dirty="0"/>
          </a:p>
        </p:txBody>
      </p:sp>
    </p:spTree>
    <p:extLst>
      <p:ext uri="{BB962C8B-B14F-4D97-AF65-F5344CB8AC3E}">
        <p14:creationId xmlns:p14="http://schemas.microsoft.com/office/powerpoint/2010/main" val="2120383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line + 1 content and 1 image">
    <p:spTree>
      <p:nvGrpSpPr>
        <p:cNvPr id="1" name=""/>
        <p:cNvGrpSpPr/>
        <p:nvPr/>
      </p:nvGrpSpPr>
      <p:grpSpPr>
        <a:xfrm>
          <a:off x="0" y="0"/>
          <a:ext cx="0" cy="0"/>
          <a:chOff x="0" y="0"/>
          <a:chExt cx="0" cy="0"/>
        </a:xfrm>
      </p:grpSpPr>
      <p:sp>
        <p:nvSpPr>
          <p:cNvPr id="12" name="Rectangle 2">
            <a:extLst>
              <a:ext uri="{FF2B5EF4-FFF2-40B4-BE49-F238E27FC236}">
                <a16:creationId xmlns:a16="http://schemas.microsoft.com/office/drawing/2014/main" id="{6C309769-9796-3F4C-16EC-30D95F72728F}"/>
              </a:ext>
            </a:extLst>
          </p:cNvPr>
          <p:cNvSpPr>
            <a:spLocks noGrp="1" noChangeArrowheads="1"/>
          </p:cNvSpPr>
          <p:nvPr>
            <p:ph type="title" hasCustomPrompt="1"/>
          </p:nvPr>
        </p:nvSpPr>
        <p:spPr bwMode="auto">
          <a:xfrm>
            <a:off x="255971" y="339502"/>
            <a:ext cx="8632045"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a:lvl1pPr>
          </a:lstStyle>
          <a:p>
            <a:pPr lvl="0"/>
            <a:r>
              <a:rPr lang="sv-SE" dirty="0" err="1"/>
              <a:t>Click</a:t>
            </a:r>
            <a:r>
              <a:rPr lang="sv-SE" dirty="0"/>
              <a:t> to </a:t>
            </a:r>
            <a:r>
              <a:rPr lang="sv-SE" dirty="0" err="1"/>
              <a:t>add</a:t>
            </a:r>
            <a:r>
              <a:rPr lang="sv-SE" dirty="0"/>
              <a:t> </a:t>
            </a:r>
            <a:r>
              <a:rPr lang="sv-SE" dirty="0" err="1"/>
              <a:t>heading</a:t>
            </a:r>
            <a:endParaRPr lang="sv-SE" dirty="0"/>
          </a:p>
        </p:txBody>
      </p:sp>
      <p:sp>
        <p:nvSpPr>
          <p:cNvPr id="13" name="Rectangle 3">
            <a:extLst>
              <a:ext uri="{FF2B5EF4-FFF2-40B4-BE49-F238E27FC236}">
                <a16:creationId xmlns:a16="http://schemas.microsoft.com/office/drawing/2014/main" id="{0AA63C4E-0A70-530E-97DF-2D2B5352F878}"/>
              </a:ext>
            </a:extLst>
          </p:cNvPr>
          <p:cNvSpPr>
            <a:spLocks noGrp="1" noChangeArrowheads="1"/>
          </p:cNvSpPr>
          <p:nvPr>
            <p:ph idx="15" hasCustomPrompt="1"/>
          </p:nvPr>
        </p:nvSpPr>
        <p:spPr bwMode="auto">
          <a:xfrm>
            <a:off x="256774" y="1402829"/>
            <a:ext cx="4170039" cy="3190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sv-SE" dirty="0" err="1"/>
              <a:t>Write</a:t>
            </a:r>
            <a:r>
              <a:rPr lang="sv-SE" dirty="0"/>
              <a:t> text </a:t>
            </a:r>
            <a:r>
              <a:rPr lang="sv-SE" dirty="0" err="1"/>
              <a:t>here</a:t>
            </a:r>
            <a:endParaRPr lang="sv-SE" dirty="0"/>
          </a:p>
          <a:p>
            <a:pPr lvl="1"/>
            <a:r>
              <a:rPr lang="sv-SE" dirty="0" err="1"/>
              <a:t>Level</a:t>
            </a:r>
            <a:r>
              <a:rPr lang="sv-SE" dirty="0"/>
              <a:t> </a:t>
            </a:r>
            <a:r>
              <a:rPr lang="sv-SE" dirty="0" err="1"/>
              <a:t>two</a:t>
            </a:r>
            <a:endParaRPr lang="sv-SE" dirty="0"/>
          </a:p>
          <a:p>
            <a:pPr lvl="2"/>
            <a:r>
              <a:rPr lang="sv-SE" dirty="0" err="1"/>
              <a:t>Level</a:t>
            </a:r>
            <a:r>
              <a:rPr lang="sv-SE" dirty="0"/>
              <a:t> </a:t>
            </a:r>
            <a:r>
              <a:rPr lang="sv-SE" dirty="0" err="1"/>
              <a:t>three</a:t>
            </a:r>
            <a:endParaRPr lang="sv-SE" dirty="0"/>
          </a:p>
          <a:p>
            <a:pPr lvl="3"/>
            <a:r>
              <a:rPr lang="sv-SE" dirty="0" err="1"/>
              <a:t>Level</a:t>
            </a:r>
            <a:r>
              <a:rPr lang="sv-SE" dirty="0"/>
              <a:t> </a:t>
            </a:r>
            <a:r>
              <a:rPr lang="sv-SE" dirty="0" err="1"/>
              <a:t>four</a:t>
            </a:r>
            <a:endParaRPr lang="sv-SE" dirty="0"/>
          </a:p>
        </p:txBody>
      </p:sp>
      <p:sp>
        <p:nvSpPr>
          <p:cNvPr id="6" name="Platshållare för innehåll 5">
            <a:extLst>
              <a:ext uri="{FF2B5EF4-FFF2-40B4-BE49-F238E27FC236}">
                <a16:creationId xmlns:a16="http://schemas.microsoft.com/office/drawing/2014/main" id="{932F5674-CEDF-3242-F062-BFE26C95349A}"/>
              </a:ext>
            </a:extLst>
          </p:cNvPr>
          <p:cNvSpPr>
            <a:spLocks noGrp="1"/>
          </p:cNvSpPr>
          <p:nvPr>
            <p:ph sz="quarter" idx="16" hasCustomPrompt="1"/>
          </p:nvPr>
        </p:nvSpPr>
        <p:spPr>
          <a:xfrm>
            <a:off x="4711200" y="1404631"/>
            <a:ext cx="4170040" cy="3188389"/>
          </a:xfrm>
        </p:spPr>
        <p:txBody>
          <a:bodyPr/>
          <a:lstStyle>
            <a:lvl1pPr marL="0" indent="0">
              <a:buNone/>
              <a:defRPr sz="1400"/>
            </a:lvl1pPr>
          </a:lstStyle>
          <a:p>
            <a:pPr lvl="0"/>
            <a:r>
              <a:rPr lang="en-US" dirty="0"/>
              <a:t>Click the first or second icon in the second row of icons to insert an image</a:t>
            </a:r>
            <a:endParaRPr lang="en-GB" dirty="0"/>
          </a:p>
        </p:txBody>
      </p:sp>
      <p:sp>
        <p:nvSpPr>
          <p:cNvPr id="3" name="Platshållare för sidfot 2">
            <a:extLst>
              <a:ext uri="{FF2B5EF4-FFF2-40B4-BE49-F238E27FC236}">
                <a16:creationId xmlns:a16="http://schemas.microsoft.com/office/drawing/2014/main" id="{B1D2BA1C-0344-BC2E-84D4-95E7F2FD763C}"/>
              </a:ext>
            </a:extLst>
          </p:cNvPr>
          <p:cNvSpPr>
            <a:spLocks noGrp="1"/>
          </p:cNvSpPr>
          <p:nvPr>
            <p:ph type="ftr" sz="quarter" idx="3"/>
          </p:nvPr>
        </p:nvSpPr>
        <p:spPr>
          <a:xfrm>
            <a:off x="255983" y="4790351"/>
            <a:ext cx="2803849" cy="171450"/>
          </a:xfrm>
          <a:prstGeom prst="rect">
            <a:avLst/>
          </a:prstGeom>
        </p:spPr>
        <p:txBody>
          <a:bodyPr vert="horz" lIns="91440" tIns="45720" rIns="91440" bIns="45720" rtlCol="0" anchor="t"/>
          <a:lstStyle>
            <a:lvl1pPr algn="l">
              <a:tabLst/>
              <a:defRPr sz="800">
                <a:solidFill>
                  <a:srgbClr val="4F0433"/>
                </a:solidFill>
                <a:latin typeface="+mn-lt"/>
              </a:defRPr>
            </a:lvl1pPr>
          </a:lstStyle>
          <a:p>
            <a:r>
              <a:rPr lang="sv-SE"/>
              <a:t>Karolinska Institutet - a medical university</a:t>
            </a:r>
            <a:endParaRPr lang="sv-SE" dirty="0"/>
          </a:p>
        </p:txBody>
      </p:sp>
      <p:sp>
        <p:nvSpPr>
          <p:cNvPr id="2" name="Platshållare för datum 1"/>
          <p:cNvSpPr>
            <a:spLocks noGrp="1"/>
          </p:cNvSpPr>
          <p:nvPr>
            <p:ph type="dt" sz="half" idx="10"/>
          </p:nvPr>
        </p:nvSpPr>
        <p:spPr/>
        <p:txBody>
          <a:bodyPr/>
          <a:lstStyle>
            <a:lvl1pPr>
              <a:defRPr/>
            </a:lvl1pPr>
          </a:lstStyle>
          <a:p>
            <a:fld id="{116A3FCF-EDA7-4D26-BE8D-0D5098A7A2A0}" type="datetime1">
              <a:rPr lang="en-GB" smtClean="0"/>
              <a:t>19/10/2026</a:t>
            </a:fld>
            <a:endParaRPr lang="sv-SE" dirty="0"/>
          </a:p>
        </p:txBody>
      </p:sp>
      <p:sp>
        <p:nvSpPr>
          <p:cNvPr id="4" name="Platshållare för bildnummer 3"/>
          <p:cNvSpPr>
            <a:spLocks noGrp="1"/>
          </p:cNvSpPr>
          <p:nvPr>
            <p:ph type="sldNum" sz="quarter" idx="12"/>
          </p:nvPr>
        </p:nvSpPr>
        <p:spPr/>
        <p:txBody>
          <a:bodyPr/>
          <a:lstStyle>
            <a:lvl1pPr>
              <a:defRPr/>
            </a:lvl1pPr>
          </a:lstStyle>
          <a:p>
            <a:fld id="{E4B570BB-7289-4069-9D4A-2FAE4107D42A}" type="slidenum">
              <a:rPr lang="sv-SE"/>
              <a:pPr/>
              <a:t>‹#›</a:t>
            </a:fld>
            <a:endParaRPr lang="sv-SE" dirty="0"/>
          </a:p>
        </p:txBody>
      </p:sp>
    </p:spTree>
    <p:extLst>
      <p:ext uri="{BB962C8B-B14F-4D97-AF65-F5344CB8AC3E}">
        <p14:creationId xmlns:p14="http://schemas.microsoft.com/office/powerpoint/2010/main" val="827238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eadline + 2 images">
    <p:spTree>
      <p:nvGrpSpPr>
        <p:cNvPr id="1" name=""/>
        <p:cNvGrpSpPr/>
        <p:nvPr/>
      </p:nvGrpSpPr>
      <p:grpSpPr>
        <a:xfrm>
          <a:off x="0" y="0"/>
          <a:ext cx="0" cy="0"/>
          <a:chOff x="0" y="0"/>
          <a:chExt cx="0" cy="0"/>
        </a:xfrm>
      </p:grpSpPr>
      <p:sp>
        <p:nvSpPr>
          <p:cNvPr id="14" name="Rectangle 2">
            <a:extLst>
              <a:ext uri="{FF2B5EF4-FFF2-40B4-BE49-F238E27FC236}">
                <a16:creationId xmlns:a16="http://schemas.microsoft.com/office/drawing/2014/main" id="{6AB09F81-3DF8-1100-91E4-2C1919909396}"/>
              </a:ext>
            </a:extLst>
          </p:cNvPr>
          <p:cNvSpPr>
            <a:spLocks noGrp="1" noChangeArrowheads="1"/>
          </p:cNvSpPr>
          <p:nvPr>
            <p:ph type="title" hasCustomPrompt="1"/>
          </p:nvPr>
        </p:nvSpPr>
        <p:spPr bwMode="auto">
          <a:xfrm>
            <a:off x="255971" y="339502"/>
            <a:ext cx="8632045"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a:lvl1pPr>
          </a:lstStyle>
          <a:p>
            <a:pPr lvl="0"/>
            <a:r>
              <a:rPr lang="sv-SE" dirty="0" err="1"/>
              <a:t>Click</a:t>
            </a:r>
            <a:r>
              <a:rPr lang="sv-SE" dirty="0"/>
              <a:t> to </a:t>
            </a:r>
            <a:r>
              <a:rPr lang="sv-SE" dirty="0" err="1"/>
              <a:t>add</a:t>
            </a:r>
            <a:r>
              <a:rPr lang="sv-SE" dirty="0"/>
              <a:t> </a:t>
            </a:r>
            <a:r>
              <a:rPr lang="sv-SE" dirty="0" err="1"/>
              <a:t>heading</a:t>
            </a:r>
            <a:endParaRPr lang="sv-SE" dirty="0"/>
          </a:p>
        </p:txBody>
      </p:sp>
      <p:sp>
        <p:nvSpPr>
          <p:cNvPr id="8" name="Platshållare för innehåll 7">
            <a:extLst>
              <a:ext uri="{FF2B5EF4-FFF2-40B4-BE49-F238E27FC236}">
                <a16:creationId xmlns:a16="http://schemas.microsoft.com/office/drawing/2014/main" id="{FFBD3AD7-6C44-F3A0-2593-5418DFBAB09D}"/>
              </a:ext>
            </a:extLst>
          </p:cNvPr>
          <p:cNvSpPr>
            <a:spLocks noGrp="1"/>
          </p:cNvSpPr>
          <p:nvPr>
            <p:ph sz="quarter" idx="16" hasCustomPrompt="1"/>
          </p:nvPr>
        </p:nvSpPr>
        <p:spPr>
          <a:xfrm>
            <a:off x="255971" y="1401312"/>
            <a:ext cx="4170038" cy="3193712"/>
          </a:xfrm>
        </p:spPr>
        <p:txBody>
          <a:bodyPr/>
          <a:lstStyle>
            <a:lvl1pPr marL="0" indent="0">
              <a:buNone/>
              <a:defRPr sz="1400"/>
            </a:lvl1pPr>
          </a:lstStyle>
          <a:p>
            <a:pPr marL="0" marR="0" lvl="0" indent="0" algn="l" defTabSz="914400" rtl="0" eaLnBrk="1" fontAlgn="base" latinLnBrk="0" hangingPunct="1">
              <a:lnSpc>
                <a:spcPct val="100000"/>
              </a:lnSpc>
              <a:spcBef>
                <a:spcPct val="20000"/>
              </a:spcBef>
              <a:spcAft>
                <a:spcPct val="0"/>
              </a:spcAft>
              <a:buClr>
                <a:schemeClr val="accent1"/>
              </a:buClr>
              <a:buSzTx/>
              <a:buFont typeface="Arial" panose="020B0604020202020204" pitchFamily="34" charset="0"/>
              <a:buNone/>
              <a:tabLst/>
              <a:defRPr/>
            </a:pPr>
            <a:r>
              <a:rPr lang="en-US" b="0" i="0" u="none" strike="noStrike" baseline="0" dirty="0">
                <a:solidFill>
                  <a:srgbClr val="000000"/>
                </a:solidFill>
                <a:latin typeface="DM Sans" pitchFamily="2" charset="0"/>
              </a:rPr>
              <a:t>Click the first or second icon in the second row of icons to insert an image</a:t>
            </a:r>
            <a:endParaRPr lang="en-GB" b="0" i="0" u="none" strike="noStrike" baseline="0" dirty="0">
              <a:solidFill>
                <a:srgbClr val="000000"/>
              </a:solidFill>
              <a:latin typeface="DM Sans" pitchFamily="2" charset="0"/>
            </a:endParaRPr>
          </a:p>
        </p:txBody>
      </p:sp>
      <p:sp>
        <p:nvSpPr>
          <p:cNvPr id="4" name="Platshållare för innehåll 3">
            <a:extLst>
              <a:ext uri="{FF2B5EF4-FFF2-40B4-BE49-F238E27FC236}">
                <a16:creationId xmlns:a16="http://schemas.microsoft.com/office/drawing/2014/main" id="{5F22D20B-A38A-2C1F-3498-AC2B7335FC09}"/>
              </a:ext>
            </a:extLst>
          </p:cNvPr>
          <p:cNvSpPr>
            <a:spLocks noGrp="1"/>
          </p:cNvSpPr>
          <p:nvPr>
            <p:ph sz="quarter" idx="15" hasCustomPrompt="1"/>
          </p:nvPr>
        </p:nvSpPr>
        <p:spPr>
          <a:xfrm>
            <a:off x="4711200" y="1404631"/>
            <a:ext cx="4170040" cy="3188389"/>
          </a:xfrm>
        </p:spPr>
        <p:txBody>
          <a:bodyPr/>
          <a:lstStyle>
            <a:lvl1pPr marL="0" indent="0">
              <a:buNone/>
              <a:defRPr sz="1400"/>
            </a:lvl1pPr>
          </a:lstStyle>
          <a:p>
            <a:pPr lvl="0"/>
            <a:r>
              <a:rPr lang="en-US" dirty="0"/>
              <a:t>Click the first or second icon in the second row of icons to insert an image</a:t>
            </a:r>
            <a:endParaRPr lang="en-GB" dirty="0"/>
          </a:p>
        </p:txBody>
      </p:sp>
      <p:sp>
        <p:nvSpPr>
          <p:cNvPr id="2" name="Platshållare för sidfot 2">
            <a:extLst>
              <a:ext uri="{FF2B5EF4-FFF2-40B4-BE49-F238E27FC236}">
                <a16:creationId xmlns:a16="http://schemas.microsoft.com/office/drawing/2014/main" id="{372DAC4F-41A4-C8F3-1E26-84893299D9BA}"/>
              </a:ext>
            </a:extLst>
          </p:cNvPr>
          <p:cNvSpPr>
            <a:spLocks noGrp="1"/>
          </p:cNvSpPr>
          <p:nvPr>
            <p:ph type="ftr" sz="quarter" idx="3"/>
          </p:nvPr>
        </p:nvSpPr>
        <p:spPr>
          <a:xfrm>
            <a:off x="255983" y="4790351"/>
            <a:ext cx="2803849" cy="171450"/>
          </a:xfrm>
          <a:prstGeom prst="rect">
            <a:avLst/>
          </a:prstGeom>
        </p:spPr>
        <p:txBody>
          <a:bodyPr vert="horz" lIns="91440" tIns="45720" rIns="91440" bIns="45720" rtlCol="0" anchor="t"/>
          <a:lstStyle>
            <a:lvl1pPr algn="l">
              <a:tabLst/>
              <a:defRPr sz="800">
                <a:solidFill>
                  <a:srgbClr val="4F0433"/>
                </a:solidFill>
                <a:latin typeface="+mn-lt"/>
              </a:defRPr>
            </a:lvl1pPr>
          </a:lstStyle>
          <a:p>
            <a:r>
              <a:rPr lang="sv-SE"/>
              <a:t>Karolinska Institutet - a medical university</a:t>
            </a:r>
            <a:endParaRPr lang="sv-SE" dirty="0"/>
          </a:p>
        </p:txBody>
      </p:sp>
      <p:sp>
        <p:nvSpPr>
          <p:cNvPr id="5" name="Platshållare för datum 4"/>
          <p:cNvSpPr>
            <a:spLocks noGrp="1"/>
          </p:cNvSpPr>
          <p:nvPr>
            <p:ph type="dt" sz="half" idx="10"/>
          </p:nvPr>
        </p:nvSpPr>
        <p:spPr/>
        <p:txBody>
          <a:bodyPr/>
          <a:lstStyle>
            <a:lvl1pPr>
              <a:defRPr/>
            </a:lvl1pPr>
          </a:lstStyle>
          <a:p>
            <a:fld id="{AFB23C43-02AB-49EC-8F17-D0526280C47D}" type="datetime1">
              <a:rPr lang="en-GB" smtClean="0"/>
              <a:t>19/10/2026</a:t>
            </a:fld>
            <a:endParaRPr lang="sv-SE" dirty="0"/>
          </a:p>
        </p:txBody>
      </p:sp>
      <p:sp>
        <p:nvSpPr>
          <p:cNvPr id="7" name="Platshållare för bildnummer 6"/>
          <p:cNvSpPr>
            <a:spLocks noGrp="1"/>
          </p:cNvSpPr>
          <p:nvPr>
            <p:ph type="sldNum" sz="quarter" idx="12"/>
          </p:nvPr>
        </p:nvSpPr>
        <p:spPr/>
        <p:txBody>
          <a:bodyPr/>
          <a:lstStyle>
            <a:lvl1pPr>
              <a:defRPr/>
            </a:lvl1pPr>
          </a:lstStyle>
          <a:p>
            <a:fld id="{73E6EECC-44D8-4442-87AA-D47F74CC81A2}" type="slidenum">
              <a:rPr lang="sv-SE"/>
              <a:pPr/>
              <a:t>‹#›</a:t>
            </a:fld>
            <a:endParaRPr lang="sv-SE" dirty="0"/>
          </a:p>
        </p:txBody>
      </p:sp>
    </p:spTree>
    <p:extLst>
      <p:ext uri="{BB962C8B-B14F-4D97-AF65-F5344CB8AC3E}">
        <p14:creationId xmlns:p14="http://schemas.microsoft.com/office/powerpoint/2010/main" val="3657994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line + 2 images m caption">
    <p:spTree>
      <p:nvGrpSpPr>
        <p:cNvPr id="1" name=""/>
        <p:cNvGrpSpPr/>
        <p:nvPr/>
      </p:nvGrpSpPr>
      <p:grpSpPr>
        <a:xfrm>
          <a:off x="0" y="0"/>
          <a:ext cx="0" cy="0"/>
          <a:chOff x="0" y="0"/>
          <a:chExt cx="0" cy="0"/>
        </a:xfrm>
      </p:grpSpPr>
      <p:sp>
        <p:nvSpPr>
          <p:cNvPr id="2" name="Rubrik 1"/>
          <p:cNvSpPr>
            <a:spLocks noGrp="1"/>
          </p:cNvSpPr>
          <p:nvPr>
            <p:ph type="title" hasCustomPrompt="1"/>
          </p:nvPr>
        </p:nvSpPr>
        <p:spPr/>
        <p:txBody>
          <a:bodyPr/>
          <a:lstStyle>
            <a:lvl1pPr>
              <a:defRPr/>
            </a:lvl1pPr>
          </a:lstStyle>
          <a:p>
            <a:r>
              <a:rPr lang="sv-SE" dirty="0" err="1"/>
              <a:t>Click</a:t>
            </a:r>
            <a:r>
              <a:rPr lang="sv-SE" dirty="0"/>
              <a:t> to </a:t>
            </a:r>
            <a:r>
              <a:rPr lang="sv-SE" dirty="0" err="1"/>
              <a:t>add</a:t>
            </a:r>
            <a:r>
              <a:rPr lang="sv-SE" dirty="0"/>
              <a:t> </a:t>
            </a:r>
            <a:r>
              <a:rPr lang="sv-SE" dirty="0" err="1"/>
              <a:t>heading</a:t>
            </a:r>
            <a:endParaRPr lang="sv-SE" dirty="0"/>
          </a:p>
        </p:txBody>
      </p:sp>
      <p:sp>
        <p:nvSpPr>
          <p:cNvPr id="7" name="Platshållare för innehåll 6">
            <a:extLst>
              <a:ext uri="{FF2B5EF4-FFF2-40B4-BE49-F238E27FC236}">
                <a16:creationId xmlns:a16="http://schemas.microsoft.com/office/drawing/2014/main" id="{BA1DA48D-062A-3C0F-2375-4EA717C42C58}"/>
              </a:ext>
            </a:extLst>
          </p:cNvPr>
          <p:cNvSpPr>
            <a:spLocks noGrp="1"/>
          </p:cNvSpPr>
          <p:nvPr>
            <p:ph sz="quarter" idx="17" hasCustomPrompt="1"/>
          </p:nvPr>
        </p:nvSpPr>
        <p:spPr>
          <a:xfrm>
            <a:off x="255971" y="1401312"/>
            <a:ext cx="4170038" cy="2520145"/>
          </a:xfrm>
        </p:spPr>
        <p:txBody>
          <a:bodyPr/>
          <a:lstStyle>
            <a:lvl1pPr marL="0" indent="0">
              <a:buNone/>
              <a:defRPr sz="1400"/>
            </a:lvl1pPr>
          </a:lstStyle>
          <a:p>
            <a:pPr marL="0" marR="0" lvl="0" indent="0" algn="l" defTabSz="914400" rtl="0" eaLnBrk="1" fontAlgn="base" latinLnBrk="0" hangingPunct="1">
              <a:lnSpc>
                <a:spcPct val="100000"/>
              </a:lnSpc>
              <a:spcBef>
                <a:spcPct val="20000"/>
              </a:spcBef>
              <a:spcAft>
                <a:spcPct val="0"/>
              </a:spcAft>
              <a:buClr>
                <a:schemeClr val="accent1"/>
              </a:buClr>
              <a:buSzTx/>
              <a:buFont typeface="Arial" panose="020B0604020202020204" pitchFamily="34" charset="0"/>
              <a:buNone/>
              <a:tabLst/>
              <a:defRPr/>
            </a:pPr>
            <a:r>
              <a:rPr lang="en-US" b="0" i="0" u="none" strike="noStrike" baseline="0" dirty="0">
                <a:solidFill>
                  <a:srgbClr val="000000"/>
                </a:solidFill>
                <a:latin typeface="DM Sans" pitchFamily="2" charset="0"/>
              </a:rPr>
              <a:t>Click the first or second icon in the second row of icons to insert an image</a:t>
            </a:r>
            <a:endParaRPr lang="en-GB" dirty="0"/>
          </a:p>
        </p:txBody>
      </p:sp>
      <p:sp>
        <p:nvSpPr>
          <p:cNvPr id="10" name="Platshållare för text 9"/>
          <p:cNvSpPr>
            <a:spLocks noGrp="1"/>
          </p:cNvSpPr>
          <p:nvPr>
            <p:ph type="body" sz="quarter" idx="15" hasCustomPrompt="1"/>
          </p:nvPr>
        </p:nvSpPr>
        <p:spPr>
          <a:xfrm>
            <a:off x="255971" y="4016459"/>
            <a:ext cx="4170039" cy="578499"/>
          </a:xfrm>
        </p:spPr>
        <p:txBody>
          <a:bodyPr/>
          <a:lstStyle>
            <a:lvl1pPr marL="0" indent="0">
              <a:buNone/>
              <a:defRPr sz="1600"/>
            </a:lvl1pPr>
          </a:lstStyle>
          <a:p>
            <a:pPr lvl="0"/>
            <a:r>
              <a:rPr lang="sv-SE" dirty="0" err="1"/>
              <a:t>Click</a:t>
            </a:r>
            <a:r>
              <a:rPr lang="sv-SE" dirty="0"/>
              <a:t> to </a:t>
            </a:r>
            <a:r>
              <a:rPr lang="sv-SE" dirty="0" err="1"/>
              <a:t>add</a:t>
            </a:r>
            <a:r>
              <a:rPr lang="sv-SE" dirty="0"/>
              <a:t> text</a:t>
            </a:r>
          </a:p>
        </p:txBody>
      </p:sp>
      <p:sp>
        <p:nvSpPr>
          <p:cNvPr id="9" name="Platshållare för innehåll 8">
            <a:extLst>
              <a:ext uri="{FF2B5EF4-FFF2-40B4-BE49-F238E27FC236}">
                <a16:creationId xmlns:a16="http://schemas.microsoft.com/office/drawing/2014/main" id="{33CB555F-D425-F70E-7236-981C45B2BAFA}"/>
              </a:ext>
            </a:extLst>
          </p:cNvPr>
          <p:cNvSpPr>
            <a:spLocks noGrp="1"/>
          </p:cNvSpPr>
          <p:nvPr>
            <p:ph sz="quarter" idx="18" hasCustomPrompt="1"/>
          </p:nvPr>
        </p:nvSpPr>
        <p:spPr>
          <a:xfrm>
            <a:off x="4711200" y="1404632"/>
            <a:ext cx="4170040" cy="2516826"/>
          </a:xfrm>
        </p:spPr>
        <p:txBody>
          <a:bodyPr/>
          <a:lstStyle>
            <a:lvl1pPr marL="0" indent="0">
              <a:buNone/>
              <a:defRPr sz="1400"/>
            </a:lvl1pPr>
          </a:lstStyle>
          <a:p>
            <a:pPr marL="0" marR="0" lvl="0" indent="0" algn="l" defTabSz="914400" rtl="0" eaLnBrk="1" fontAlgn="base" latinLnBrk="0" hangingPunct="1">
              <a:lnSpc>
                <a:spcPct val="100000"/>
              </a:lnSpc>
              <a:spcBef>
                <a:spcPct val="20000"/>
              </a:spcBef>
              <a:spcAft>
                <a:spcPct val="0"/>
              </a:spcAft>
              <a:buClr>
                <a:schemeClr val="accent1"/>
              </a:buClr>
              <a:buSzTx/>
              <a:buFont typeface="Arial" panose="020B0604020202020204" pitchFamily="34" charset="0"/>
              <a:buNone/>
              <a:tabLst/>
              <a:defRPr/>
            </a:pPr>
            <a:r>
              <a:rPr lang="en-US" b="0" i="0" u="none" strike="noStrike" baseline="0" dirty="0">
                <a:solidFill>
                  <a:srgbClr val="000000"/>
                </a:solidFill>
                <a:latin typeface="DM Sans" pitchFamily="2" charset="0"/>
              </a:rPr>
              <a:t>Click the first or second icon in the second row of icons to insert an image</a:t>
            </a:r>
            <a:endParaRPr lang="en-GB" b="0" i="0" u="none" strike="noStrike" baseline="0" dirty="0">
              <a:solidFill>
                <a:srgbClr val="000000"/>
              </a:solidFill>
              <a:latin typeface="DM Sans" pitchFamily="2" charset="0"/>
            </a:endParaRPr>
          </a:p>
        </p:txBody>
      </p:sp>
      <p:sp>
        <p:nvSpPr>
          <p:cNvPr id="11" name="Platshållare för text 9"/>
          <p:cNvSpPr>
            <a:spLocks noGrp="1"/>
          </p:cNvSpPr>
          <p:nvPr>
            <p:ph type="body" sz="quarter" idx="16" hasCustomPrompt="1"/>
          </p:nvPr>
        </p:nvSpPr>
        <p:spPr>
          <a:xfrm>
            <a:off x="4711200" y="4016459"/>
            <a:ext cx="4170039" cy="574675"/>
          </a:xfrm>
        </p:spPr>
        <p:txBody>
          <a:bodyPr/>
          <a:lstStyle>
            <a:lvl1pPr marL="0" indent="0">
              <a:buNone/>
              <a:defRPr sz="1600"/>
            </a:lvl1pPr>
          </a:lstStyle>
          <a:p>
            <a:pPr lvl="0"/>
            <a:r>
              <a:rPr lang="sv-SE" dirty="0" err="1"/>
              <a:t>Click</a:t>
            </a:r>
            <a:r>
              <a:rPr lang="sv-SE" dirty="0"/>
              <a:t> to </a:t>
            </a:r>
            <a:r>
              <a:rPr lang="sv-SE" dirty="0" err="1"/>
              <a:t>add</a:t>
            </a:r>
            <a:r>
              <a:rPr lang="sv-SE" dirty="0"/>
              <a:t> text</a:t>
            </a:r>
          </a:p>
        </p:txBody>
      </p:sp>
      <p:sp>
        <p:nvSpPr>
          <p:cNvPr id="4" name="Platshållare för sidfot 2">
            <a:extLst>
              <a:ext uri="{FF2B5EF4-FFF2-40B4-BE49-F238E27FC236}">
                <a16:creationId xmlns:a16="http://schemas.microsoft.com/office/drawing/2014/main" id="{D069920A-1206-9BEB-B428-2FE026E7B3E3}"/>
              </a:ext>
            </a:extLst>
          </p:cNvPr>
          <p:cNvSpPr>
            <a:spLocks noGrp="1"/>
          </p:cNvSpPr>
          <p:nvPr>
            <p:ph type="ftr" sz="quarter" idx="3"/>
          </p:nvPr>
        </p:nvSpPr>
        <p:spPr>
          <a:xfrm>
            <a:off x="255983" y="4790351"/>
            <a:ext cx="2803849" cy="171450"/>
          </a:xfrm>
          <a:prstGeom prst="rect">
            <a:avLst/>
          </a:prstGeom>
        </p:spPr>
        <p:txBody>
          <a:bodyPr vert="horz" lIns="91440" tIns="45720" rIns="91440" bIns="45720" rtlCol="0" anchor="t"/>
          <a:lstStyle>
            <a:lvl1pPr algn="l">
              <a:tabLst/>
              <a:defRPr sz="800">
                <a:solidFill>
                  <a:srgbClr val="4F0433"/>
                </a:solidFill>
                <a:latin typeface="+mn-lt"/>
              </a:defRPr>
            </a:lvl1pPr>
          </a:lstStyle>
          <a:p>
            <a:r>
              <a:rPr lang="sv-SE" dirty="0"/>
              <a:t>Karolinska Institutet - a </a:t>
            </a:r>
            <a:r>
              <a:rPr lang="sv-SE" dirty="0" err="1"/>
              <a:t>medical</a:t>
            </a:r>
            <a:r>
              <a:rPr lang="sv-SE" dirty="0"/>
              <a:t> </a:t>
            </a:r>
            <a:r>
              <a:rPr lang="sv-SE" dirty="0" err="1"/>
              <a:t>university</a:t>
            </a:r>
            <a:endParaRPr lang="sv-SE" dirty="0"/>
          </a:p>
        </p:txBody>
      </p:sp>
      <p:sp>
        <p:nvSpPr>
          <p:cNvPr id="3" name="Platshållare för datum 2"/>
          <p:cNvSpPr>
            <a:spLocks noGrp="1"/>
          </p:cNvSpPr>
          <p:nvPr>
            <p:ph type="dt" sz="half" idx="10"/>
          </p:nvPr>
        </p:nvSpPr>
        <p:spPr/>
        <p:txBody>
          <a:bodyPr/>
          <a:lstStyle/>
          <a:p>
            <a:fld id="{30CF4331-D6D1-4E26-B16A-55BB8118C67A}" type="datetime1">
              <a:rPr lang="en-GB" smtClean="0"/>
              <a:t>19/10/2026</a:t>
            </a:fld>
            <a:endParaRPr lang="sv-SE" dirty="0"/>
          </a:p>
        </p:txBody>
      </p:sp>
      <p:sp>
        <p:nvSpPr>
          <p:cNvPr id="5" name="Platshållare för bildnummer 4"/>
          <p:cNvSpPr>
            <a:spLocks noGrp="1"/>
          </p:cNvSpPr>
          <p:nvPr>
            <p:ph type="sldNum" sz="quarter" idx="12"/>
          </p:nvPr>
        </p:nvSpPr>
        <p:spPr/>
        <p:txBody>
          <a:bodyPr/>
          <a:lstStyle/>
          <a:p>
            <a:fld id="{B5C8723E-5A40-4F9A-B83B-0F0B7FEF2706}" type="slidenum">
              <a:rPr lang="sv-SE" smtClean="0"/>
              <a:pPr/>
              <a:t>‹#›</a:t>
            </a:fld>
            <a:endParaRPr lang="sv-SE" dirty="0"/>
          </a:p>
        </p:txBody>
      </p:sp>
    </p:spTree>
    <p:extLst>
      <p:ext uri="{BB962C8B-B14F-4D97-AF65-F5344CB8AC3E}">
        <p14:creationId xmlns:p14="http://schemas.microsoft.com/office/powerpoint/2010/main" val="2201580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9" name="Rectangle 2"/>
          <p:cNvSpPr>
            <a:spLocks noGrp="1" noChangeArrowheads="1"/>
          </p:cNvSpPr>
          <p:nvPr>
            <p:ph type="title" hasCustomPrompt="1"/>
          </p:nvPr>
        </p:nvSpPr>
        <p:spPr bwMode="auto">
          <a:xfrm>
            <a:off x="255971" y="339502"/>
            <a:ext cx="8632045"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baseline="0"/>
            </a:lvl1pPr>
          </a:lstStyle>
          <a:p>
            <a:pPr lvl="0"/>
            <a:r>
              <a:rPr lang="sv-SE" dirty="0" err="1"/>
              <a:t>Click</a:t>
            </a:r>
            <a:r>
              <a:rPr lang="sv-SE" dirty="0"/>
              <a:t> to </a:t>
            </a:r>
            <a:r>
              <a:rPr lang="sv-SE" dirty="0" err="1"/>
              <a:t>add</a:t>
            </a:r>
            <a:r>
              <a:rPr lang="sv-SE" dirty="0"/>
              <a:t> </a:t>
            </a:r>
            <a:r>
              <a:rPr lang="sv-SE" dirty="0" err="1"/>
              <a:t>heading</a:t>
            </a:r>
            <a:endParaRPr lang="sv-SE" dirty="0"/>
          </a:p>
        </p:txBody>
      </p:sp>
      <p:sp>
        <p:nvSpPr>
          <p:cNvPr id="2" name="Platshållare för sidfot 2">
            <a:extLst>
              <a:ext uri="{FF2B5EF4-FFF2-40B4-BE49-F238E27FC236}">
                <a16:creationId xmlns:a16="http://schemas.microsoft.com/office/drawing/2014/main" id="{009749DF-7E5C-713A-D45D-D9653C97CE16}"/>
              </a:ext>
            </a:extLst>
          </p:cNvPr>
          <p:cNvSpPr>
            <a:spLocks noGrp="1"/>
          </p:cNvSpPr>
          <p:nvPr>
            <p:ph type="ftr" sz="quarter" idx="3"/>
          </p:nvPr>
        </p:nvSpPr>
        <p:spPr>
          <a:xfrm>
            <a:off x="255983" y="4790351"/>
            <a:ext cx="2803849" cy="171450"/>
          </a:xfrm>
          <a:prstGeom prst="rect">
            <a:avLst/>
          </a:prstGeom>
        </p:spPr>
        <p:txBody>
          <a:bodyPr vert="horz" lIns="91440" tIns="45720" rIns="91440" bIns="45720" rtlCol="0" anchor="t"/>
          <a:lstStyle>
            <a:lvl1pPr algn="l">
              <a:tabLst/>
              <a:defRPr sz="800">
                <a:solidFill>
                  <a:srgbClr val="4F0433"/>
                </a:solidFill>
                <a:latin typeface="+mn-lt"/>
              </a:defRPr>
            </a:lvl1pPr>
          </a:lstStyle>
          <a:p>
            <a:r>
              <a:rPr lang="sv-SE"/>
              <a:t>Karolinska Institutet - a medical university</a:t>
            </a:r>
            <a:endParaRPr lang="sv-SE" dirty="0"/>
          </a:p>
        </p:txBody>
      </p:sp>
      <p:sp>
        <p:nvSpPr>
          <p:cNvPr id="4" name="Platshållare för datum 3"/>
          <p:cNvSpPr>
            <a:spLocks noGrp="1"/>
          </p:cNvSpPr>
          <p:nvPr>
            <p:ph type="dt" sz="half" idx="10"/>
          </p:nvPr>
        </p:nvSpPr>
        <p:spPr/>
        <p:txBody>
          <a:bodyPr/>
          <a:lstStyle>
            <a:lvl1pPr>
              <a:defRPr/>
            </a:lvl1pPr>
          </a:lstStyle>
          <a:p>
            <a:fld id="{0B99A5A2-19A1-4CFC-BFE3-8B9C2E2B5BE0}" type="datetime1">
              <a:rPr lang="en-GB" smtClean="0"/>
              <a:t>19/10/2026</a:t>
            </a:fld>
            <a:endParaRPr lang="sv-SE" dirty="0"/>
          </a:p>
        </p:txBody>
      </p:sp>
      <p:sp>
        <p:nvSpPr>
          <p:cNvPr id="6" name="Platshållare för bildnummer 5"/>
          <p:cNvSpPr>
            <a:spLocks noGrp="1"/>
          </p:cNvSpPr>
          <p:nvPr>
            <p:ph type="sldNum" sz="quarter" idx="12"/>
          </p:nvPr>
        </p:nvSpPr>
        <p:spPr/>
        <p:txBody>
          <a:bodyPr/>
          <a:lstStyle>
            <a:lvl1pPr>
              <a:defRPr/>
            </a:lvl1pPr>
          </a:lstStyle>
          <a:p>
            <a:fld id="{15859C56-CB7E-413F-8971-4226A1EF6823}" type="slidenum">
              <a:rPr lang="sv-SE"/>
              <a:pPr/>
              <a:t>‹#›</a:t>
            </a:fld>
            <a:endParaRPr lang="sv-SE" dirty="0"/>
          </a:p>
        </p:txBody>
      </p:sp>
    </p:spTree>
    <p:extLst>
      <p:ext uri="{BB962C8B-B14F-4D97-AF65-F5344CB8AC3E}">
        <p14:creationId xmlns:p14="http://schemas.microsoft.com/office/powerpoint/2010/main" val="2516640295"/>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1"/>
        </a:solidFill>
        <a:effectLst/>
      </p:bgPr>
    </p:bg>
    <p:spTree>
      <p:nvGrpSpPr>
        <p:cNvPr id="1" name=""/>
        <p:cNvGrpSpPr/>
        <p:nvPr/>
      </p:nvGrpSpPr>
      <p:grpSpPr>
        <a:xfrm>
          <a:off x="0" y="0"/>
          <a:ext cx="0" cy="0"/>
          <a:chOff x="0" y="0"/>
          <a:chExt cx="0" cy="0"/>
        </a:xfrm>
      </p:grpSpPr>
      <p:pic>
        <p:nvPicPr>
          <p:cNvPr id="3" name="Bild 2" descr="Logotype Karolinska Institutet.">
            <a:extLst>
              <a:ext uri="{FF2B5EF4-FFF2-40B4-BE49-F238E27FC236}">
                <a16:creationId xmlns:a16="http://schemas.microsoft.com/office/drawing/2014/main" id="{7AC1AD67-1AF6-B109-ABEC-31FF3DEF09C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96951" y="1915479"/>
            <a:ext cx="3150096" cy="1312540"/>
          </a:xfrm>
          <a:prstGeom prst="rect">
            <a:avLst/>
          </a:prstGeom>
        </p:spPr>
      </p:pic>
    </p:spTree>
    <p:extLst>
      <p:ext uri="{BB962C8B-B14F-4D97-AF65-F5344CB8AC3E}">
        <p14:creationId xmlns:p14="http://schemas.microsoft.com/office/powerpoint/2010/main" val="1873946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and text">
    <p:bg>
      <p:bgPr>
        <a:solidFill>
          <a:schemeClr val="accent1"/>
        </a:solidFill>
        <a:effectLst/>
      </p:bgPr>
    </p:bg>
    <p:spTree>
      <p:nvGrpSpPr>
        <p:cNvPr id="1" name=""/>
        <p:cNvGrpSpPr/>
        <p:nvPr/>
      </p:nvGrpSpPr>
      <p:grpSpPr>
        <a:xfrm>
          <a:off x="0" y="0"/>
          <a:ext cx="0" cy="0"/>
          <a:chOff x="0" y="0"/>
          <a:chExt cx="0" cy="0"/>
        </a:xfrm>
      </p:grpSpPr>
      <p:pic>
        <p:nvPicPr>
          <p:cNvPr id="4" name="Bild 3" descr="Logotype Karolinska Institutet.">
            <a:extLst>
              <a:ext uri="{FF2B5EF4-FFF2-40B4-BE49-F238E27FC236}">
                <a16:creationId xmlns:a16="http://schemas.microsoft.com/office/drawing/2014/main" id="{1A2DD4E6-57FC-99BA-083F-4F5711AA371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96951" y="1915479"/>
            <a:ext cx="3150096" cy="1312540"/>
          </a:xfrm>
          <a:prstGeom prst="rect">
            <a:avLst/>
          </a:prstGeom>
        </p:spPr>
      </p:pic>
      <p:sp>
        <p:nvSpPr>
          <p:cNvPr id="3" name="Platshållare för text 9">
            <a:extLst>
              <a:ext uri="{FF2B5EF4-FFF2-40B4-BE49-F238E27FC236}">
                <a16:creationId xmlns:a16="http://schemas.microsoft.com/office/drawing/2014/main" id="{28D153B6-736E-604E-CC38-30ABDB634687}"/>
              </a:ext>
            </a:extLst>
          </p:cNvPr>
          <p:cNvSpPr>
            <a:spLocks noGrp="1"/>
          </p:cNvSpPr>
          <p:nvPr>
            <p:ph type="body" sz="quarter" idx="15" hasCustomPrompt="1"/>
          </p:nvPr>
        </p:nvSpPr>
        <p:spPr>
          <a:xfrm>
            <a:off x="255971" y="4299942"/>
            <a:ext cx="8564501" cy="578499"/>
          </a:xfrm>
        </p:spPr>
        <p:txBody>
          <a:bodyPr/>
          <a:lstStyle>
            <a:lvl1pPr marL="0" indent="0">
              <a:buNone/>
              <a:defRPr sz="1600">
                <a:solidFill>
                  <a:schemeClr val="bg1"/>
                </a:solidFill>
              </a:defRPr>
            </a:lvl1pPr>
          </a:lstStyle>
          <a:p>
            <a:pPr lvl="0"/>
            <a:r>
              <a:rPr lang="sv-SE" dirty="0" err="1"/>
              <a:t>Click</a:t>
            </a:r>
            <a:r>
              <a:rPr lang="sv-SE" dirty="0"/>
              <a:t> </a:t>
            </a:r>
            <a:r>
              <a:rPr lang="sv-SE" dirty="0" err="1"/>
              <a:t>here</a:t>
            </a:r>
            <a:r>
              <a:rPr lang="sv-SE" dirty="0"/>
              <a:t> to </a:t>
            </a:r>
            <a:r>
              <a:rPr lang="sv-SE" dirty="0" err="1"/>
              <a:t>add</a:t>
            </a:r>
            <a:r>
              <a:rPr lang="sv-SE" dirty="0"/>
              <a:t> text</a:t>
            </a:r>
          </a:p>
        </p:txBody>
      </p:sp>
    </p:spTree>
    <p:extLst>
      <p:ext uri="{BB962C8B-B14F-4D97-AF65-F5344CB8AC3E}">
        <p14:creationId xmlns:p14="http://schemas.microsoft.com/office/powerpoint/2010/main" val="2043686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55983" y="339502"/>
            <a:ext cx="8625257"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sv-SE" dirty="0" err="1"/>
              <a:t>Click</a:t>
            </a:r>
            <a:r>
              <a:rPr lang="sv-SE" dirty="0"/>
              <a:t> to </a:t>
            </a:r>
            <a:r>
              <a:rPr lang="sv-SE" dirty="0" err="1"/>
              <a:t>add</a:t>
            </a:r>
            <a:r>
              <a:rPr lang="sv-SE" dirty="0"/>
              <a:t> </a:t>
            </a:r>
            <a:r>
              <a:rPr lang="sv-SE" dirty="0" err="1"/>
              <a:t>heading</a:t>
            </a:r>
            <a:endParaRPr lang="sv-SE" dirty="0"/>
          </a:p>
        </p:txBody>
      </p:sp>
      <p:sp>
        <p:nvSpPr>
          <p:cNvPr id="1027" name="Rectangle 3"/>
          <p:cNvSpPr>
            <a:spLocks noGrp="1" noChangeArrowheads="1"/>
          </p:cNvSpPr>
          <p:nvPr>
            <p:ph type="body" idx="1"/>
          </p:nvPr>
        </p:nvSpPr>
        <p:spPr bwMode="auto">
          <a:xfrm>
            <a:off x="255983" y="1402830"/>
            <a:ext cx="8630513" cy="3185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sv-SE" dirty="0" err="1"/>
              <a:t>Write</a:t>
            </a:r>
            <a:r>
              <a:rPr lang="sv-SE" dirty="0"/>
              <a:t> text </a:t>
            </a:r>
            <a:r>
              <a:rPr lang="sv-SE" dirty="0" err="1"/>
              <a:t>here</a:t>
            </a:r>
            <a:endParaRPr lang="sv-SE" dirty="0"/>
          </a:p>
          <a:p>
            <a:pPr lvl="1"/>
            <a:r>
              <a:rPr lang="sv-SE" dirty="0" err="1"/>
              <a:t>Level</a:t>
            </a:r>
            <a:r>
              <a:rPr lang="sv-SE" dirty="0"/>
              <a:t> </a:t>
            </a:r>
            <a:r>
              <a:rPr lang="sv-SE" dirty="0" err="1"/>
              <a:t>two</a:t>
            </a:r>
            <a:endParaRPr lang="sv-SE" dirty="0"/>
          </a:p>
          <a:p>
            <a:pPr lvl="2"/>
            <a:r>
              <a:rPr lang="sv-SE" dirty="0" err="1"/>
              <a:t>Level</a:t>
            </a:r>
            <a:r>
              <a:rPr lang="sv-SE" dirty="0"/>
              <a:t> </a:t>
            </a:r>
            <a:r>
              <a:rPr lang="sv-SE" dirty="0" err="1"/>
              <a:t>three</a:t>
            </a:r>
            <a:endParaRPr lang="sv-SE" dirty="0"/>
          </a:p>
          <a:p>
            <a:pPr lvl="3"/>
            <a:r>
              <a:rPr lang="sv-SE" dirty="0" err="1"/>
              <a:t>Level</a:t>
            </a:r>
            <a:r>
              <a:rPr lang="sv-SE" dirty="0"/>
              <a:t> </a:t>
            </a:r>
            <a:r>
              <a:rPr lang="sv-SE" dirty="0" err="1"/>
              <a:t>four</a:t>
            </a:r>
            <a:endParaRPr lang="sv-SE" dirty="0"/>
          </a:p>
        </p:txBody>
      </p:sp>
      <p:sp>
        <p:nvSpPr>
          <p:cNvPr id="3" name="Platshållare för sidfot 2">
            <a:extLst>
              <a:ext uri="{FF2B5EF4-FFF2-40B4-BE49-F238E27FC236}">
                <a16:creationId xmlns:a16="http://schemas.microsoft.com/office/drawing/2014/main" id="{C2080A6F-57B1-B9B7-BFFB-9C38D4F13FE6}"/>
              </a:ext>
            </a:extLst>
          </p:cNvPr>
          <p:cNvSpPr>
            <a:spLocks noGrp="1"/>
          </p:cNvSpPr>
          <p:nvPr>
            <p:ph type="ftr" sz="quarter" idx="3"/>
          </p:nvPr>
        </p:nvSpPr>
        <p:spPr>
          <a:xfrm>
            <a:off x="255983" y="4790351"/>
            <a:ext cx="2227785" cy="171450"/>
          </a:xfrm>
          <a:prstGeom prst="rect">
            <a:avLst/>
          </a:prstGeom>
        </p:spPr>
        <p:txBody>
          <a:bodyPr vert="horz" lIns="91440" tIns="45720" rIns="91440" bIns="45720" rtlCol="0" anchor="ctr"/>
          <a:lstStyle>
            <a:lvl1pPr algn="l">
              <a:tabLst/>
              <a:defRPr sz="800">
                <a:solidFill>
                  <a:schemeClr val="accent1"/>
                </a:solidFill>
                <a:latin typeface="+mn-lt"/>
              </a:defRPr>
            </a:lvl1pPr>
          </a:lstStyle>
          <a:p>
            <a:r>
              <a:rPr lang="sv-SE" dirty="0"/>
              <a:t>Karolinska Institutet - a </a:t>
            </a:r>
            <a:r>
              <a:rPr lang="sv-SE" dirty="0" err="1"/>
              <a:t>medical</a:t>
            </a:r>
            <a:r>
              <a:rPr lang="sv-SE" dirty="0"/>
              <a:t> </a:t>
            </a:r>
            <a:r>
              <a:rPr lang="sv-SE" dirty="0" err="1"/>
              <a:t>university</a:t>
            </a:r>
            <a:endParaRPr lang="sv-SE" dirty="0"/>
          </a:p>
        </p:txBody>
      </p:sp>
      <p:sp>
        <p:nvSpPr>
          <p:cNvPr id="1028" name="Rectangle 4"/>
          <p:cNvSpPr>
            <a:spLocks noGrp="1" noChangeArrowheads="1"/>
          </p:cNvSpPr>
          <p:nvPr>
            <p:ph type="dt" sz="half" idx="2"/>
          </p:nvPr>
        </p:nvSpPr>
        <p:spPr bwMode="auto">
          <a:xfrm>
            <a:off x="6623447" y="4788233"/>
            <a:ext cx="1905000"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00">
                <a:solidFill>
                  <a:schemeClr val="accent1"/>
                </a:solidFill>
                <a:latin typeface="+mn-lt"/>
              </a:defRPr>
            </a:lvl1pPr>
          </a:lstStyle>
          <a:p>
            <a:fld id="{556C4A7E-66B8-4D02-A897-C064A39C4051}" type="datetime1">
              <a:rPr lang="en-GB" smtClean="0"/>
              <a:t>19/10/2026</a:t>
            </a:fld>
            <a:endParaRPr lang="sv-SE" dirty="0"/>
          </a:p>
        </p:txBody>
      </p:sp>
      <p:sp>
        <p:nvSpPr>
          <p:cNvPr id="1030" name="Rectangle 6"/>
          <p:cNvSpPr>
            <a:spLocks noGrp="1" noChangeArrowheads="1"/>
          </p:cNvSpPr>
          <p:nvPr>
            <p:ph type="sldNum" sz="quarter" idx="4"/>
          </p:nvPr>
        </p:nvSpPr>
        <p:spPr bwMode="auto">
          <a:xfrm>
            <a:off x="8299847" y="4788233"/>
            <a:ext cx="685800" cy="17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00" b="0">
                <a:solidFill>
                  <a:schemeClr val="accent1"/>
                </a:solidFill>
                <a:latin typeface="+mn-lt"/>
              </a:defRPr>
            </a:lvl1pPr>
          </a:lstStyle>
          <a:p>
            <a:fld id="{B5C8723E-5A40-4F9A-B83B-0F0B7FEF2706}" type="slidenum">
              <a:rPr lang="sv-SE" smtClean="0"/>
              <a:pPr/>
              <a:t>‹#›</a:t>
            </a:fld>
            <a:endParaRPr lang="sv-SE" dirty="0"/>
          </a:p>
        </p:txBody>
      </p:sp>
    </p:spTree>
  </p:cSld>
  <p:clrMap bg1="lt1" tx1="dk1" bg2="lt2" tx2="dk2" accent1="accent1" accent2="accent2" accent3="accent3" accent4="accent4" accent5="accent5" accent6="accent6" hlink="hlink" folHlink="folHlink"/>
  <p:sldLayoutIdLst>
    <p:sldLayoutId id="2147483649" r:id="rId1"/>
    <p:sldLayoutId id="2147483661" r:id="rId2"/>
    <p:sldLayoutId id="2147483650" r:id="rId3"/>
    <p:sldLayoutId id="2147483652" r:id="rId4"/>
    <p:sldLayoutId id="2147483654" r:id="rId5"/>
    <p:sldLayoutId id="2147483655" r:id="rId6"/>
    <p:sldLayoutId id="2147483657" r:id="rId7"/>
    <p:sldLayoutId id="2147483658" r:id="rId8"/>
    <p:sldLayoutId id="2147483663" r:id="rId9"/>
    <p:sldLayoutId id="2147483659" r:id="rId10"/>
    <p:sldLayoutId id="2147483662" r:id="rId11"/>
  </p:sldLayoutIdLst>
  <p:hf hdr="0"/>
  <p:txStyles>
    <p:titleStyle>
      <a:lvl1pPr algn="l" rtl="0" eaLnBrk="1" fontAlgn="base" hangingPunct="1">
        <a:spcBef>
          <a:spcPct val="0"/>
        </a:spcBef>
        <a:spcAft>
          <a:spcPct val="0"/>
        </a:spcAft>
        <a:defRPr sz="2800" b="0" spc="-50" baseline="0">
          <a:solidFill>
            <a:schemeClr val="accent1"/>
          </a:solidFill>
          <a:latin typeface="+mj-lt"/>
          <a:ea typeface="+mj-ea"/>
          <a:cs typeface="+mj-cs"/>
        </a:defRPr>
      </a:lvl1pPr>
      <a:lvl2pPr algn="l" rtl="0" eaLnBrk="1" fontAlgn="base" hangingPunct="1">
        <a:spcBef>
          <a:spcPct val="0"/>
        </a:spcBef>
        <a:spcAft>
          <a:spcPct val="0"/>
        </a:spcAft>
        <a:defRPr sz="2800" b="1">
          <a:solidFill>
            <a:schemeClr val="accent1"/>
          </a:solidFill>
          <a:latin typeface="Arial" charset="0"/>
        </a:defRPr>
      </a:lvl2pPr>
      <a:lvl3pPr algn="l" rtl="0" eaLnBrk="1" fontAlgn="base" hangingPunct="1">
        <a:spcBef>
          <a:spcPct val="0"/>
        </a:spcBef>
        <a:spcAft>
          <a:spcPct val="0"/>
        </a:spcAft>
        <a:defRPr sz="2800" b="1">
          <a:solidFill>
            <a:schemeClr val="accent1"/>
          </a:solidFill>
          <a:latin typeface="Arial" charset="0"/>
        </a:defRPr>
      </a:lvl3pPr>
      <a:lvl4pPr algn="l" rtl="0" eaLnBrk="1" fontAlgn="base" hangingPunct="1">
        <a:spcBef>
          <a:spcPct val="0"/>
        </a:spcBef>
        <a:spcAft>
          <a:spcPct val="0"/>
        </a:spcAft>
        <a:defRPr sz="2800" b="1">
          <a:solidFill>
            <a:schemeClr val="accent1"/>
          </a:solidFill>
          <a:latin typeface="Arial" charset="0"/>
        </a:defRPr>
      </a:lvl4pPr>
      <a:lvl5pPr algn="l" rtl="0" eaLnBrk="1" fontAlgn="base" hangingPunct="1">
        <a:spcBef>
          <a:spcPct val="0"/>
        </a:spcBef>
        <a:spcAft>
          <a:spcPct val="0"/>
        </a:spcAft>
        <a:defRPr sz="2800" b="1">
          <a:solidFill>
            <a:schemeClr val="accent1"/>
          </a:solidFill>
          <a:latin typeface="Arial" charset="0"/>
        </a:defRPr>
      </a:lvl5pPr>
      <a:lvl6pPr marL="457200" algn="l" rtl="0" eaLnBrk="1" fontAlgn="base" hangingPunct="1">
        <a:spcBef>
          <a:spcPct val="0"/>
        </a:spcBef>
        <a:spcAft>
          <a:spcPct val="0"/>
        </a:spcAft>
        <a:defRPr sz="2800" b="1">
          <a:solidFill>
            <a:schemeClr val="accent1"/>
          </a:solidFill>
          <a:latin typeface="Arial" charset="0"/>
        </a:defRPr>
      </a:lvl6pPr>
      <a:lvl7pPr marL="914400" algn="l" rtl="0" eaLnBrk="1" fontAlgn="base" hangingPunct="1">
        <a:spcBef>
          <a:spcPct val="0"/>
        </a:spcBef>
        <a:spcAft>
          <a:spcPct val="0"/>
        </a:spcAft>
        <a:defRPr sz="2800" b="1">
          <a:solidFill>
            <a:schemeClr val="accent1"/>
          </a:solidFill>
          <a:latin typeface="Arial" charset="0"/>
        </a:defRPr>
      </a:lvl7pPr>
      <a:lvl8pPr marL="1371600" algn="l" rtl="0" eaLnBrk="1" fontAlgn="base" hangingPunct="1">
        <a:spcBef>
          <a:spcPct val="0"/>
        </a:spcBef>
        <a:spcAft>
          <a:spcPct val="0"/>
        </a:spcAft>
        <a:defRPr sz="2800" b="1">
          <a:solidFill>
            <a:schemeClr val="accent1"/>
          </a:solidFill>
          <a:latin typeface="Arial" charset="0"/>
        </a:defRPr>
      </a:lvl8pPr>
      <a:lvl9pPr marL="1828800" algn="l" rtl="0" eaLnBrk="1" fontAlgn="base" hangingPunct="1">
        <a:spcBef>
          <a:spcPct val="0"/>
        </a:spcBef>
        <a:spcAft>
          <a:spcPct val="0"/>
        </a:spcAft>
        <a:defRPr sz="2800" b="1">
          <a:solidFill>
            <a:schemeClr val="accent1"/>
          </a:solidFill>
          <a:latin typeface="Arial" charset="0"/>
        </a:defRPr>
      </a:lvl9pPr>
    </p:titleStyle>
    <p:bodyStyle>
      <a:lvl1pPr marL="342900" indent="-342900" algn="l" rtl="0" eaLnBrk="1" fontAlgn="base" hangingPunct="1">
        <a:spcBef>
          <a:spcPct val="20000"/>
        </a:spcBef>
        <a:spcAft>
          <a:spcPct val="0"/>
        </a:spcAft>
        <a:buClr>
          <a:schemeClr val="accent1"/>
        </a:buClr>
        <a:buFont typeface="Arial" panose="020B0604020202020204" pitchFamily="34" charset="0"/>
        <a:buChar char="•"/>
        <a:defRPr sz="18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charset="2"/>
        <a:buChar char="à"/>
        <a:defRPr sz="1600">
          <a:solidFill>
            <a:schemeClr val="tx1"/>
          </a:solidFill>
          <a:latin typeface="+mn-lt"/>
        </a:defRPr>
      </a:lvl2pPr>
      <a:lvl3pPr marL="1143000" indent="-228600" algn="l" rtl="0" eaLnBrk="1" fontAlgn="base" hangingPunct="1">
        <a:spcBef>
          <a:spcPct val="20000"/>
        </a:spcBef>
        <a:spcAft>
          <a:spcPct val="0"/>
        </a:spcAft>
        <a:buClr>
          <a:schemeClr val="accent1"/>
        </a:buClr>
        <a:buFont typeface="Arial" panose="020B0604020202020204" pitchFamily="34" charset="0"/>
        <a:buChar char="•"/>
        <a:defRPr sz="1400">
          <a:solidFill>
            <a:schemeClr val="tx1"/>
          </a:solidFill>
          <a:latin typeface="+mn-lt"/>
        </a:defRPr>
      </a:lvl3pPr>
      <a:lvl4pPr marL="1600200" indent="-228600" algn="l" rtl="0" eaLnBrk="1" fontAlgn="base" hangingPunct="1">
        <a:spcBef>
          <a:spcPct val="20000"/>
        </a:spcBef>
        <a:spcAft>
          <a:spcPct val="0"/>
        </a:spcAft>
        <a:buClr>
          <a:schemeClr val="accent1"/>
        </a:buClr>
        <a:buFont typeface="Wingdings" charset="2"/>
        <a:buChar char="à"/>
        <a:defRPr sz="1200">
          <a:solidFill>
            <a:schemeClr val="tx1"/>
          </a:solidFill>
          <a:latin typeface="+mn-lt"/>
        </a:defRPr>
      </a:lvl4pPr>
      <a:lvl5pPr marL="2057400" indent="-228600" algn="l" rtl="0" eaLnBrk="1" fontAlgn="base" hangingPunct="1">
        <a:spcBef>
          <a:spcPct val="20000"/>
        </a:spcBef>
        <a:spcAft>
          <a:spcPct val="0"/>
        </a:spcAft>
        <a:buClr>
          <a:schemeClr val="accent1"/>
        </a:buClr>
        <a:buFont typeface="Wingdings" charset="2"/>
        <a:defRPr sz="1800">
          <a:solidFill>
            <a:schemeClr val="tx1"/>
          </a:solidFill>
          <a:latin typeface="+mn-lt"/>
        </a:defRPr>
      </a:lvl5pPr>
      <a:lvl6pPr marL="2514600" indent="-228600" algn="l" rtl="0" eaLnBrk="1" fontAlgn="base" hangingPunct="1">
        <a:spcBef>
          <a:spcPct val="20000"/>
        </a:spcBef>
        <a:spcAft>
          <a:spcPct val="0"/>
        </a:spcAft>
        <a:buClr>
          <a:schemeClr val="accent1"/>
        </a:buClr>
        <a:buFont typeface="Wingdings" charset="2"/>
        <a:defRPr sz="2000">
          <a:solidFill>
            <a:schemeClr val="tx1"/>
          </a:solidFill>
          <a:latin typeface="+mn-lt"/>
        </a:defRPr>
      </a:lvl6pPr>
      <a:lvl7pPr marL="2971800" indent="-228600" algn="l" rtl="0" eaLnBrk="1" fontAlgn="base" hangingPunct="1">
        <a:spcBef>
          <a:spcPct val="20000"/>
        </a:spcBef>
        <a:spcAft>
          <a:spcPct val="0"/>
        </a:spcAft>
        <a:buClr>
          <a:schemeClr val="accent1"/>
        </a:buClr>
        <a:buFont typeface="Wingdings" charset="2"/>
        <a:defRPr sz="2000">
          <a:solidFill>
            <a:schemeClr val="tx1"/>
          </a:solidFill>
          <a:latin typeface="+mn-lt"/>
        </a:defRPr>
      </a:lvl7pPr>
      <a:lvl8pPr marL="3429000" indent="-228600" algn="l" rtl="0" eaLnBrk="1" fontAlgn="base" hangingPunct="1">
        <a:spcBef>
          <a:spcPct val="20000"/>
        </a:spcBef>
        <a:spcAft>
          <a:spcPct val="0"/>
        </a:spcAft>
        <a:buClr>
          <a:schemeClr val="accent1"/>
        </a:buClr>
        <a:buFont typeface="Wingdings" charset="2"/>
        <a:defRPr sz="2000">
          <a:solidFill>
            <a:schemeClr val="tx1"/>
          </a:solidFill>
          <a:latin typeface="+mn-lt"/>
        </a:defRPr>
      </a:lvl8pPr>
      <a:lvl9pPr marL="3886200" indent="-228600" algn="l" rtl="0" eaLnBrk="1" fontAlgn="base" hangingPunct="1">
        <a:spcBef>
          <a:spcPct val="20000"/>
        </a:spcBef>
        <a:spcAft>
          <a:spcPct val="0"/>
        </a:spcAft>
        <a:buClr>
          <a:schemeClr val="accent1"/>
        </a:buClr>
        <a:buFont typeface="Wingdings" charset="2"/>
        <a:defRPr sz="2000">
          <a:solidFill>
            <a:schemeClr val="tx1"/>
          </a:solidFill>
          <a:latin typeface="+mn-lt"/>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2.png"/><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250195B-8A87-0659-1403-6E7233781A4D}"/>
              </a:ext>
            </a:extLst>
          </p:cNvPr>
          <p:cNvSpPr>
            <a:spLocks noGrp="1"/>
          </p:cNvSpPr>
          <p:nvPr>
            <p:ph type="ctrTitle"/>
          </p:nvPr>
        </p:nvSpPr>
        <p:spPr/>
        <p:txBody>
          <a:bodyPr/>
          <a:lstStyle/>
          <a:p>
            <a:pPr algn="ctr"/>
            <a:r>
              <a:rPr lang="en-SE" b="1"/>
              <a:t>Bioinformatics </a:t>
            </a:r>
            <a:r>
              <a:rPr lang="en-SE" b="1" dirty="0"/>
              <a:t>Workshop</a:t>
            </a:r>
            <a:endParaRPr lang="en-GB" dirty="0"/>
          </a:p>
        </p:txBody>
      </p:sp>
      <p:sp>
        <p:nvSpPr>
          <p:cNvPr id="3" name="Underrubrik 2">
            <a:extLst>
              <a:ext uri="{FF2B5EF4-FFF2-40B4-BE49-F238E27FC236}">
                <a16:creationId xmlns:a16="http://schemas.microsoft.com/office/drawing/2014/main" id="{1B4D2C54-6FB1-D0FC-01BE-847D5965E867}"/>
              </a:ext>
            </a:extLst>
          </p:cNvPr>
          <p:cNvSpPr>
            <a:spLocks noGrp="1"/>
          </p:cNvSpPr>
          <p:nvPr>
            <p:ph type="subTitle" idx="1"/>
          </p:nvPr>
        </p:nvSpPr>
        <p:spPr>
          <a:xfrm>
            <a:off x="685800" y="2745742"/>
            <a:ext cx="7772400" cy="857250"/>
          </a:xfrm>
        </p:spPr>
        <p:txBody>
          <a:bodyPr/>
          <a:lstStyle/>
          <a:p>
            <a:pPr algn="ctr"/>
            <a:r>
              <a:rPr lang="en-GB" dirty="0"/>
              <a:t>Elyas Mohammadi</a:t>
            </a:r>
          </a:p>
          <a:p>
            <a:pPr algn="ctr"/>
            <a:endParaRPr lang="en-GB" dirty="0"/>
          </a:p>
          <a:p>
            <a:pPr algn="ctr"/>
            <a:r>
              <a:rPr lang="en-GB" sz="1400"/>
              <a:t>October </a:t>
            </a:r>
            <a:r>
              <a:rPr lang="en-GB" sz="1400" dirty="0"/>
              <a:t>2026</a:t>
            </a:r>
          </a:p>
        </p:txBody>
      </p:sp>
    </p:spTree>
    <p:extLst>
      <p:ext uri="{BB962C8B-B14F-4D97-AF65-F5344CB8AC3E}">
        <p14:creationId xmlns:p14="http://schemas.microsoft.com/office/powerpoint/2010/main" val="1099428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E17E8B46-2477-1E87-FE84-31BFAE9A08E8}"/>
              </a:ext>
            </a:extLst>
          </p:cNvPr>
          <p:cNvSpPr>
            <a:spLocks noGrp="1"/>
          </p:cNvSpPr>
          <p:nvPr>
            <p:ph type="title"/>
          </p:nvPr>
        </p:nvSpPr>
        <p:spPr/>
        <p:txBody>
          <a:bodyPr/>
          <a:lstStyle/>
          <a:p>
            <a:r>
              <a:rPr lang="sv-SE" dirty="0"/>
              <a:t>Agenda</a:t>
            </a:r>
          </a:p>
        </p:txBody>
      </p:sp>
      <p:sp>
        <p:nvSpPr>
          <p:cNvPr id="11" name="Platshållare för innehåll 10">
            <a:extLst>
              <a:ext uri="{FF2B5EF4-FFF2-40B4-BE49-F238E27FC236}">
                <a16:creationId xmlns:a16="http://schemas.microsoft.com/office/drawing/2014/main" id="{8EFAC580-1654-347F-AEF5-DA89E9D5DB21}"/>
              </a:ext>
            </a:extLst>
          </p:cNvPr>
          <p:cNvSpPr>
            <a:spLocks noGrp="1"/>
          </p:cNvSpPr>
          <p:nvPr>
            <p:ph idx="1"/>
          </p:nvPr>
        </p:nvSpPr>
        <p:spPr>
          <a:xfrm>
            <a:off x="255971" y="1131590"/>
            <a:ext cx="8631243" cy="3190191"/>
          </a:xfrm>
          <a:ln>
            <a:noFill/>
          </a:ln>
        </p:spPr>
        <p:txBody>
          <a:bodyPr/>
          <a:lstStyle/>
          <a:p>
            <a:r>
              <a:rPr lang="en-US" b="1" dirty="0"/>
              <a:t>Part 1 – Understanding Modern Transcriptomics Technologies</a:t>
            </a:r>
          </a:p>
          <a:p>
            <a:pPr lvl="1"/>
            <a:r>
              <a:rPr lang="en-US" dirty="0"/>
              <a:t>Bulk RNA-seq</a:t>
            </a:r>
            <a:endParaRPr lang="en-SE" dirty="0"/>
          </a:p>
          <a:p>
            <a:pPr lvl="1"/>
            <a:r>
              <a:rPr lang="en-US" dirty="0"/>
              <a:t>Single-cell RNA-seq</a:t>
            </a:r>
            <a:endParaRPr lang="en-SE" dirty="0"/>
          </a:p>
          <a:p>
            <a:pPr lvl="1"/>
            <a:r>
              <a:rPr lang="en-US" dirty="0"/>
              <a:t>Spatial Transcriptomics</a:t>
            </a:r>
            <a:endParaRPr lang="en-SE" dirty="0"/>
          </a:p>
          <a:p>
            <a:pPr lvl="1"/>
            <a:endParaRPr lang="en-SE" b="1" dirty="0"/>
          </a:p>
          <a:p>
            <a:r>
              <a:rPr lang="en-US" b="1" dirty="0"/>
              <a:t>Part 2 – Using Public Transcriptomics Data</a:t>
            </a:r>
          </a:p>
          <a:p>
            <a:pPr lvl="1"/>
            <a:r>
              <a:rPr lang="en-US" dirty="0"/>
              <a:t>Systematically searching repositories</a:t>
            </a:r>
            <a:r>
              <a:rPr lang="en-SE" dirty="0"/>
              <a:t> </a:t>
            </a:r>
          </a:p>
          <a:p>
            <a:pPr lvl="1"/>
            <a:r>
              <a:rPr lang="en-US" dirty="0"/>
              <a:t>Extracting data from a paper</a:t>
            </a:r>
          </a:p>
          <a:p>
            <a:pPr marL="457200" lvl="1" indent="0">
              <a:buNone/>
            </a:pPr>
            <a:endParaRPr lang="en-US" b="1" dirty="0"/>
          </a:p>
          <a:p>
            <a:r>
              <a:rPr lang="en-US" b="1" dirty="0"/>
              <a:t>Part 3 – How to Read and Understand Bioinformatics Code</a:t>
            </a:r>
            <a:endParaRPr lang="en-SE" b="1" dirty="0"/>
          </a:p>
          <a:p>
            <a:pPr marL="0" indent="0">
              <a:buNone/>
            </a:pPr>
            <a:endParaRPr lang="en-SE" b="1" dirty="0"/>
          </a:p>
          <a:p>
            <a:endParaRPr lang="sv-SE" dirty="0"/>
          </a:p>
        </p:txBody>
      </p:sp>
      <p:sp>
        <p:nvSpPr>
          <p:cNvPr id="4" name="Platshållare för sidfot 3">
            <a:extLst>
              <a:ext uri="{FF2B5EF4-FFF2-40B4-BE49-F238E27FC236}">
                <a16:creationId xmlns:a16="http://schemas.microsoft.com/office/drawing/2014/main" id="{24B992EE-9C4D-2544-2E35-47482DA560F2}"/>
              </a:ext>
            </a:extLst>
          </p:cNvPr>
          <p:cNvSpPr>
            <a:spLocks noGrp="1"/>
          </p:cNvSpPr>
          <p:nvPr>
            <p:ph type="ftr" sz="quarter" idx="3"/>
          </p:nvPr>
        </p:nvSpPr>
        <p:spPr/>
        <p:txBody>
          <a:bodyPr/>
          <a:lstStyle/>
          <a:p>
            <a:r>
              <a:rPr lang="sv-SE"/>
              <a:t>Karolinska Institutet - a medical university</a:t>
            </a:r>
            <a:endParaRPr lang="sv-SE" dirty="0"/>
          </a:p>
        </p:txBody>
      </p:sp>
      <p:sp>
        <p:nvSpPr>
          <p:cNvPr id="5" name="Platshållare för datum 4">
            <a:extLst>
              <a:ext uri="{FF2B5EF4-FFF2-40B4-BE49-F238E27FC236}">
                <a16:creationId xmlns:a16="http://schemas.microsoft.com/office/drawing/2014/main" id="{FA1D015E-5E9A-E428-9BB5-00223C8782F8}"/>
              </a:ext>
            </a:extLst>
          </p:cNvPr>
          <p:cNvSpPr>
            <a:spLocks noGrp="1"/>
          </p:cNvSpPr>
          <p:nvPr>
            <p:ph type="dt" sz="half" idx="10"/>
          </p:nvPr>
        </p:nvSpPr>
        <p:spPr/>
        <p:txBody>
          <a:bodyPr/>
          <a:lstStyle/>
          <a:p>
            <a:fld id="{0B99A5A2-19A1-4CFC-BFE3-8B9C2E2B5BE0}" type="datetime1">
              <a:rPr lang="en-GB" smtClean="0"/>
              <a:t>19/10/2026</a:t>
            </a:fld>
            <a:endParaRPr lang="sv-SE" dirty="0"/>
          </a:p>
        </p:txBody>
      </p:sp>
      <p:sp>
        <p:nvSpPr>
          <p:cNvPr id="6" name="Platshållare för bildnummer 5">
            <a:extLst>
              <a:ext uri="{FF2B5EF4-FFF2-40B4-BE49-F238E27FC236}">
                <a16:creationId xmlns:a16="http://schemas.microsoft.com/office/drawing/2014/main" id="{4E9EACF9-A1BB-0C68-F027-C2021F804C24}"/>
              </a:ext>
            </a:extLst>
          </p:cNvPr>
          <p:cNvSpPr>
            <a:spLocks noGrp="1"/>
          </p:cNvSpPr>
          <p:nvPr>
            <p:ph type="sldNum" sz="quarter" idx="12"/>
          </p:nvPr>
        </p:nvSpPr>
        <p:spPr/>
        <p:txBody>
          <a:bodyPr/>
          <a:lstStyle/>
          <a:p>
            <a:fld id="{15859C56-CB7E-413F-8971-4226A1EF6823}" type="slidenum">
              <a:rPr lang="sv-SE" smtClean="0"/>
              <a:pPr/>
              <a:t>2</a:t>
            </a:fld>
            <a:endParaRPr lang="sv-SE" dirty="0"/>
          </a:p>
        </p:txBody>
      </p:sp>
    </p:spTree>
    <p:extLst>
      <p:ext uri="{BB962C8B-B14F-4D97-AF65-F5344CB8AC3E}">
        <p14:creationId xmlns:p14="http://schemas.microsoft.com/office/powerpoint/2010/main" val="1146512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FF1AA02-2B74-45D1-6F62-8B671BFFF7E9}"/>
              </a:ext>
            </a:extLst>
          </p:cNvPr>
          <p:cNvSpPr>
            <a:spLocks noGrp="1"/>
          </p:cNvSpPr>
          <p:nvPr>
            <p:ph type="ftr" sz="quarter" idx="3"/>
          </p:nvPr>
        </p:nvSpPr>
        <p:spPr/>
        <p:txBody>
          <a:bodyPr/>
          <a:lstStyle/>
          <a:p>
            <a:r>
              <a:rPr lang="sv-SE"/>
              <a:t>Karolinska Institutet - a medical university</a:t>
            </a:r>
            <a:endParaRPr lang="sv-SE" dirty="0"/>
          </a:p>
        </p:txBody>
      </p:sp>
      <p:sp>
        <p:nvSpPr>
          <p:cNvPr id="3" name="Date Placeholder 2">
            <a:extLst>
              <a:ext uri="{FF2B5EF4-FFF2-40B4-BE49-F238E27FC236}">
                <a16:creationId xmlns:a16="http://schemas.microsoft.com/office/drawing/2014/main" id="{C5052880-DE4F-AEB7-61D1-C9C28DE4DD8F}"/>
              </a:ext>
            </a:extLst>
          </p:cNvPr>
          <p:cNvSpPr>
            <a:spLocks noGrp="1"/>
          </p:cNvSpPr>
          <p:nvPr>
            <p:ph type="dt" sz="half" idx="10"/>
          </p:nvPr>
        </p:nvSpPr>
        <p:spPr/>
        <p:txBody>
          <a:bodyPr/>
          <a:lstStyle/>
          <a:p>
            <a:fld id="{0B99A5A2-19A1-4CFC-BFE3-8B9C2E2B5BE0}" type="datetime1">
              <a:rPr lang="en-GB" smtClean="0"/>
              <a:t>19/10/2026</a:t>
            </a:fld>
            <a:endParaRPr lang="sv-SE" dirty="0"/>
          </a:p>
        </p:txBody>
      </p:sp>
      <p:sp>
        <p:nvSpPr>
          <p:cNvPr id="4" name="Slide Number Placeholder 3">
            <a:extLst>
              <a:ext uri="{FF2B5EF4-FFF2-40B4-BE49-F238E27FC236}">
                <a16:creationId xmlns:a16="http://schemas.microsoft.com/office/drawing/2014/main" id="{81B2708A-6AFC-F373-10B9-89209F0C1248}"/>
              </a:ext>
            </a:extLst>
          </p:cNvPr>
          <p:cNvSpPr>
            <a:spLocks noGrp="1"/>
          </p:cNvSpPr>
          <p:nvPr>
            <p:ph type="sldNum" sz="quarter" idx="12"/>
          </p:nvPr>
        </p:nvSpPr>
        <p:spPr/>
        <p:txBody>
          <a:bodyPr/>
          <a:lstStyle/>
          <a:p>
            <a:fld id="{15859C56-CB7E-413F-8971-4226A1EF6823}" type="slidenum">
              <a:rPr lang="sv-SE" smtClean="0"/>
              <a:pPr/>
              <a:t>3</a:t>
            </a:fld>
            <a:endParaRPr lang="sv-SE" dirty="0"/>
          </a:p>
        </p:txBody>
      </p:sp>
      <p:sp>
        <p:nvSpPr>
          <p:cNvPr id="5" name="Title 4">
            <a:extLst>
              <a:ext uri="{FF2B5EF4-FFF2-40B4-BE49-F238E27FC236}">
                <a16:creationId xmlns:a16="http://schemas.microsoft.com/office/drawing/2014/main" id="{AA659550-A006-FF75-BD58-573D9C4117DF}"/>
              </a:ext>
            </a:extLst>
          </p:cNvPr>
          <p:cNvSpPr>
            <a:spLocks noGrp="1"/>
          </p:cNvSpPr>
          <p:nvPr>
            <p:ph type="ctrTitle"/>
          </p:nvPr>
        </p:nvSpPr>
        <p:spPr>
          <a:xfrm>
            <a:off x="685800" y="312596"/>
            <a:ext cx="7772400" cy="857250"/>
          </a:xfrm>
        </p:spPr>
        <p:txBody>
          <a:bodyPr/>
          <a:lstStyle/>
          <a:p>
            <a:r>
              <a:rPr lang="en-US" dirty="0"/>
              <a:t>Note</a:t>
            </a:r>
          </a:p>
        </p:txBody>
      </p:sp>
      <p:sp>
        <p:nvSpPr>
          <p:cNvPr id="6" name="Subtitle 5">
            <a:extLst>
              <a:ext uri="{FF2B5EF4-FFF2-40B4-BE49-F238E27FC236}">
                <a16:creationId xmlns:a16="http://schemas.microsoft.com/office/drawing/2014/main" id="{9BA01DD8-A1DA-A396-0F95-0630CA4721F7}"/>
              </a:ext>
            </a:extLst>
          </p:cNvPr>
          <p:cNvSpPr>
            <a:spLocks noGrp="1"/>
          </p:cNvSpPr>
          <p:nvPr>
            <p:ph type="subTitle" idx="1"/>
          </p:nvPr>
        </p:nvSpPr>
        <p:spPr>
          <a:xfrm>
            <a:off x="656472" y="1251440"/>
            <a:ext cx="7772400" cy="744246"/>
          </a:xfrm>
        </p:spPr>
        <p:txBody>
          <a:bodyPr/>
          <a:lstStyle/>
          <a:p>
            <a:r>
              <a:rPr lang="en-US" dirty="0"/>
              <a:t>The content of this workshop is extracted from the following sources and some of the illustrations are generated by AI:</a:t>
            </a:r>
          </a:p>
          <a:p>
            <a:endParaRPr lang="en-US" dirty="0"/>
          </a:p>
        </p:txBody>
      </p:sp>
      <p:grpSp>
        <p:nvGrpSpPr>
          <p:cNvPr id="14" name="Group 13">
            <a:extLst>
              <a:ext uri="{FF2B5EF4-FFF2-40B4-BE49-F238E27FC236}">
                <a16:creationId xmlns:a16="http://schemas.microsoft.com/office/drawing/2014/main" id="{89FB986A-B538-2D08-5E12-BDF10AFEF6D0}"/>
              </a:ext>
            </a:extLst>
          </p:cNvPr>
          <p:cNvGrpSpPr/>
          <p:nvPr/>
        </p:nvGrpSpPr>
        <p:grpSpPr>
          <a:xfrm>
            <a:off x="677478" y="1890199"/>
            <a:ext cx="7622370" cy="2337735"/>
            <a:chOff x="531229" y="1890199"/>
            <a:chExt cx="7926971" cy="2414092"/>
          </a:xfrm>
        </p:grpSpPr>
        <p:pic>
          <p:nvPicPr>
            <p:cNvPr id="7" name="Picture 6" descr="File:10x Genomics logo.svg - Wikimedia Commons">
              <a:extLst>
                <a:ext uri="{FF2B5EF4-FFF2-40B4-BE49-F238E27FC236}">
                  <a16:creationId xmlns:a16="http://schemas.microsoft.com/office/drawing/2014/main" id="{AC6BC93E-D9C7-71FE-DE48-69D0A0FCF639}"/>
                </a:ext>
              </a:extLst>
            </p:cNvPr>
            <p:cNvPicPr>
              <a:picLocks noChangeAspect="1"/>
            </p:cNvPicPr>
            <p:nvPr/>
          </p:nvPicPr>
          <p:blipFill>
            <a:blip r:embed="rId2"/>
            <a:stretch>
              <a:fillRect/>
            </a:stretch>
          </p:blipFill>
          <p:spPr>
            <a:xfrm>
              <a:off x="531229" y="2186662"/>
              <a:ext cx="1458904" cy="936130"/>
            </a:xfrm>
            <a:prstGeom prst="rect">
              <a:avLst/>
            </a:prstGeom>
          </p:spPr>
        </p:pic>
        <p:pic>
          <p:nvPicPr>
            <p:cNvPr id="8" name="Picture 7" descr="NBIS - National Bioinformatics Infrastructure Sweden">
              <a:extLst>
                <a:ext uri="{FF2B5EF4-FFF2-40B4-BE49-F238E27FC236}">
                  <a16:creationId xmlns:a16="http://schemas.microsoft.com/office/drawing/2014/main" id="{246E67E6-F80B-DC16-032C-F22B6E49A919}"/>
                </a:ext>
              </a:extLst>
            </p:cNvPr>
            <p:cNvPicPr>
              <a:picLocks noChangeAspect="1"/>
            </p:cNvPicPr>
            <p:nvPr/>
          </p:nvPicPr>
          <p:blipFill>
            <a:blip r:embed="rId3"/>
            <a:stretch>
              <a:fillRect/>
            </a:stretch>
          </p:blipFill>
          <p:spPr>
            <a:xfrm>
              <a:off x="1179301" y="3424047"/>
              <a:ext cx="2232248" cy="818895"/>
            </a:xfrm>
            <a:prstGeom prst="rect">
              <a:avLst/>
            </a:prstGeom>
          </p:spPr>
        </p:pic>
        <p:pic>
          <p:nvPicPr>
            <p:cNvPr id="9" name="Picture 8" descr="Media Relations &amp; Resources | Bruker Spatial Biology">
              <a:extLst>
                <a:ext uri="{FF2B5EF4-FFF2-40B4-BE49-F238E27FC236}">
                  <a16:creationId xmlns:a16="http://schemas.microsoft.com/office/drawing/2014/main" id="{11EF13A5-F928-04CA-117D-2D70753AE697}"/>
                </a:ext>
              </a:extLst>
            </p:cNvPr>
            <p:cNvPicPr>
              <a:picLocks noChangeAspect="1"/>
            </p:cNvPicPr>
            <p:nvPr/>
          </p:nvPicPr>
          <p:blipFill>
            <a:blip r:embed="rId4"/>
            <a:stretch>
              <a:fillRect/>
            </a:stretch>
          </p:blipFill>
          <p:spPr>
            <a:xfrm>
              <a:off x="2110383" y="2235590"/>
              <a:ext cx="2109074" cy="891083"/>
            </a:xfrm>
            <a:prstGeom prst="rect">
              <a:avLst/>
            </a:prstGeom>
          </p:spPr>
        </p:pic>
        <p:pic>
          <p:nvPicPr>
            <p:cNvPr id="10" name="Picture 9" descr="FORM - Unlock Offer for Biopharma">
              <a:extLst>
                <a:ext uri="{FF2B5EF4-FFF2-40B4-BE49-F238E27FC236}">
                  <a16:creationId xmlns:a16="http://schemas.microsoft.com/office/drawing/2014/main" id="{00C736C5-D271-26AD-CC4A-45A9AA62F941}"/>
                </a:ext>
              </a:extLst>
            </p:cNvPr>
            <p:cNvPicPr>
              <a:picLocks noChangeAspect="1"/>
            </p:cNvPicPr>
            <p:nvPr/>
          </p:nvPicPr>
          <p:blipFill>
            <a:blip r:embed="rId5"/>
            <a:stretch>
              <a:fillRect/>
            </a:stretch>
          </p:blipFill>
          <p:spPr>
            <a:xfrm>
              <a:off x="4427984" y="2279395"/>
              <a:ext cx="2349500" cy="825500"/>
            </a:xfrm>
            <a:prstGeom prst="rect">
              <a:avLst/>
            </a:prstGeom>
          </p:spPr>
        </p:pic>
        <p:pic>
          <p:nvPicPr>
            <p:cNvPr id="11" name="Picture 10" descr="Tools for Single Cell Genomics • Seurat">
              <a:extLst>
                <a:ext uri="{FF2B5EF4-FFF2-40B4-BE49-F238E27FC236}">
                  <a16:creationId xmlns:a16="http://schemas.microsoft.com/office/drawing/2014/main" id="{541F34BA-EC37-448C-6FDB-F4C3D684A6AA}"/>
                </a:ext>
              </a:extLst>
            </p:cNvPr>
            <p:cNvPicPr>
              <a:picLocks noChangeAspect="1"/>
            </p:cNvPicPr>
            <p:nvPr/>
          </p:nvPicPr>
          <p:blipFill>
            <a:blip r:embed="rId6"/>
            <a:stretch>
              <a:fillRect/>
            </a:stretch>
          </p:blipFill>
          <p:spPr>
            <a:xfrm>
              <a:off x="3563888" y="3362696"/>
              <a:ext cx="4279977" cy="941595"/>
            </a:xfrm>
            <a:prstGeom prst="rect">
              <a:avLst/>
            </a:prstGeom>
          </p:spPr>
        </p:pic>
        <p:pic>
          <p:nvPicPr>
            <p:cNvPr id="13" name="Picture 12" descr="The R program | Bioassay">
              <a:extLst>
                <a:ext uri="{FF2B5EF4-FFF2-40B4-BE49-F238E27FC236}">
                  <a16:creationId xmlns:a16="http://schemas.microsoft.com/office/drawing/2014/main" id="{A526A249-7E43-1A8C-F2A7-4FFED2EA79BA}"/>
                </a:ext>
              </a:extLst>
            </p:cNvPr>
            <p:cNvPicPr>
              <a:picLocks noChangeAspect="1"/>
            </p:cNvPicPr>
            <p:nvPr/>
          </p:nvPicPr>
          <p:blipFill>
            <a:blip r:embed="rId7"/>
            <a:stretch>
              <a:fillRect/>
            </a:stretch>
          </p:blipFill>
          <p:spPr>
            <a:xfrm>
              <a:off x="7033617" y="1890199"/>
              <a:ext cx="1424583" cy="1424583"/>
            </a:xfrm>
            <a:prstGeom prst="rect">
              <a:avLst/>
            </a:prstGeom>
          </p:spPr>
        </p:pic>
      </p:grpSp>
    </p:spTree>
    <p:extLst>
      <p:ext uri="{BB962C8B-B14F-4D97-AF65-F5344CB8AC3E}">
        <p14:creationId xmlns:p14="http://schemas.microsoft.com/office/powerpoint/2010/main" val="3551034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F66B2-D8B6-83BC-A56C-8E10553DD07F}"/>
              </a:ext>
            </a:extLst>
          </p:cNvPr>
          <p:cNvSpPr>
            <a:spLocks noGrp="1"/>
          </p:cNvSpPr>
          <p:nvPr>
            <p:ph type="title"/>
          </p:nvPr>
        </p:nvSpPr>
        <p:spPr>
          <a:xfrm>
            <a:off x="353602" y="1851670"/>
            <a:ext cx="8632045" cy="1008112"/>
          </a:xfrm>
        </p:spPr>
        <p:txBody>
          <a:bodyPr/>
          <a:lstStyle/>
          <a:p>
            <a:pPr algn="ctr"/>
            <a:r>
              <a:rPr lang="en-US" b="1" dirty="0"/>
              <a:t>Part 1 – Understanding Modern Transcriptomics Technologies</a:t>
            </a:r>
            <a:br>
              <a:rPr lang="en-US" dirty="0"/>
            </a:br>
            <a:endParaRPr lang="en-US" dirty="0"/>
          </a:p>
        </p:txBody>
      </p:sp>
      <p:sp>
        <p:nvSpPr>
          <p:cNvPr id="4" name="Footer Placeholder 3">
            <a:extLst>
              <a:ext uri="{FF2B5EF4-FFF2-40B4-BE49-F238E27FC236}">
                <a16:creationId xmlns:a16="http://schemas.microsoft.com/office/drawing/2014/main" id="{707D2545-4F5A-A06E-1294-B72B8B175920}"/>
              </a:ext>
            </a:extLst>
          </p:cNvPr>
          <p:cNvSpPr>
            <a:spLocks noGrp="1"/>
          </p:cNvSpPr>
          <p:nvPr>
            <p:ph type="ftr" sz="quarter" idx="3"/>
          </p:nvPr>
        </p:nvSpPr>
        <p:spPr/>
        <p:txBody>
          <a:bodyPr/>
          <a:lstStyle/>
          <a:p>
            <a:r>
              <a:rPr lang="sv-SE"/>
              <a:t>Karolinska Institutet - a medical university</a:t>
            </a:r>
            <a:endParaRPr lang="sv-SE" dirty="0"/>
          </a:p>
        </p:txBody>
      </p:sp>
      <p:sp>
        <p:nvSpPr>
          <p:cNvPr id="5" name="Date Placeholder 4">
            <a:extLst>
              <a:ext uri="{FF2B5EF4-FFF2-40B4-BE49-F238E27FC236}">
                <a16:creationId xmlns:a16="http://schemas.microsoft.com/office/drawing/2014/main" id="{8F9582C8-72EF-01CD-F8EB-D0604E46E0F9}"/>
              </a:ext>
            </a:extLst>
          </p:cNvPr>
          <p:cNvSpPr>
            <a:spLocks noGrp="1"/>
          </p:cNvSpPr>
          <p:nvPr>
            <p:ph type="dt" sz="half" idx="10"/>
          </p:nvPr>
        </p:nvSpPr>
        <p:spPr/>
        <p:txBody>
          <a:bodyPr/>
          <a:lstStyle/>
          <a:p>
            <a:fld id="{0B99A5A2-19A1-4CFC-BFE3-8B9C2E2B5BE0}" type="datetime1">
              <a:rPr lang="en-GB" smtClean="0"/>
              <a:t>19/10/2026</a:t>
            </a:fld>
            <a:endParaRPr lang="sv-SE" dirty="0"/>
          </a:p>
        </p:txBody>
      </p:sp>
      <p:sp>
        <p:nvSpPr>
          <p:cNvPr id="6" name="Slide Number Placeholder 5">
            <a:extLst>
              <a:ext uri="{FF2B5EF4-FFF2-40B4-BE49-F238E27FC236}">
                <a16:creationId xmlns:a16="http://schemas.microsoft.com/office/drawing/2014/main" id="{FCAC0684-2BA7-6D74-2339-8818588BCB7B}"/>
              </a:ext>
            </a:extLst>
          </p:cNvPr>
          <p:cNvSpPr>
            <a:spLocks noGrp="1"/>
          </p:cNvSpPr>
          <p:nvPr>
            <p:ph type="sldNum" sz="quarter" idx="12"/>
          </p:nvPr>
        </p:nvSpPr>
        <p:spPr/>
        <p:txBody>
          <a:bodyPr/>
          <a:lstStyle/>
          <a:p>
            <a:fld id="{15859C56-CB7E-413F-8971-4226A1EF6823}" type="slidenum">
              <a:rPr lang="sv-SE" smtClean="0"/>
              <a:pPr/>
              <a:t>4</a:t>
            </a:fld>
            <a:endParaRPr lang="sv-SE" dirty="0"/>
          </a:p>
        </p:txBody>
      </p:sp>
    </p:spTree>
    <p:extLst>
      <p:ext uri="{BB962C8B-B14F-4D97-AF65-F5344CB8AC3E}">
        <p14:creationId xmlns:p14="http://schemas.microsoft.com/office/powerpoint/2010/main" val="2413952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492F0-2DBA-E2A7-8EFE-E87A97121908}"/>
              </a:ext>
            </a:extLst>
          </p:cNvPr>
          <p:cNvSpPr>
            <a:spLocks noGrp="1"/>
          </p:cNvSpPr>
          <p:nvPr>
            <p:ph type="title"/>
          </p:nvPr>
        </p:nvSpPr>
        <p:spPr/>
        <p:txBody>
          <a:bodyPr/>
          <a:lstStyle/>
          <a:p>
            <a:r>
              <a:rPr lang="en-US" b="1" dirty="0"/>
              <a:t>Learning objectives</a:t>
            </a:r>
            <a:br>
              <a:rPr lang="en-SE" b="1" dirty="0"/>
            </a:br>
            <a:endParaRPr lang="en-US" dirty="0"/>
          </a:p>
        </p:txBody>
      </p:sp>
      <p:sp>
        <p:nvSpPr>
          <p:cNvPr id="3" name="Content Placeholder 2">
            <a:extLst>
              <a:ext uri="{FF2B5EF4-FFF2-40B4-BE49-F238E27FC236}">
                <a16:creationId xmlns:a16="http://schemas.microsoft.com/office/drawing/2014/main" id="{9AD84BCC-7911-D58B-11FE-666CAADDA65E}"/>
              </a:ext>
            </a:extLst>
          </p:cNvPr>
          <p:cNvSpPr>
            <a:spLocks noGrp="1"/>
          </p:cNvSpPr>
          <p:nvPr>
            <p:ph idx="1"/>
          </p:nvPr>
        </p:nvSpPr>
        <p:spPr>
          <a:xfrm>
            <a:off x="256775" y="1402829"/>
            <a:ext cx="8631242" cy="3257153"/>
          </a:xfrm>
        </p:spPr>
        <p:txBody>
          <a:bodyPr/>
          <a:lstStyle/>
          <a:p>
            <a:pPr>
              <a:buFont typeface="Wingdings" pitchFamily="2" charset="2"/>
              <a:buChar char="v"/>
            </a:pPr>
            <a:r>
              <a:rPr lang="en-US" sz="2500" dirty="0"/>
              <a:t>By the end of this section participants should be able to answer:</a:t>
            </a:r>
          </a:p>
          <a:p>
            <a:pPr lvl="1">
              <a:buFont typeface="Wingdings" pitchFamily="2" charset="2"/>
              <a:buChar char="ü"/>
            </a:pPr>
            <a:r>
              <a:rPr lang="en-US" sz="2000" dirty="0"/>
              <a:t>What do these technologies measure?</a:t>
            </a:r>
          </a:p>
          <a:p>
            <a:pPr lvl="1">
              <a:buFont typeface="Wingdings" pitchFamily="2" charset="2"/>
              <a:buChar char="ü"/>
            </a:pPr>
            <a:r>
              <a:rPr lang="en-US" sz="2000" dirty="0"/>
              <a:t>What information do they provide?</a:t>
            </a:r>
          </a:p>
          <a:p>
            <a:pPr lvl="1">
              <a:buFont typeface="Wingdings" pitchFamily="2" charset="2"/>
              <a:buChar char="ü"/>
            </a:pPr>
            <a:r>
              <a:rPr lang="en-US" sz="2000" dirty="0"/>
              <a:t>What information do they miss?</a:t>
            </a:r>
          </a:p>
          <a:p>
            <a:pPr lvl="1">
              <a:buFont typeface="Wingdings" pitchFamily="2" charset="2"/>
              <a:buChar char="ü"/>
            </a:pPr>
            <a:r>
              <a:rPr lang="en-US" sz="2000" dirty="0"/>
              <a:t>Which biological questions can they answer?</a:t>
            </a:r>
          </a:p>
          <a:p>
            <a:pPr lvl="1">
              <a:buFont typeface="Wingdings" pitchFamily="2" charset="2"/>
              <a:buChar char="ü"/>
            </a:pPr>
            <a:r>
              <a:rPr lang="en-US" sz="2000" dirty="0"/>
              <a:t>Which biological questions cannot they answer?</a:t>
            </a:r>
          </a:p>
          <a:p>
            <a:pPr lvl="1">
              <a:buFont typeface="Wingdings" pitchFamily="2" charset="2"/>
              <a:buChar char="ü"/>
            </a:pPr>
            <a:r>
              <a:rPr lang="en-US" sz="2000" dirty="0"/>
              <a:t>When should I choose one over another?</a:t>
            </a:r>
            <a:endParaRPr lang="en-SE" sz="2000" dirty="0"/>
          </a:p>
        </p:txBody>
      </p:sp>
      <p:sp>
        <p:nvSpPr>
          <p:cNvPr id="4" name="Footer Placeholder 3">
            <a:extLst>
              <a:ext uri="{FF2B5EF4-FFF2-40B4-BE49-F238E27FC236}">
                <a16:creationId xmlns:a16="http://schemas.microsoft.com/office/drawing/2014/main" id="{6FCE4091-0BC8-1CB9-AD0E-0A7E05680B81}"/>
              </a:ext>
            </a:extLst>
          </p:cNvPr>
          <p:cNvSpPr>
            <a:spLocks noGrp="1"/>
          </p:cNvSpPr>
          <p:nvPr>
            <p:ph type="ftr" sz="quarter" idx="3"/>
          </p:nvPr>
        </p:nvSpPr>
        <p:spPr/>
        <p:txBody>
          <a:bodyPr/>
          <a:lstStyle/>
          <a:p>
            <a:r>
              <a:rPr lang="sv-SE"/>
              <a:t>Karolinska Institutet - a medical university</a:t>
            </a:r>
            <a:endParaRPr lang="sv-SE" dirty="0"/>
          </a:p>
        </p:txBody>
      </p:sp>
      <p:sp>
        <p:nvSpPr>
          <p:cNvPr id="5" name="Date Placeholder 4">
            <a:extLst>
              <a:ext uri="{FF2B5EF4-FFF2-40B4-BE49-F238E27FC236}">
                <a16:creationId xmlns:a16="http://schemas.microsoft.com/office/drawing/2014/main" id="{1BE8AA31-20C9-31BA-B489-CCACFFCD0A91}"/>
              </a:ext>
            </a:extLst>
          </p:cNvPr>
          <p:cNvSpPr>
            <a:spLocks noGrp="1"/>
          </p:cNvSpPr>
          <p:nvPr>
            <p:ph type="dt" sz="half" idx="10"/>
          </p:nvPr>
        </p:nvSpPr>
        <p:spPr/>
        <p:txBody>
          <a:bodyPr/>
          <a:lstStyle/>
          <a:p>
            <a:fld id="{0B99A5A2-19A1-4CFC-BFE3-8B9C2E2B5BE0}" type="datetime1">
              <a:rPr lang="en-GB" smtClean="0"/>
              <a:t>19/10/2026</a:t>
            </a:fld>
            <a:endParaRPr lang="sv-SE" dirty="0"/>
          </a:p>
        </p:txBody>
      </p:sp>
      <p:sp>
        <p:nvSpPr>
          <p:cNvPr id="6" name="Slide Number Placeholder 5">
            <a:extLst>
              <a:ext uri="{FF2B5EF4-FFF2-40B4-BE49-F238E27FC236}">
                <a16:creationId xmlns:a16="http://schemas.microsoft.com/office/drawing/2014/main" id="{26248063-D5E9-D0D2-1BDB-43CA3F207B6E}"/>
              </a:ext>
            </a:extLst>
          </p:cNvPr>
          <p:cNvSpPr>
            <a:spLocks noGrp="1"/>
          </p:cNvSpPr>
          <p:nvPr>
            <p:ph type="sldNum" sz="quarter" idx="12"/>
          </p:nvPr>
        </p:nvSpPr>
        <p:spPr/>
        <p:txBody>
          <a:bodyPr/>
          <a:lstStyle/>
          <a:p>
            <a:fld id="{15859C56-CB7E-413F-8971-4226A1EF6823}" type="slidenum">
              <a:rPr lang="sv-SE" smtClean="0"/>
              <a:pPr/>
              <a:t>5</a:t>
            </a:fld>
            <a:endParaRPr lang="sv-SE" dirty="0"/>
          </a:p>
        </p:txBody>
      </p:sp>
    </p:spTree>
    <p:extLst>
      <p:ext uri="{BB962C8B-B14F-4D97-AF65-F5344CB8AC3E}">
        <p14:creationId xmlns:p14="http://schemas.microsoft.com/office/powerpoint/2010/main" val="1498254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EC3C584-7AF2-AE62-D26A-49517C24067E}"/>
              </a:ext>
            </a:extLst>
          </p:cNvPr>
          <p:cNvSpPr>
            <a:spLocks noGrp="1"/>
          </p:cNvSpPr>
          <p:nvPr>
            <p:ph type="ftr" sz="quarter" idx="3"/>
          </p:nvPr>
        </p:nvSpPr>
        <p:spPr/>
        <p:txBody>
          <a:bodyPr/>
          <a:lstStyle/>
          <a:p>
            <a:r>
              <a:rPr lang="sv-SE"/>
              <a:t>Karolinska Institutet - a medical university</a:t>
            </a:r>
            <a:endParaRPr lang="sv-SE" dirty="0"/>
          </a:p>
        </p:txBody>
      </p:sp>
      <p:sp>
        <p:nvSpPr>
          <p:cNvPr id="5" name="Date Placeholder 4">
            <a:extLst>
              <a:ext uri="{FF2B5EF4-FFF2-40B4-BE49-F238E27FC236}">
                <a16:creationId xmlns:a16="http://schemas.microsoft.com/office/drawing/2014/main" id="{B5C7429C-0CB4-4AD1-689C-D1FA5A6C2CE8}"/>
              </a:ext>
            </a:extLst>
          </p:cNvPr>
          <p:cNvSpPr>
            <a:spLocks noGrp="1"/>
          </p:cNvSpPr>
          <p:nvPr>
            <p:ph type="dt" sz="half" idx="10"/>
          </p:nvPr>
        </p:nvSpPr>
        <p:spPr/>
        <p:txBody>
          <a:bodyPr/>
          <a:lstStyle/>
          <a:p>
            <a:fld id="{0B99A5A2-19A1-4CFC-BFE3-8B9C2E2B5BE0}" type="datetime1">
              <a:rPr lang="en-GB" smtClean="0"/>
              <a:t>19/10/2026</a:t>
            </a:fld>
            <a:endParaRPr lang="sv-SE" dirty="0"/>
          </a:p>
        </p:txBody>
      </p:sp>
      <p:sp>
        <p:nvSpPr>
          <p:cNvPr id="6" name="Slide Number Placeholder 5">
            <a:extLst>
              <a:ext uri="{FF2B5EF4-FFF2-40B4-BE49-F238E27FC236}">
                <a16:creationId xmlns:a16="http://schemas.microsoft.com/office/drawing/2014/main" id="{59D84B19-1932-6D5D-4D18-D62412F4BB4D}"/>
              </a:ext>
            </a:extLst>
          </p:cNvPr>
          <p:cNvSpPr>
            <a:spLocks noGrp="1"/>
          </p:cNvSpPr>
          <p:nvPr>
            <p:ph type="sldNum" sz="quarter" idx="12"/>
          </p:nvPr>
        </p:nvSpPr>
        <p:spPr/>
        <p:txBody>
          <a:bodyPr/>
          <a:lstStyle/>
          <a:p>
            <a:fld id="{15859C56-CB7E-413F-8971-4226A1EF6823}" type="slidenum">
              <a:rPr lang="sv-SE" smtClean="0"/>
              <a:pPr/>
              <a:t>6</a:t>
            </a:fld>
            <a:endParaRPr lang="sv-SE" dirty="0"/>
          </a:p>
        </p:txBody>
      </p:sp>
      <p:pic>
        <p:nvPicPr>
          <p:cNvPr id="3" name="Picture 2">
            <a:extLst>
              <a:ext uri="{FF2B5EF4-FFF2-40B4-BE49-F238E27FC236}">
                <a16:creationId xmlns:a16="http://schemas.microsoft.com/office/drawing/2014/main" id="{A581C871-E0B6-5729-87FD-E93B8216FD34}"/>
              </a:ext>
            </a:extLst>
          </p:cNvPr>
          <p:cNvPicPr>
            <a:picLocks noChangeAspect="1"/>
          </p:cNvPicPr>
          <p:nvPr/>
        </p:nvPicPr>
        <p:blipFill>
          <a:blip r:embed="rId3"/>
          <a:stretch>
            <a:fillRect/>
          </a:stretch>
        </p:blipFill>
        <p:spPr>
          <a:xfrm>
            <a:off x="1131019" y="51470"/>
            <a:ext cx="6881962" cy="4587974"/>
          </a:xfrm>
          <a:prstGeom prst="rect">
            <a:avLst/>
          </a:prstGeom>
        </p:spPr>
      </p:pic>
      <p:sp>
        <p:nvSpPr>
          <p:cNvPr id="2" name="Rectangle 1">
            <a:extLst>
              <a:ext uri="{FF2B5EF4-FFF2-40B4-BE49-F238E27FC236}">
                <a16:creationId xmlns:a16="http://schemas.microsoft.com/office/drawing/2014/main" id="{8E455F6E-4289-2B0B-8B68-DD8BDEC7C661}"/>
              </a:ext>
            </a:extLst>
          </p:cNvPr>
          <p:cNvSpPr/>
          <p:nvPr/>
        </p:nvSpPr>
        <p:spPr bwMode="auto">
          <a:xfrm>
            <a:off x="827583" y="2211710"/>
            <a:ext cx="7472263" cy="2427734"/>
          </a:xfrm>
          <a:prstGeom prst="rect">
            <a:avLst/>
          </a:prstGeom>
          <a:solidFill>
            <a:schemeClr val="bg1"/>
          </a:solidFill>
          <a:ln w="63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err="1">
              <a:ln>
                <a:noFill/>
              </a:ln>
              <a:solidFill>
                <a:schemeClr val="bg1"/>
              </a:solidFill>
              <a:effectLst/>
              <a:latin typeface="+mn-lt"/>
            </a:endParaRPr>
          </a:p>
        </p:txBody>
      </p:sp>
    </p:spTree>
    <p:extLst>
      <p:ext uri="{BB962C8B-B14F-4D97-AF65-F5344CB8AC3E}">
        <p14:creationId xmlns:p14="http://schemas.microsoft.com/office/powerpoint/2010/main" val="3108580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6FE71FA-EB56-5824-C864-4BD247A045FD}"/>
              </a:ext>
            </a:extLst>
          </p:cNvPr>
          <p:cNvSpPr>
            <a:spLocks noGrp="1"/>
          </p:cNvSpPr>
          <p:nvPr>
            <p:ph type="ftr" sz="quarter" idx="3"/>
          </p:nvPr>
        </p:nvSpPr>
        <p:spPr/>
        <p:txBody>
          <a:bodyPr/>
          <a:lstStyle/>
          <a:p>
            <a:r>
              <a:rPr lang="sv-SE"/>
              <a:t>Karolinska Institutet - a medical university</a:t>
            </a:r>
            <a:endParaRPr lang="sv-SE" dirty="0"/>
          </a:p>
        </p:txBody>
      </p:sp>
      <p:sp>
        <p:nvSpPr>
          <p:cNvPr id="5" name="Date Placeholder 4">
            <a:extLst>
              <a:ext uri="{FF2B5EF4-FFF2-40B4-BE49-F238E27FC236}">
                <a16:creationId xmlns:a16="http://schemas.microsoft.com/office/drawing/2014/main" id="{6FF52AB5-7006-9B08-ED88-B8E6520D3513}"/>
              </a:ext>
            </a:extLst>
          </p:cNvPr>
          <p:cNvSpPr>
            <a:spLocks noGrp="1"/>
          </p:cNvSpPr>
          <p:nvPr>
            <p:ph type="dt" sz="half" idx="10"/>
          </p:nvPr>
        </p:nvSpPr>
        <p:spPr/>
        <p:txBody>
          <a:bodyPr/>
          <a:lstStyle/>
          <a:p>
            <a:fld id="{0B99A5A2-19A1-4CFC-BFE3-8B9C2E2B5BE0}" type="datetime1">
              <a:rPr lang="en-GB" smtClean="0"/>
              <a:t>19/10/2026</a:t>
            </a:fld>
            <a:endParaRPr lang="sv-SE" dirty="0"/>
          </a:p>
        </p:txBody>
      </p:sp>
      <p:sp>
        <p:nvSpPr>
          <p:cNvPr id="6" name="Slide Number Placeholder 5">
            <a:extLst>
              <a:ext uri="{FF2B5EF4-FFF2-40B4-BE49-F238E27FC236}">
                <a16:creationId xmlns:a16="http://schemas.microsoft.com/office/drawing/2014/main" id="{9D3E57F8-CBDC-3BB8-AFB0-A9ABC3F2E844}"/>
              </a:ext>
            </a:extLst>
          </p:cNvPr>
          <p:cNvSpPr>
            <a:spLocks noGrp="1"/>
          </p:cNvSpPr>
          <p:nvPr>
            <p:ph type="sldNum" sz="quarter" idx="12"/>
          </p:nvPr>
        </p:nvSpPr>
        <p:spPr/>
        <p:txBody>
          <a:bodyPr/>
          <a:lstStyle/>
          <a:p>
            <a:fld id="{15859C56-CB7E-413F-8971-4226A1EF6823}" type="slidenum">
              <a:rPr lang="sv-SE" smtClean="0"/>
              <a:pPr/>
              <a:t>7</a:t>
            </a:fld>
            <a:endParaRPr lang="sv-SE" dirty="0"/>
          </a:p>
        </p:txBody>
      </p:sp>
      <p:graphicFrame>
        <p:nvGraphicFramePr>
          <p:cNvPr id="7" name="Diagram 6">
            <a:extLst>
              <a:ext uri="{FF2B5EF4-FFF2-40B4-BE49-F238E27FC236}">
                <a16:creationId xmlns:a16="http://schemas.microsoft.com/office/drawing/2014/main" id="{4063D8AD-C7E7-6A5E-CBD1-7D32FE0CCFB3}"/>
              </a:ext>
            </a:extLst>
          </p:cNvPr>
          <p:cNvGraphicFramePr/>
          <p:nvPr>
            <p:extLst>
              <p:ext uri="{D42A27DB-BD31-4B8C-83A1-F6EECF244321}">
                <p14:modId xmlns:p14="http://schemas.microsoft.com/office/powerpoint/2010/main" val="2563190026"/>
              </p:ext>
            </p:extLst>
          </p:nvPr>
        </p:nvGraphicFramePr>
        <p:xfrm>
          <a:off x="2915816" y="337941"/>
          <a:ext cx="5213376" cy="44332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7" descr="Image credit: @BoXia7">
            <a:extLst>
              <a:ext uri="{FF2B5EF4-FFF2-40B4-BE49-F238E27FC236}">
                <a16:creationId xmlns:a16="http://schemas.microsoft.com/office/drawing/2014/main" id="{261B0DF5-B4D1-46EC-EDB9-A310289AE3F6}"/>
              </a:ext>
            </a:extLst>
          </p:cNvPr>
          <p:cNvPicPr>
            <a:picLocks noChangeAspect="1"/>
          </p:cNvPicPr>
          <p:nvPr/>
        </p:nvPicPr>
        <p:blipFill>
          <a:blip r:embed="rId7"/>
          <a:srcRect l="32685" t="8708" r="32077" b="51908"/>
          <a:stretch>
            <a:fillRect/>
          </a:stretch>
        </p:blipFill>
        <p:spPr>
          <a:xfrm>
            <a:off x="85892" y="1811181"/>
            <a:ext cx="1905000" cy="1520821"/>
          </a:xfrm>
          <a:prstGeom prst="rect">
            <a:avLst/>
          </a:prstGeom>
        </p:spPr>
      </p:pic>
      <p:cxnSp>
        <p:nvCxnSpPr>
          <p:cNvPr id="10" name="Straight Arrow Connector 9">
            <a:extLst>
              <a:ext uri="{FF2B5EF4-FFF2-40B4-BE49-F238E27FC236}">
                <a16:creationId xmlns:a16="http://schemas.microsoft.com/office/drawing/2014/main" id="{F9007E11-9265-9AEF-63D3-5DAEFBEA7046}"/>
              </a:ext>
            </a:extLst>
          </p:cNvPr>
          <p:cNvCxnSpPr/>
          <p:nvPr/>
        </p:nvCxnSpPr>
        <p:spPr bwMode="auto">
          <a:xfrm flipV="1">
            <a:off x="1979712" y="1347614"/>
            <a:ext cx="1356972" cy="1223978"/>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Straight Arrow Connector 10">
            <a:extLst>
              <a:ext uri="{FF2B5EF4-FFF2-40B4-BE49-F238E27FC236}">
                <a16:creationId xmlns:a16="http://schemas.microsoft.com/office/drawing/2014/main" id="{E495444F-373E-7029-232A-4CBD63EB6E48}"/>
              </a:ext>
            </a:extLst>
          </p:cNvPr>
          <p:cNvCxnSpPr/>
          <p:nvPr/>
        </p:nvCxnSpPr>
        <p:spPr bwMode="auto">
          <a:xfrm>
            <a:off x="1979712" y="2579976"/>
            <a:ext cx="1492604" cy="121591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Straight Arrow Connector 12">
            <a:extLst>
              <a:ext uri="{FF2B5EF4-FFF2-40B4-BE49-F238E27FC236}">
                <a16:creationId xmlns:a16="http://schemas.microsoft.com/office/drawing/2014/main" id="{57F61FE0-77CE-B310-0850-9D9C098DA21B}"/>
              </a:ext>
            </a:extLst>
          </p:cNvPr>
          <p:cNvCxnSpPr/>
          <p:nvPr/>
        </p:nvCxnSpPr>
        <p:spPr bwMode="auto">
          <a:xfrm flipV="1">
            <a:off x="1988096" y="2546308"/>
            <a:ext cx="1503784" cy="25442"/>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TextBox 15">
            <a:extLst>
              <a:ext uri="{FF2B5EF4-FFF2-40B4-BE49-F238E27FC236}">
                <a16:creationId xmlns:a16="http://schemas.microsoft.com/office/drawing/2014/main" id="{79CE92E8-383E-57DB-E7A7-A8A9A222ED49}"/>
              </a:ext>
            </a:extLst>
          </p:cNvPr>
          <p:cNvSpPr txBox="1"/>
          <p:nvPr/>
        </p:nvSpPr>
        <p:spPr>
          <a:xfrm>
            <a:off x="579173" y="1390999"/>
            <a:ext cx="938077" cy="400110"/>
          </a:xfrm>
          <a:prstGeom prst="rect">
            <a:avLst/>
          </a:prstGeom>
          <a:noFill/>
          <a:ln w="6350">
            <a:noFill/>
          </a:ln>
        </p:spPr>
        <p:txBody>
          <a:bodyPr wrap="none" rtlCol="0">
            <a:spAutoFit/>
          </a:bodyPr>
          <a:lstStyle/>
          <a:p>
            <a:pPr algn="l"/>
            <a:r>
              <a:rPr lang="en-US" sz="2000" b="1" dirty="0">
                <a:latin typeface="+mn-lt"/>
              </a:rPr>
              <a:t>Organ</a:t>
            </a:r>
          </a:p>
        </p:txBody>
      </p:sp>
    </p:spTree>
    <p:extLst>
      <p:ext uri="{BB962C8B-B14F-4D97-AF65-F5344CB8AC3E}">
        <p14:creationId xmlns:p14="http://schemas.microsoft.com/office/powerpoint/2010/main" val="135600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220DB5B-F5FF-01A7-6840-3BA33ACFB459}"/>
              </a:ext>
            </a:extLst>
          </p:cNvPr>
          <p:cNvSpPr>
            <a:spLocks noGrp="1"/>
          </p:cNvSpPr>
          <p:nvPr>
            <p:ph type="ftr" sz="quarter" idx="3"/>
          </p:nvPr>
        </p:nvSpPr>
        <p:spPr/>
        <p:txBody>
          <a:bodyPr/>
          <a:lstStyle/>
          <a:p>
            <a:r>
              <a:rPr lang="sv-SE"/>
              <a:t>Karolinska Institutet - a medical university</a:t>
            </a:r>
            <a:endParaRPr lang="sv-SE" dirty="0"/>
          </a:p>
        </p:txBody>
      </p:sp>
      <p:sp>
        <p:nvSpPr>
          <p:cNvPr id="5" name="Date Placeholder 4">
            <a:extLst>
              <a:ext uri="{FF2B5EF4-FFF2-40B4-BE49-F238E27FC236}">
                <a16:creationId xmlns:a16="http://schemas.microsoft.com/office/drawing/2014/main" id="{8FC2DC3F-6FE7-07E9-6081-534F8C912360}"/>
              </a:ext>
            </a:extLst>
          </p:cNvPr>
          <p:cNvSpPr>
            <a:spLocks noGrp="1"/>
          </p:cNvSpPr>
          <p:nvPr>
            <p:ph type="dt" sz="half" idx="10"/>
          </p:nvPr>
        </p:nvSpPr>
        <p:spPr/>
        <p:txBody>
          <a:bodyPr/>
          <a:lstStyle/>
          <a:p>
            <a:fld id="{0B99A5A2-19A1-4CFC-BFE3-8B9C2E2B5BE0}" type="datetime1">
              <a:rPr lang="en-GB" smtClean="0"/>
              <a:t>19/10/2026</a:t>
            </a:fld>
            <a:endParaRPr lang="sv-SE" dirty="0"/>
          </a:p>
        </p:txBody>
      </p:sp>
      <p:sp>
        <p:nvSpPr>
          <p:cNvPr id="6" name="Slide Number Placeholder 5">
            <a:extLst>
              <a:ext uri="{FF2B5EF4-FFF2-40B4-BE49-F238E27FC236}">
                <a16:creationId xmlns:a16="http://schemas.microsoft.com/office/drawing/2014/main" id="{71B257B0-D6AC-4381-1DA0-E416A9F51BD1}"/>
              </a:ext>
            </a:extLst>
          </p:cNvPr>
          <p:cNvSpPr>
            <a:spLocks noGrp="1"/>
          </p:cNvSpPr>
          <p:nvPr>
            <p:ph type="sldNum" sz="quarter" idx="12"/>
          </p:nvPr>
        </p:nvSpPr>
        <p:spPr/>
        <p:txBody>
          <a:bodyPr/>
          <a:lstStyle/>
          <a:p>
            <a:fld id="{15859C56-CB7E-413F-8971-4226A1EF6823}" type="slidenum">
              <a:rPr lang="sv-SE" smtClean="0"/>
              <a:pPr/>
              <a:t>8</a:t>
            </a:fld>
            <a:endParaRPr lang="sv-SE" dirty="0"/>
          </a:p>
        </p:txBody>
      </p:sp>
      <p:pic>
        <p:nvPicPr>
          <p:cNvPr id="2" name="Picture 1">
            <a:extLst>
              <a:ext uri="{FF2B5EF4-FFF2-40B4-BE49-F238E27FC236}">
                <a16:creationId xmlns:a16="http://schemas.microsoft.com/office/drawing/2014/main" id="{AC065B26-0A17-9F7F-904C-B4594C60EAF3}"/>
              </a:ext>
            </a:extLst>
          </p:cNvPr>
          <p:cNvPicPr>
            <a:picLocks noChangeAspect="1"/>
          </p:cNvPicPr>
          <p:nvPr/>
        </p:nvPicPr>
        <p:blipFill>
          <a:blip r:embed="rId2"/>
          <a:srcRect b="15763"/>
          <a:stretch>
            <a:fillRect/>
          </a:stretch>
        </p:blipFill>
        <p:spPr>
          <a:xfrm>
            <a:off x="714375" y="183242"/>
            <a:ext cx="7715250" cy="4332724"/>
          </a:xfrm>
          <a:prstGeom prst="rect">
            <a:avLst/>
          </a:prstGeom>
        </p:spPr>
      </p:pic>
    </p:spTree>
    <p:extLst>
      <p:ext uri="{BB962C8B-B14F-4D97-AF65-F5344CB8AC3E}">
        <p14:creationId xmlns:p14="http://schemas.microsoft.com/office/powerpoint/2010/main" val="69113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9C885D2-17F1-D0CA-AB3E-932DFC26E084}"/>
              </a:ext>
            </a:extLst>
          </p:cNvPr>
          <p:cNvSpPr>
            <a:spLocks noGrp="1"/>
          </p:cNvSpPr>
          <p:nvPr>
            <p:ph type="ftr" sz="quarter" idx="3"/>
          </p:nvPr>
        </p:nvSpPr>
        <p:spPr/>
        <p:txBody>
          <a:bodyPr/>
          <a:lstStyle/>
          <a:p>
            <a:r>
              <a:rPr lang="sv-SE"/>
              <a:t>Karolinska Institutet - a medical university</a:t>
            </a:r>
            <a:endParaRPr lang="sv-SE" dirty="0"/>
          </a:p>
        </p:txBody>
      </p:sp>
      <p:sp>
        <p:nvSpPr>
          <p:cNvPr id="5" name="Date Placeholder 4">
            <a:extLst>
              <a:ext uri="{FF2B5EF4-FFF2-40B4-BE49-F238E27FC236}">
                <a16:creationId xmlns:a16="http://schemas.microsoft.com/office/drawing/2014/main" id="{5EA40EB3-221D-01FE-3C9A-2B560995E9CC}"/>
              </a:ext>
            </a:extLst>
          </p:cNvPr>
          <p:cNvSpPr>
            <a:spLocks noGrp="1"/>
          </p:cNvSpPr>
          <p:nvPr>
            <p:ph type="dt" sz="half" idx="10"/>
          </p:nvPr>
        </p:nvSpPr>
        <p:spPr/>
        <p:txBody>
          <a:bodyPr/>
          <a:lstStyle/>
          <a:p>
            <a:fld id="{0B99A5A2-19A1-4CFC-BFE3-8B9C2E2B5BE0}" type="datetime1">
              <a:rPr lang="en-GB" smtClean="0"/>
              <a:t>19/10/2026</a:t>
            </a:fld>
            <a:endParaRPr lang="sv-SE" dirty="0"/>
          </a:p>
        </p:txBody>
      </p:sp>
      <p:sp>
        <p:nvSpPr>
          <p:cNvPr id="6" name="Slide Number Placeholder 5">
            <a:extLst>
              <a:ext uri="{FF2B5EF4-FFF2-40B4-BE49-F238E27FC236}">
                <a16:creationId xmlns:a16="http://schemas.microsoft.com/office/drawing/2014/main" id="{8C6C9506-2127-6AFC-1E1D-6564EC0C0C33}"/>
              </a:ext>
            </a:extLst>
          </p:cNvPr>
          <p:cNvSpPr>
            <a:spLocks noGrp="1"/>
          </p:cNvSpPr>
          <p:nvPr>
            <p:ph type="sldNum" sz="quarter" idx="12"/>
          </p:nvPr>
        </p:nvSpPr>
        <p:spPr/>
        <p:txBody>
          <a:bodyPr/>
          <a:lstStyle/>
          <a:p>
            <a:fld id="{15859C56-CB7E-413F-8971-4226A1EF6823}" type="slidenum">
              <a:rPr lang="sv-SE" smtClean="0"/>
              <a:pPr/>
              <a:t>9</a:t>
            </a:fld>
            <a:endParaRPr lang="sv-SE" dirty="0"/>
          </a:p>
        </p:txBody>
      </p:sp>
      <p:sp>
        <p:nvSpPr>
          <p:cNvPr id="8" name="TextBox 7">
            <a:extLst>
              <a:ext uri="{FF2B5EF4-FFF2-40B4-BE49-F238E27FC236}">
                <a16:creationId xmlns:a16="http://schemas.microsoft.com/office/drawing/2014/main" id="{A5C46FD1-1982-705A-B8B5-5A8AE86770D5}"/>
              </a:ext>
            </a:extLst>
          </p:cNvPr>
          <p:cNvSpPr txBox="1"/>
          <p:nvPr/>
        </p:nvSpPr>
        <p:spPr>
          <a:xfrm>
            <a:off x="452947" y="76438"/>
            <a:ext cx="3960433" cy="1631216"/>
          </a:xfrm>
          <a:prstGeom prst="rect">
            <a:avLst/>
          </a:prstGeom>
          <a:noFill/>
          <a:ln w="6350">
            <a:solidFill>
              <a:schemeClr val="accent1"/>
            </a:solidFill>
          </a:ln>
        </p:spPr>
        <p:txBody>
          <a:bodyPr wrap="square">
            <a:spAutoFit/>
          </a:bodyPr>
          <a:lstStyle/>
          <a:p>
            <a:r>
              <a:rPr lang="en-US" sz="2000" b="1" dirty="0">
                <a:latin typeface="Cambria" panose="02040503050406030204" pitchFamily="18" charset="0"/>
                <a:ea typeface="MS Mincho" panose="02020609040205080304" pitchFamily="49" charset="-128"/>
                <a:cs typeface="Arial" panose="020B0604020202020204" pitchFamily="34" charset="0"/>
              </a:rPr>
              <a:t>Can answer:</a:t>
            </a:r>
          </a:p>
          <a:p>
            <a:endParaRPr lang="en-US" sz="2000" b="1" dirty="0">
              <a:latin typeface="Cambria" panose="02040503050406030204" pitchFamily="18" charset="0"/>
              <a:ea typeface="MS Mincho" panose="02020609040205080304" pitchFamily="49" charset="-128"/>
              <a:cs typeface="Arial" panose="020B0604020202020204" pitchFamily="34" charset="0"/>
            </a:endParaRPr>
          </a:p>
          <a:p>
            <a:pPr marL="285750" indent="-285750">
              <a:buFont typeface="Wingdings" pitchFamily="2" charset="2"/>
              <a:buChar char="ü"/>
            </a:pPr>
            <a:r>
              <a:rPr lang="en-US" sz="1500" dirty="0">
                <a:latin typeface="Cambria" panose="02040503050406030204" pitchFamily="18" charset="0"/>
                <a:ea typeface="MS Mincho" panose="02020609040205080304" pitchFamily="49" charset="-128"/>
                <a:cs typeface="Arial" panose="020B0604020202020204" pitchFamily="34" charset="0"/>
              </a:rPr>
              <a:t>Which genes are differentially expressed?</a:t>
            </a:r>
          </a:p>
          <a:p>
            <a:pPr marL="285750" indent="-285750">
              <a:buFont typeface="Wingdings" pitchFamily="2" charset="2"/>
              <a:buChar char="ü"/>
            </a:pPr>
            <a:r>
              <a:rPr lang="en-US" sz="1500" dirty="0">
                <a:latin typeface="Cambria" panose="02040503050406030204" pitchFamily="18" charset="0"/>
                <a:ea typeface="MS Mincho" panose="02020609040205080304" pitchFamily="49" charset="-128"/>
                <a:cs typeface="Arial" panose="020B0604020202020204" pitchFamily="34" charset="0"/>
              </a:rPr>
              <a:t>Which pathways are altered?</a:t>
            </a:r>
          </a:p>
          <a:p>
            <a:pPr marL="285750" indent="-285750">
              <a:buFont typeface="Wingdings" pitchFamily="2" charset="2"/>
              <a:buChar char="ü"/>
            </a:pPr>
            <a:r>
              <a:rPr lang="en-US" sz="1500" dirty="0">
                <a:latin typeface="Cambria" panose="02040503050406030204" pitchFamily="18" charset="0"/>
                <a:ea typeface="MS Mincho" panose="02020609040205080304" pitchFamily="49" charset="-128"/>
                <a:cs typeface="Arial" panose="020B0604020202020204" pitchFamily="34" charset="0"/>
              </a:rPr>
              <a:t>Biomarker discovery.</a:t>
            </a:r>
          </a:p>
          <a:p>
            <a:pPr marL="285750" indent="-285750">
              <a:buFont typeface="Wingdings" pitchFamily="2" charset="2"/>
              <a:buChar char="ü"/>
            </a:pPr>
            <a:r>
              <a:rPr lang="en-US" sz="1500" dirty="0">
                <a:latin typeface="Cambria" panose="02040503050406030204" pitchFamily="18" charset="0"/>
                <a:ea typeface="MS Mincho" panose="02020609040205080304" pitchFamily="49" charset="-128"/>
                <a:cs typeface="Arial" panose="020B0604020202020204" pitchFamily="34" charset="0"/>
              </a:rPr>
              <a:t>Drug-response studies.</a:t>
            </a:r>
          </a:p>
        </p:txBody>
      </p:sp>
      <p:sp>
        <p:nvSpPr>
          <p:cNvPr id="10" name="TextBox 9">
            <a:extLst>
              <a:ext uri="{FF2B5EF4-FFF2-40B4-BE49-F238E27FC236}">
                <a16:creationId xmlns:a16="http://schemas.microsoft.com/office/drawing/2014/main" id="{19D1C02A-80C6-15D3-7819-31D763BAF9D8}"/>
              </a:ext>
            </a:extLst>
          </p:cNvPr>
          <p:cNvSpPr txBox="1"/>
          <p:nvPr/>
        </p:nvSpPr>
        <p:spPr>
          <a:xfrm>
            <a:off x="452946" y="1876638"/>
            <a:ext cx="3960433" cy="1631216"/>
          </a:xfrm>
          <a:prstGeom prst="rect">
            <a:avLst/>
          </a:prstGeom>
          <a:noFill/>
          <a:ln w="6350">
            <a:solidFill>
              <a:schemeClr val="accent1"/>
            </a:solidFill>
          </a:ln>
        </p:spPr>
        <p:txBody>
          <a:bodyPr wrap="square">
            <a:spAutoFit/>
          </a:bodyPr>
          <a:lstStyle/>
          <a:p>
            <a:r>
              <a:rPr lang="en-US" sz="2000" b="1" dirty="0" err="1">
                <a:latin typeface="Cambria" panose="02040503050406030204" pitchFamily="18" charset="0"/>
                <a:ea typeface="MS Mincho" panose="02020609040205080304" pitchFamily="49" charset="-128"/>
                <a:cs typeface="Arial" panose="020B0604020202020204" pitchFamily="34" charset="0"/>
              </a:rPr>
              <a:t>CanNot</a:t>
            </a:r>
            <a:r>
              <a:rPr lang="en-US" sz="2000" b="1" dirty="0">
                <a:latin typeface="Cambria" panose="02040503050406030204" pitchFamily="18" charset="0"/>
                <a:ea typeface="MS Mincho" panose="02020609040205080304" pitchFamily="49" charset="-128"/>
                <a:cs typeface="Arial" panose="020B0604020202020204" pitchFamily="34" charset="0"/>
              </a:rPr>
              <a:t> answer:</a:t>
            </a:r>
          </a:p>
          <a:p>
            <a:endParaRPr lang="en-US" sz="2000" b="1" dirty="0">
              <a:latin typeface="Cambria" panose="02040503050406030204" pitchFamily="18" charset="0"/>
              <a:ea typeface="MS Mincho" panose="02020609040205080304" pitchFamily="49" charset="-128"/>
              <a:cs typeface="Arial" panose="020B0604020202020204" pitchFamily="34" charset="0"/>
            </a:endParaRPr>
          </a:p>
          <a:p>
            <a:pPr marL="285750" indent="-285750">
              <a:buFont typeface="Wingdings" pitchFamily="2" charset="2"/>
              <a:buChar char="ü"/>
            </a:pPr>
            <a:r>
              <a:rPr lang="en-US" sz="1500" dirty="0">
                <a:latin typeface="Cambria" panose="02040503050406030204" pitchFamily="18" charset="0"/>
                <a:ea typeface="MS Mincho" panose="02020609040205080304" pitchFamily="49" charset="-128"/>
                <a:cs typeface="Arial" panose="020B0604020202020204" pitchFamily="34" charset="0"/>
              </a:rPr>
              <a:t>Which cell type changed?</a:t>
            </a:r>
          </a:p>
          <a:p>
            <a:pPr marL="285750" indent="-285750">
              <a:buFont typeface="Wingdings" pitchFamily="2" charset="2"/>
              <a:buChar char="ü"/>
            </a:pPr>
            <a:r>
              <a:rPr lang="en-US" sz="1500" dirty="0">
                <a:latin typeface="Cambria" panose="02040503050406030204" pitchFamily="18" charset="0"/>
                <a:ea typeface="MS Mincho" panose="02020609040205080304" pitchFamily="49" charset="-128"/>
                <a:cs typeface="Arial" panose="020B0604020202020204" pitchFamily="34" charset="0"/>
              </a:rPr>
              <a:t>Rare cell populations.</a:t>
            </a:r>
          </a:p>
          <a:p>
            <a:pPr marL="285750" indent="-285750">
              <a:buFont typeface="Wingdings" pitchFamily="2" charset="2"/>
              <a:buChar char="ü"/>
            </a:pPr>
            <a:r>
              <a:rPr lang="en-US" sz="1500" dirty="0">
                <a:latin typeface="Cambria" panose="02040503050406030204" pitchFamily="18" charset="0"/>
                <a:ea typeface="MS Mincho" panose="02020609040205080304" pitchFamily="49" charset="-128"/>
                <a:cs typeface="Arial" panose="020B0604020202020204" pitchFamily="34" charset="0"/>
              </a:rPr>
              <a:t>Cell-cell communication.</a:t>
            </a:r>
          </a:p>
          <a:p>
            <a:pPr marL="285750" indent="-285750">
              <a:buFont typeface="Wingdings" pitchFamily="2" charset="2"/>
              <a:buChar char="ü"/>
            </a:pPr>
            <a:r>
              <a:rPr lang="en-US" sz="1500" dirty="0">
                <a:latin typeface="Cambria" panose="02040503050406030204" pitchFamily="18" charset="0"/>
                <a:ea typeface="MS Mincho" panose="02020609040205080304" pitchFamily="49" charset="-128"/>
                <a:cs typeface="Arial" panose="020B0604020202020204" pitchFamily="34" charset="0"/>
              </a:rPr>
              <a:t>Spatial organization.</a:t>
            </a:r>
            <a:r>
              <a:rPr lang="en-SE" sz="1500" dirty="0">
                <a:latin typeface="Cambria" panose="02040503050406030204" pitchFamily="18" charset="0"/>
                <a:ea typeface="MS Mincho" panose="02020609040205080304" pitchFamily="49" charset="-128"/>
                <a:cs typeface="Arial" panose="020B0604020202020204" pitchFamily="34" charset="0"/>
              </a:rPr>
              <a:t> </a:t>
            </a:r>
            <a:endParaRPr lang="en-US" sz="1500" dirty="0">
              <a:latin typeface="Cambria" panose="02040503050406030204" pitchFamily="18" charset="0"/>
              <a:ea typeface="MS Mincho" panose="02020609040205080304" pitchFamily="49" charset="-128"/>
              <a:cs typeface="Arial" panose="020B0604020202020204" pitchFamily="34" charset="0"/>
            </a:endParaRPr>
          </a:p>
        </p:txBody>
      </p:sp>
      <p:sp>
        <p:nvSpPr>
          <p:cNvPr id="11" name="TextBox 10">
            <a:extLst>
              <a:ext uri="{FF2B5EF4-FFF2-40B4-BE49-F238E27FC236}">
                <a16:creationId xmlns:a16="http://schemas.microsoft.com/office/drawing/2014/main" id="{2DFFCD79-63DC-8439-35B4-8225E2337E67}"/>
              </a:ext>
            </a:extLst>
          </p:cNvPr>
          <p:cNvSpPr txBox="1"/>
          <p:nvPr/>
        </p:nvSpPr>
        <p:spPr>
          <a:xfrm>
            <a:off x="4565276" y="76438"/>
            <a:ext cx="4320480" cy="1631216"/>
          </a:xfrm>
          <a:prstGeom prst="rect">
            <a:avLst/>
          </a:prstGeom>
          <a:noFill/>
          <a:ln w="6350">
            <a:solidFill>
              <a:schemeClr val="accent1"/>
            </a:solidFill>
          </a:ln>
        </p:spPr>
        <p:txBody>
          <a:bodyPr wrap="square">
            <a:spAutoFit/>
          </a:bodyPr>
          <a:lstStyle/>
          <a:p>
            <a:r>
              <a:rPr lang="en-US" sz="2000" b="1" dirty="0">
                <a:latin typeface="Cambria" panose="02040503050406030204" pitchFamily="18" charset="0"/>
                <a:ea typeface="MS Mincho" panose="02020609040205080304" pitchFamily="49" charset="-128"/>
                <a:cs typeface="Arial" panose="020B0604020202020204" pitchFamily="34" charset="0"/>
              </a:rPr>
              <a:t>e.g.,:</a:t>
            </a:r>
          </a:p>
          <a:p>
            <a:endParaRPr lang="en-US" sz="2000" b="1" dirty="0">
              <a:latin typeface="Cambria" panose="02040503050406030204" pitchFamily="18" charset="0"/>
              <a:ea typeface="MS Mincho" panose="02020609040205080304" pitchFamily="49" charset="-128"/>
              <a:cs typeface="Arial" panose="020B0604020202020204" pitchFamily="34" charset="0"/>
            </a:endParaRPr>
          </a:p>
          <a:p>
            <a:pPr marL="285750" indent="-285750">
              <a:buFont typeface="Wingdings" pitchFamily="2" charset="2"/>
              <a:buChar char="Ø"/>
            </a:pPr>
            <a:r>
              <a:rPr lang="en-SE" sz="1500" dirty="0">
                <a:latin typeface="Cambria" panose="02040503050406030204" pitchFamily="18" charset="0"/>
                <a:ea typeface="MS Mincho" panose="02020609040205080304" pitchFamily="49" charset="-128"/>
                <a:cs typeface="Arial" panose="020B0604020202020204" pitchFamily="34" charset="0"/>
              </a:rPr>
              <a:t>Are TREM2 and GFAP upregulated in AD? </a:t>
            </a:r>
            <a:endParaRPr lang="en-US" sz="1500" dirty="0">
              <a:latin typeface="Cambria" panose="02040503050406030204" pitchFamily="18" charset="0"/>
              <a:ea typeface="MS Mincho" panose="02020609040205080304" pitchFamily="49" charset="-128"/>
              <a:cs typeface="Arial" panose="020B0604020202020204" pitchFamily="34" charset="0"/>
            </a:endParaRPr>
          </a:p>
          <a:p>
            <a:pPr marL="285750" indent="-285750">
              <a:buFont typeface="Wingdings" pitchFamily="2" charset="2"/>
              <a:buChar char="Ø"/>
            </a:pPr>
            <a:r>
              <a:rPr lang="en-SE" sz="1500" dirty="0">
                <a:latin typeface="Cambria" panose="02040503050406030204" pitchFamily="18" charset="0"/>
                <a:ea typeface="MS Mincho" panose="02020609040205080304" pitchFamily="49" charset="-128"/>
                <a:cs typeface="Arial" panose="020B0604020202020204" pitchFamily="34" charset="0"/>
              </a:rPr>
              <a:t>Is the immune response activated in AD?</a:t>
            </a:r>
            <a:endParaRPr lang="en-US" sz="1500" dirty="0">
              <a:latin typeface="Cambria" panose="02040503050406030204" pitchFamily="18" charset="0"/>
              <a:ea typeface="MS Mincho" panose="02020609040205080304" pitchFamily="49" charset="-128"/>
              <a:cs typeface="Arial" panose="020B0604020202020204" pitchFamily="34" charset="0"/>
            </a:endParaRPr>
          </a:p>
          <a:p>
            <a:pPr marL="285750" indent="-285750">
              <a:buFont typeface="Wingdings" pitchFamily="2" charset="2"/>
              <a:buChar char="Ø"/>
            </a:pPr>
            <a:r>
              <a:rPr lang="en-SE" sz="1500" dirty="0">
                <a:latin typeface="Cambria" panose="02040503050406030204" pitchFamily="18" charset="0"/>
                <a:ea typeface="MS Mincho" panose="02020609040205080304" pitchFamily="49" charset="-128"/>
                <a:cs typeface="Arial" panose="020B0604020202020204" pitchFamily="34" charset="0"/>
              </a:rPr>
              <a:t>Which blood RNAs predict Alzheimer’s?</a:t>
            </a:r>
            <a:endParaRPr lang="en-US" sz="1500" dirty="0">
              <a:latin typeface="Cambria" panose="02040503050406030204" pitchFamily="18" charset="0"/>
              <a:ea typeface="MS Mincho" panose="02020609040205080304" pitchFamily="49" charset="-128"/>
              <a:cs typeface="Arial" panose="020B0604020202020204" pitchFamily="34" charset="0"/>
            </a:endParaRPr>
          </a:p>
          <a:p>
            <a:pPr marL="285750" indent="-285750">
              <a:buFont typeface="Wingdings" pitchFamily="2" charset="2"/>
              <a:buChar char="Ø"/>
            </a:pPr>
            <a:r>
              <a:rPr lang="en-SE" sz="1500" dirty="0">
                <a:latin typeface="Cambria" panose="02040503050406030204" pitchFamily="18" charset="0"/>
                <a:ea typeface="MS Mincho" panose="02020609040205080304" pitchFamily="49" charset="-128"/>
                <a:cs typeface="Arial" panose="020B0604020202020204" pitchFamily="34" charset="0"/>
              </a:rPr>
              <a:t>Does treatment restore gene expression? </a:t>
            </a:r>
          </a:p>
        </p:txBody>
      </p:sp>
      <p:sp>
        <p:nvSpPr>
          <p:cNvPr id="12" name="TextBox 11">
            <a:extLst>
              <a:ext uri="{FF2B5EF4-FFF2-40B4-BE49-F238E27FC236}">
                <a16:creationId xmlns:a16="http://schemas.microsoft.com/office/drawing/2014/main" id="{B52F77C6-2EF7-84BA-7A30-D122E29E279C}"/>
              </a:ext>
            </a:extLst>
          </p:cNvPr>
          <p:cNvSpPr txBox="1"/>
          <p:nvPr/>
        </p:nvSpPr>
        <p:spPr>
          <a:xfrm>
            <a:off x="4565276" y="1876638"/>
            <a:ext cx="4320480" cy="1631216"/>
          </a:xfrm>
          <a:prstGeom prst="rect">
            <a:avLst/>
          </a:prstGeom>
          <a:noFill/>
          <a:ln w="6350">
            <a:solidFill>
              <a:schemeClr val="accent1"/>
            </a:solidFill>
          </a:ln>
        </p:spPr>
        <p:txBody>
          <a:bodyPr wrap="square">
            <a:spAutoFit/>
          </a:bodyPr>
          <a:lstStyle/>
          <a:p>
            <a:r>
              <a:rPr lang="en-US" sz="2000" b="1" dirty="0">
                <a:latin typeface="Cambria" panose="02040503050406030204" pitchFamily="18" charset="0"/>
                <a:ea typeface="MS Mincho" panose="02020609040205080304" pitchFamily="49" charset="-128"/>
                <a:cs typeface="Arial" panose="020B0604020202020204" pitchFamily="34" charset="0"/>
              </a:rPr>
              <a:t>e.g.,:</a:t>
            </a:r>
          </a:p>
          <a:p>
            <a:endParaRPr lang="en-US" sz="2000" b="1" dirty="0">
              <a:latin typeface="Cambria" panose="02040503050406030204" pitchFamily="18" charset="0"/>
              <a:ea typeface="MS Mincho" panose="02020609040205080304" pitchFamily="49" charset="-128"/>
              <a:cs typeface="Arial" panose="020B0604020202020204" pitchFamily="34" charset="0"/>
            </a:endParaRPr>
          </a:p>
          <a:p>
            <a:pPr marL="285750" indent="-285750">
              <a:buFont typeface="Wingdings" pitchFamily="2" charset="2"/>
              <a:buChar char="Ø"/>
            </a:pPr>
            <a:r>
              <a:rPr lang="en-SE" sz="1500" dirty="0">
                <a:latin typeface="Cambria" panose="02040503050406030204" pitchFamily="18" charset="0"/>
                <a:ea typeface="MS Mincho" panose="02020609040205080304" pitchFamily="49" charset="-128"/>
                <a:cs typeface="Arial" panose="020B0604020202020204" pitchFamily="34" charset="0"/>
              </a:rPr>
              <a:t>Which cells express TREM2?</a:t>
            </a:r>
            <a:endParaRPr lang="en-US" sz="1500" dirty="0">
              <a:latin typeface="Cambria" panose="02040503050406030204" pitchFamily="18" charset="0"/>
              <a:ea typeface="MS Mincho" panose="02020609040205080304" pitchFamily="49" charset="-128"/>
              <a:cs typeface="Arial" panose="020B0604020202020204" pitchFamily="34" charset="0"/>
            </a:endParaRPr>
          </a:p>
          <a:p>
            <a:pPr marL="285750" indent="-285750">
              <a:buFont typeface="Wingdings" pitchFamily="2" charset="2"/>
              <a:buChar char="Ø"/>
            </a:pPr>
            <a:r>
              <a:rPr lang="en-SE" sz="1500" dirty="0">
                <a:latin typeface="Cambria" panose="02040503050406030204" pitchFamily="18" charset="0"/>
                <a:ea typeface="MS Mincho" panose="02020609040205080304" pitchFamily="49" charset="-128"/>
                <a:cs typeface="Arial" panose="020B0604020202020204" pitchFamily="34" charset="0"/>
              </a:rPr>
              <a:t>Are disease-associated microglia present? </a:t>
            </a:r>
            <a:endParaRPr lang="en-US" sz="1500" dirty="0">
              <a:latin typeface="Cambria" panose="02040503050406030204" pitchFamily="18" charset="0"/>
              <a:ea typeface="MS Mincho" panose="02020609040205080304" pitchFamily="49" charset="-128"/>
              <a:cs typeface="Arial" panose="020B0604020202020204" pitchFamily="34" charset="0"/>
            </a:endParaRPr>
          </a:p>
          <a:p>
            <a:pPr marL="285750" indent="-285750">
              <a:buFont typeface="Wingdings" pitchFamily="2" charset="2"/>
              <a:buChar char="Ø"/>
            </a:pPr>
            <a:r>
              <a:rPr lang="en-SE" sz="1500" dirty="0">
                <a:latin typeface="Cambria" panose="02040503050406030204" pitchFamily="18" charset="0"/>
                <a:ea typeface="MS Mincho" panose="02020609040205080304" pitchFamily="49" charset="-128"/>
                <a:cs typeface="Arial" panose="020B0604020202020204" pitchFamily="34" charset="0"/>
              </a:rPr>
              <a:t>Are microglia communicating with astrocytes?</a:t>
            </a:r>
          </a:p>
          <a:p>
            <a:pPr marL="285750" indent="-285750">
              <a:buFont typeface="Wingdings" pitchFamily="2" charset="2"/>
              <a:buChar char="Ø"/>
            </a:pPr>
            <a:r>
              <a:rPr lang="en-SE" sz="1500" dirty="0">
                <a:latin typeface="Cambria" panose="02040503050406030204" pitchFamily="18" charset="0"/>
                <a:ea typeface="MS Mincho" panose="02020609040205080304" pitchFamily="49" charset="-128"/>
                <a:cs typeface="Arial" panose="020B0604020202020204" pitchFamily="34" charset="0"/>
              </a:rPr>
              <a:t>Are microglia surrounding amyloid plaques? </a:t>
            </a:r>
          </a:p>
        </p:txBody>
      </p:sp>
      <p:sp>
        <p:nvSpPr>
          <p:cNvPr id="14" name="TextBox 13">
            <a:extLst>
              <a:ext uri="{FF2B5EF4-FFF2-40B4-BE49-F238E27FC236}">
                <a16:creationId xmlns:a16="http://schemas.microsoft.com/office/drawing/2014/main" id="{9CDF802E-0DDA-8680-BC3C-D8593373D413}"/>
              </a:ext>
            </a:extLst>
          </p:cNvPr>
          <p:cNvSpPr txBox="1"/>
          <p:nvPr/>
        </p:nvSpPr>
        <p:spPr>
          <a:xfrm>
            <a:off x="452946" y="3565908"/>
            <a:ext cx="8432810" cy="1015663"/>
          </a:xfrm>
          <a:prstGeom prst="rect">
            <a:avLst/>
          </a:prstGeom>
          <a:noFill/>
          <a:ln w="6350">
            <a:solidFill>
              <a:schemeClr val="accent1"/>
            </a:solidFill>
          </a:ln>
        </p:spPr>
        <p:txBody>
          <a:bodyPr wrap="square">
            <a:spAutoFit/>
          </a:bodyPr>
          <a:lstStyle/>
          <a:p>
            <a:r>
              <a:rPr lang="en-US" sz="1500" b="1" dirty="0">
                <a:effectLst/>
                <a:latin typeface="Cambria" panose="02040503050406030204" pitchFamily="18" charset="0"/>
                <a:ea typeface="MS Mincho" panose="02020609040205080304" pitchFamily="49" charset="-128"/>
                <a:cs typeface="Arial" panose="020B0604020202020204" pitchFamily="34" charset="0"/>
              </a:rPr>
              <a:t>Advantages</a:t>
            </a:r>
            <a:br>
              <a:rPr lang="en-US" sz="1500" dirty="0">
                <a:effectLst/>
                <a:latin typeface="Cambria" panose="02040503050406030204" pitchFamily="18" charset="0"/>
                <a:ea typeface="MS Mincho" panose="02020609040205080304" pitchFamily="49" charset="-128"/>
                <a:cs typeface="Arial" panose="020B0604020202020204" pitchFamily="34" charset="0"/>
              </a:rPr>
            </a:br>
            <a:r>
              <a:rPr lang="en-US" sz="1500" dirty="0">
                <a:effectLst/>
                <a:latin typeface="Cambria" panose="02040503050406030204" pitchFamily="18" charset="0"/>
                <a:ea typeface="MS Mincho" panose="02020609040205080304" pitchFamily="49" charset="-128"/>
                <a:cs typeface="Arial" panose="020B0604020202020204" pitchFamily="34" charset="0"/>
              </a:rPr>
              <a:t>• </a:t>
            </a:r>
            <a:r>
              <a:rPr lang="en-US" sz="1500" dirty="0">
                <a:latin typeface="Cambria" panose="02040503050406030204" pitchFamily="18" charset="0"/>
                <a:ea typeface="MS Mincho" panose="02020609040205080304" pitchFamily="49" charset="-128"/>
                <a:cs typeface="Arial" panose="020B0604020202020204" pitchFamily="34" charset="0"/>
              </a:rPr>
              <a:t>I</a:t>
            </a:r>
            <a:r>
              <a:rPr lang="en-US" sz="1500" dirty="0">
                <a:effectLst/>
                <a:latin typeface="Cambria" panose="02040503050406030204" pitchFamily="18" charset="0"/>
                <a:ea typeface="MS Mincho" panose="02020609040205080304" pitchFamily="49" charset="-128"/>
                <a:cs typeface="Arial" panose="020B0604020202020204" pitchFamily="34" charset="0"/>
              </a:rPr>
              <a:t>nexpensive, statistically powerful, many public datasets.</a:t>
            </a:r>
            <a:br>
              <a:rPr lang="en-US" sz="1500" dirty="0">
                <a:effectLst/>
                <a:latin typeface="Cambria" panose="02040503050406030204" pitchFamily="18" charset="0"/>
                <a:ea typeface="MS Mincho" panose="02020609040205080304" pitchFamily="49" charset="-128"/>
                <a:cs typeface="Arial" panose="020B0604020202020204" pitchFamily="34" charset="0"/>
              </a:rPr>
            </a:br>
            <a:r>
              <a:rPr lang="en-US" sz="1500" b="1" dirty="0">
                <a:effectLst/>
                <a:latin typeface="Cambria" panose="02040503050406030204" pitchFamily="18" charset="0"/>
                <a:ea typeface="MS Mincho" panose="02020609040205080304" pitchFamily="49" charset="-128"/>
                <a:cs typeface="Arial" panose="020B0604020202020204" pitchFamily="34" charset="0"/>
              </a:rPr>
              <a:t>Limitations</a:t>
            </a:r>
            <a:br>
              <a:rPr lang="en-US" sz="1500" dirty="0">
                <a:effectLst/>
                <a:latin typeface="Cambria" panose="02040503050406030204" pitchFamily="18" charset="0"/>
                <a:ea typeface="MS Mincho" panose="02020609040205080304" pitchFamily="49" charset="-128"/>
                <a:cs typeface="Arial" panose="020B0604020202020204" pitchFamily="34" charset="0"/>
              </a:rPr>
            </a:br>
            <a:r>
              <a:rPr lang="en-US" sz="1500" dirty="0">
                <a:effectLst/>
                <a:latin typeface="Cambria" panose="02040503050406030204" pitchFamily="18" charset="0"/>
                <a:ea typeface="MS Mincho" panose="02020609040205080304" pitchFamily="49" charset="-128"/>
                <a:cs typeface="Arial" panose="020B0604020202020204" pitchFamily="34" charset="0"/>
              </a:rPr>
              <a:t>• Cell averaging, no spatial context.</a:t>
            </a:r>
            <a:endParaRPr lang="en-US" sz="1500" dirty="0"/>
          </a:p>
        </p:txBody>
      </p:sp>
    </p:spTree>
    <p:extLst>
      <p:ext uri="{BB962C8B-B14F-4D97-AF65-F5344CB8AC3E}">
        <p14:creationId xmlns:p14="http://schemas.microsoft.com/office/powerpoint/2010/main" val="3175676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5050E56-C52A-68EC-EE7A-2244D9EC1599}"/>
              </a:ext>
            </a:extLst>
          </p:cNvPr>
          <p:cNvSpPr>
            <a:spLocks noGrp="1"/>
          </p:cNvSpPr>
          <p:nvPr>
            <p:ph type="ftr" sz="quarter" idx="3"/>
          </p:nvPr>
        </p:nvSpPr>
        <p:spPr/>
        <p:txBody>
          <a:bodyPr/>
          <a:lstStyle/>
          <a:p>
            <a:r>
              <a:rPr lang="sv-SE"/>
              <a:t>Karolinska Institutet - a medical university</a:t>
            </a:r>
            <a:endParaRPr lang="sv-SE" dirty="0"/>
          </a:p>
        </p:txBody>
      </p:sp>
      <p:sp>
        <p:nvSpPr>
          <p:cNvPr id="5" name="Date Placeholder 4">
            <a:extLst>
              <a:ext uri="{FF2B5EF4-FFF2-40B4-BE49-F238E27FC236}">
                <a16:creationId xmlns:a16="http://schemas.microsoft.com/office/drawing/2014/main" id="{45C2D464-EE7C-AF80-86B1-029F229CCB5C}"/>
              </a:ext>
            </a:extLst>
          </p:cNvPr>
          <p:cNvSpPr>
            <a:spLocks noGrp="1"/>
          </p:cNvSpPr>
          <p:nvPr>
            <p:ph type="dt" sz="half" idx="10"/>
          </p:nvPr>
        </p:nvSpPr>
        <p:spPr/>
        <p:txBody>
          <a:bodyPr/>
          <a:lstStyle/>
          <a:p>
            <a:fld id="{0B99A5A2-19A1-4CFC-BFE3-8B9C2E2B5BE0}" type="datetime1">
              <a:rPr lang="en-GB" smtClean="0"/>
              <a:t>19/10/2026</a:t>
            </a:fld>
            <a:endParaRPr lang="sv-SE" dirty="0"/>
          </a:p>
        </p:txBody>
      </p:sp>
      <p:sp>
        <p:nvSpPr>
          <p:cNvPr id="6" name="Slide Number Placeholder 5">
            <a:extLst>
              <a:ext uri="{FF2B5EF4-FFF2-40B4-BE49-F238E27FC236}">
                <a16:creationId xmlns:a16="http://schemas.microsoft.com/office/drawing/2014/main" id="{494B3B8D-034C-4C61-7E42-8D2AC03374CD}"/>
              </a:ext>
            </a:extLst>
          </p:cNvPr>
          <p:cNvSpPr>
            <a:spLocks noGrp="1"/>
          </p:cNvSpPr>
          <p:nvPr>
            <p:ph type="sldNum" sz="quarter" idx="12"/>
          </p:nvPr>
        </p:nvSpPr>
        <p:spPr/>
        <p:txBody>
          <a:bodyPr/>
          <a:lstStyle/>
          <a:p>
            <a:fld id="{15859C56-CB7E-413F-8971-4226A1EF6823}" type="slidenum">
              <a:rPr lang="sv-SE" smtClean="0"/>
              <a:pPr/>
              <a:t>10</a:t>
            </a:fld>
            <a:endParaRPr lang="sv-SE" dirty="0"/>
          </a:p>
        </p:txBody>
      </p:sp>
      <p:pic>
        <p:nvPicPr>
          <p:cNvPr id="7" name="Picture 6">
            <a:extLst>
              <a:ext uri="{FF2B5EF4-FFF2-40B4-BE49-F238E27FC236}">
                <a16:creationId xmlns:a16="http://schemas.microsoft.com/office/drawing/2014/main" id="{93F5F548-67C3-2198-2474-6D7FCCCC71C4}"/>
              </a:ext>
            </a:extLst>
          </p:cNvPr>
          <p:cNvPicPr>
            <a:picLocks noChangeAspect="1"/>
          </p:cNvPicPr>
          <p:nvPr/>
        </p:nvPicPr>
        <p:blipFill>
          <a:blip r:embed="rId3"/>
          <a:srcRect b="52800"/>
          <a:stretch>
            <a:fillRect/>
          </a:stretch>
        </p:blipFill>
        <p:spPr>
          <a:xfrm>
            <a:off x="107503" y="1131590"/>
            <a:ext cx="8924713" cy="2808312"/>
          </a:xfrm>
          <a:prstGeom prst="rect">
            <a:avLst/>
          </a:prstGeom>
        </p:spPr>
      </p:pic>
    </p:spTree>
    <p:extLst>
      <p:ext uri="{BB962C8B-B14F-4D97-AF65-F5344CB8AC3E}">
        <p14:creationId xmlns:p14="http://schemas.microsoft.com/office/powerpoint/2010/main" val="230224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5EEE62B-A8B4-5DC1-5799-6F86A5847246}"/>
              </a:ext>
            </a:extLst>
          </p:cNvPr>
          <p:cNvSpPr>
            <a:spLocks noGrp="1"/>
          </p:cNvSpPr>
          <p:nvPr>
            <p:ph type="ftr" sz="quarter" idx="3"/>
          </p:nvPr>
        </p:nvSpPr>
        <p:spPr/>
        <p:txBody>
          <a:bodyPr/>
          <a:lstStyle/>
          <a:p>
            <a:r>
              <a:rPr lang="sv-SE"/>
              <a:t>Karolinska Institutet - a medical university</a:t>
            </a:r>
            <a:endParaRPr lang="sv-SE" dirty="0"/>
          </a:p>
        </p:txBody>
      </p:sp>
      <p:sp>
        <p:nvSpPr>
          <p:cNvPr id="5" name="Date Placeholder 4">
            <a:extLst>
              <a:ext uri="{FF2B5EF4-FFF2-40B4-BE49-F238E27FC236}">
                <a16:creationId xmlns:a16="http://schemas.microsoft.com/office/drawing/2014/main" id="{555029A7-E0EE-2A53-E8BE-73F45AC49FF6}"/>
              </a:ext>
            </a:extLst>
          </p:cNvPr>
          <p:cNvSpPr>
            <a:spLocks noGrp="1"/>
          </p:cNvSpPr>
          <p:nvPr>
            <p:ph type="dt" sz="half" idx="10"/>
          </p:nvPr>
        </p:nvSpPr>
        <p:spPr/>
        <p:txBody>
          <a:bodyPr/>
          <a:lstStyle/>
          <a:p>
            <a:fld id="{0B99A5A2-19A1-4CFC-BFE3-8B9C2E2B5BE0}" type="datetime1">
              <a:rPr lang="en-GB" smtClean="0"/>
              <a:t>19/10/2026</a:t>
            </a:fld>
            <a:endParaRPr lang="sv-SE" dirty="0"/>
          </a:p>
        </p:txBody>
      </p:sp>
      <p:sp>
        <p:nvSpPr>
          <p:cNvPr id="6" name="Slide Number Placeholder 5">
            <a:extLst>
              <a:ext uri="{FF2B5EF4-FFF2-40B4-BE49-F238E27FC236}">
                <a16:creationId xmlns:a16="http://schemas.microsoft.com/office/drawing/2014/main" id="{66FBE737-5C92-CA3D-82DD-F6B37C2A2AAB}"/>
              </a:ext>
            </a:extLst>
          </p:cNvPr>
          <p:cNvSpPr>
            <a:spLocks noGrp="1"/>
          </p:cNvSpPr>
          <p:nvPr>
            <p:ph type="sldNum" sz="quarter" idx="12"/>
          </p:nvPr>
        </p:nvSpPr>
        <p:spPr/>
        <p:txBody>
          <a:bodyPr/>
          <a:lstStyle/>
          <a:p>
            <a:fld id="{15859C56-CB7E-413F-8971-4226A1EF6823}" type="slidenum">
              <a:rPr lang="sv-SE" smtClean="0"/>
              <a:pPr/>
              <a:t>11</a:t>
            </a:fld>
            <a:endParaRPr lang="sv-SE" dirty="0"/>
          </a:p>
        </p:txBody>
      </p:sp>
      <p:pic>
        <p:nvPicPr>
          <p:cNvPr id="7" name="Picture 6">
            <a:extLst>
              <a:ext uri="{FF2B5EF4-FFF2-40B4-BE49-F238E27FC236}">
                <a16:creationId xmlns:a16="http://schemas.microsoft.com/office/drawing/2014/main" id="{5DBC1602-C00D-5385-7FB8-EEA49CCEC871}"/>
              </a:ext>
            </a:extLst>
          </p:cNvPr>
          <p:cNvPicPr>
            <a:picLocks noChangeAspect="1"/>
          </p:cNvPicPr>
          <p:nvPr/>
        </p:nvPicPr>
        <p:blipFill>
          <a:blip r:embed="rId2"/>
          <a:srcRect t="47200" b="38800"/>
          <a:stretch>
            <a:fillRect/>
          </a:stretch>
        </p:blipFill>
        <p:spPr>
          <a:xfrm>
            <a:off x="1" y="987574"/>
            <a:ext cx="9144000" cy="853428"/>
          </a:xfrm>
          <a:prstGeom prst="rect">
            <a:avLst/>
          </a:prstGeom>
        </p:spPr>
      </p:pic>
      <p:sp>
        <p:nvSpPr>
          <p:cNvPr id="9" name="Rectangle 8">
            <a:extLst>
              <a:ext uri="{FF2B5EF4-FFF2-40B4-BE49-F238E27FC236}">
                <a16:creationId xmlns:a16="http://schemas.microsoft.com/office/drawing/2014/main" id="{C1225EED-32ED-B7AB-4232-FEA63891E1C4}"/>
              </a:ext>
            </a:extLst>
          </p:cNvPr>
          <p:cNvSpPr/>
          <p:nvPr/>
        </p:nvSpPr>
        <p:spPr bwMode="auto">
          <a:xfrm>
            <a:off x="2949525" y="1491630"/>
            <a:ext cx="5582915" cy="293366"/>
          </a:xfrm>
          <a:prstGeom prst="rect">
            <a:avLst/>
          </a:prstGeom>
          <a:solidFill>
            <a:schemeClr val="bg1"/>
          </a:solidFill>
          <a:ln w="63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err="1">
              <a:ln>
                <a:noFill/>
              </a:ln>
              <a:solidFill>
                <a:schemeClr val="bg1"/>
              </a:solidFill>
              <a:effectLst/>
              <a:latin typeface="+mn-lt"/>
            </a:endParaRPr>
          </a:p>
        </p:txBody>
      </p:sp>
      <p:pic>
        <p:nvPicPr>
          <p:cNvPr id="17" name="Picture 16" descr="Green Check Mark Symbol PNG Transparent Images Free Download ...">
            <a:extLst>
              <a:ext uri="{FF2B5EF4-FFF2-40B4-BE49-F238E27FC236}">
                <a16:creationId xmlns:a16="http://schemas.microsoft.com/office/drawing/2014/main" id="{E664727E-8455-A672-010F-5E6284566638}"/>
              </a:ext>
            </a:extLst>
          </p:cNvPr>
          <p:cNvPicPr>
            <a:picLocks noChangeAspect="1"/>
          </p:cNvPicPr>
          <p:nvPr/>
        </p:nvPicPr>
        <p:blipFill>
          <a:blip r:embed="rId3"/>
          <a:stretch>
            <a:fillRect/>
          </a:stretch>
        </p:blipFill>
        <p:spPr>
          <a:xfrm>
            <a:off x="3454514" y="1430345"/>
            <a:ext cx="261610" cy="261610"/>
          </a:xfrm>
          <a:prstGeom prst="rect">
            <a:avLst/>
          </a:prstGeom>
        </p:spPr>
      </p:pic>
      <p:pic>
        <p:nvPicPr>
          <p:cNvPr id="18" name="Picture 17" descr="Green Check Mark Symbol PNG Transparent Images Free Download ...">
            <a:extLst>
              <a:ext uri="{FF2B5EF4-FFF2-40B4-BE49-F238E27FC236}">
                <a16:creationId xmlns:a16="http://schemas.microsoft.com/office/drawing/2014/main" id="{34493437-6159-EEB5-DCE4-DAE81E77B8EF}"/>
              </a:ext>
            </a:extLst>
          </p:cNvPr>
          <p:cNvPicPr>
            <a:picLocks noChangeAspect="1"/>
          </p:cNvPicPr>
          <p:nvPr/>
        </p:nvPicPr>
        <p:blipFill>
          <a:blip r:embed="rId3"/>
          <a:stretch>
            <a:fillRect/>
          </a:stretch>
        </p:blipFill>
        <p:spPr>
          <a:xfrm>
            <a:off x="5296484" y="1419622"/>
            <a:ext cx="261610" cy="261610"/>
          </a:xfrm>
          <a:prstGeom prst="rect">
            <a:avLst/>
          </a:prstGeom>
        </p:spPr>
      </p:pic>
      <p:pic>
        <p:nvPicPr>
          <p:cNvPr id="19" name="Picture 18" descr="Green Check Mark Symbol PNG Transparent Images Free Download ...">
            <a:extLst>
              <a:ext uri="{FF2B5EF4-FFF2-40B4-BE49-F238E27FC236}">
                <a16:creationId xmlns:a16="http://schemas.microsoft.com/office/drawing/2014/main" id="{B166379E-9F4F-19DD-1752-BEB0F646FEE7}"/>
              </a:ext>
            </a:extLst>
          </p:cNvPr>
          <p:cNvPicPr>
            <a:picLocks noChangeAspect="1"/>
          </p:cNvPicPr>
          <p:nvPr/>
        </p:nvPicPr>
        <p:blipFill>
          <a:blip r:embed="rId3"/>
          <a:stretch>
            <a:fillRect/>
          </a:stretch>
        </p:blipFill>
        <p:spPr>
          <a:xfrm>
            <a:off x="7020272" y="1491630"/>
            <a:ext cx="261610" cy="261610"/>
          </a:xfrm>
          <a:prstGeom prst="rect">
            <a:avLst/>
          </a:prstGeom>
        </p:spPr>
      </p:pic>
      <p:sp>
        <p:nvSpPr>
          <p:cNvPr id="20" name="TextBox 19">
            <a:extLst>
              <a:ext uri="{FF2B5EF4-FFF2-40B4-BE49-F238E27FC236}">
                <a16:creationId xmlns:a16="http://schemas.microsoft.com/office/drawing/2014/main" id="{10F3779E-A075-3AD9-2F8B-BDF1D68BF597}"/>
              </a:ext>
            </a:extLst>
          </p:cNvPr>
          <p:cNvSpPr txBox="1"/>
          <p:nvPr/>
        </p:nvSpPr>
        <p:spPr>
          <a:xfrm>
            <a:off x="7223855" y="1420783"/>
            <a:ext cx="1778932" cy="400110"/>
          </a:xfrm>
          <a:prstGeom prst="rect">
            <a:avLst/>
          </a:prstGeom>
          <a:noFill/>
          <a:ln w="6350">
            <a:noFill/>
          </a:ln>
        </p:spPr>
        <p:txBody>
          <a:bodyPr wrap="square" rtlCol="0">
            <a:spAutoFit/>
          </a:bodyPr>
          <a:lstStyle/>
          <a:p>
            <a:pPr algn="l"/>
            <a:r>
              <a:rPr lang="en-US" sz="1000" dirty="0">
                <a:latin typeface="+mn-lt"/>
              </a:rPr>
              <a:t>Requires modification for fragmented RNA</a:t>
            </a:r>
          </a:p>
        </p:txBody>
      </p:sp>
    </p:spTree>
    <p:extLst>
      <p:ext uri="{BB962C8B-B14F-4D97-AF65-F5344CB8AC3E}">
        <p14:creationId xmlns:p14="http://schemas.microsoft.com/office/powerpoint/2010/main" val="1939790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7B712FD-FBD6-5056-0A3C-32AF006F9750}"/>
              </a:ext>
            </a:extLst>
          </p:cNvPr>
          <p:cNvSpPr>
            <a:spLocks noGrp="1"/>
          </p:cNvSpPr>
          <p:nvPr>
            <p:ph type="ftr" sz="quarter" idx="3"/>
          </p:nvPr>
        </p:nvSpPr>
        <p:spPr/>
        <p:txBody>
          <a:bodyPr/>
          <a:lstStyle/>
          <a:p>
            <a:r>
              <a:rPr lang="sv-SE"/>
              <a:t>Karolinska Institutet - a medical university</a:t>
            </a:r>
            <a:endParaRPr lang="sv-SE" dirty="0"/>
          </a:p>
        </p:txBody>
      </p:sp>
      <p:sp>
        <p:nvSpPr>
          <p:cNvPr id="5" name="Date Placeholder 4">
            <a:extLst>
              <a:ext uri="{FF2B5EF4-FFF2-40B4-BE49-F238E27FC236}">
                <a16:creationId xmlns:a16="http://schemas.microsoft.com/office/drawing/2014/main" id="{4BBB9625-B125-0FE3-A5C7-4CF981191671}"/>
              </a:ext>
            </a:extLst>
          </p:cNvPr>
          <p:cNvSpPr>
            <a:spLocks noGrp="1"/>
          </p:cNvSpPr>
          <p:nvPr>
            <p:ph type="dt" sz="half" idx="10"/>
          </p:nvPr>
        </p:nvSpPr>
        <p:spPr/>
        <p:txBody>
          <a:bodyPr/>
          <a:lstStyle/>
          <a:p>
            <a:fld id="{0B99A5A2-19A1-4CFC-BFE3-8B9C2E2B5BE0}" type="datetime1">
              <a:rPr lang="en-GB" smtClean="0"/>
              <a:t>19/10/2026</a:t>
            </a:fld>
            <a:endParaRPr lang="sv-SE" dirty="0"/>
          </a:p>
        </p:txBody>
      </p:sp>
      <p:sp>
        <p:nvSpPr>
          <p:cNvPr id="6" name="Slide Number Placeholder 5">
            <a:extLst>
              <a:ext uri="{FF2B5EF4-FFF2-40B4-BE49-F238E27FC236}">
                <a16:creationId xmlns:a16="http://schemas.microsoft.com/office/drawing/2014/main" id="{241988C7-EFAA-F226-CFD7-4367D1F4FFD2}"/>
              </a:ext>
            </a:extLst>
          </p:cNvPr>
          <p:cNvSpPr>
            <a:spLocks noGrp="1"/>
          </p:cNvSpPr>
          <p:nvPr>
            <p:ph type="sldNum" sz="quarter" idx="12"/>
          </p:nvPr>
        </p:nvSpPr>
        <p:spPr/>
        <p:txBody>
          <a:bodyPr/>
          <a:lstStyle/>
          <a:p>
            <a:fld id="{15859C56-CB7E-413F-8971-4226A1EF6823}" type="slidenum">
              <a:rPr lang="sv-SE" smtClean="0"/>
              <a:pPr/>
              <a:t>12</a:t>
            </a:fld>
            <a:endParaRPr lang="sv-SE" dirty="0"/>
          </a:p>
        </p:txBody>
      </p:sp>
      <p:pic>
        <p:nvPicPr>
          <p:cNvPr id="9" name="Picture 8">
            <a:extLst>
              <a:ext uri="{FF2B5EF4-FFF2-40B4-BE49-F238E27FC236}">
                <a16:creationId xmlns:a16="http://schemas.microsoft.com/office/drawing/2014/main" id="{7E27A644-FE8F-E08A-231F-76C4F34464E0}"/>
              </a:ext>
            </a:extLst>
          </p:cNvPr>
          <p:cNvPicPr>
            <a:picLocks noChangeAspect="1"/>
          </p:cNvPicPr>
          <p:nvPr/>
        </p:nvPicPr>
        <p:blipFill>
          <a:blip r:embed="rId2"/>
          <a:srcRect b="11740"/>
          <a:stretch>
            <a:fillRect/>
          </a:stretch>
        </p:blipFill>
        <p:spPr>
          <a:xfrm>
            <a:off x="1023007" y="267494"/>
            <a:ext cx="7097985" cy="4176464"/>
          </a:xfrm>
          <a:prstGeom prst="rect">
            <a:avLst/>
          </a:prstGeom>
        </p:spPr>
      </p:pic>
      <p:sp>
        <p:nvSpPr>
          <p:cNvPr id="2" name="Rectangle 1">
            <a:extLst>
              <a:ext uri="{FF2B5EF4-FFF2-40B4-BE49-F238E27FC236}">
                <a16:creationId xmlns:a16="http://schemas.microsoft.com/office/drawing/2014/main" id="{314C6990-E528-99A6-0950-446373F73AB0}"/>
              </a:ext>
            </a:extLst>
          </p:cNvPr>
          <p:cNvSpPr/>
          <p:nvPr/>
        </p:nvSpPr>
        <p:spPr bwMode="auto">
          <a:xfrm>
            <a:off x="827583" y="1851670"/>
            <a:ext cx="7700863" cy="2592288"/>
          </a:xfrm>
          <a:prstGeom prst="rect">
            <a:avLst/>
          </a:prstGeom>
          <a:solidFill>
            <a:schemeClr val="bg1"/>
          </a:solidFill>
          <a:ln w="63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err="1">
              <a:ln>
                <a:noFill/>
              </a:ln>
              <a:solidFill>
                <a:schemeClr val="bg1"/>
              </a:solidFill>
              <a:effectLst/>
              <a:latin typeface="+mn-lt"/>
            </a:endParaRPr>
          </a:p>
        </p:txBody>
      </p:sp>
      <p:pic>
        <p:nvPicPr>
          <p:cNvPr id="7" name="Picture 6" descr="Moore's law in single cell transcriptomics (image taken from [Svensson et al](https://arxiv.org/abs/1704.01379))">
            <a:extLst>
              <a:ext uri="{FF2B5EF4-FFF2-40B4-BE49-F238E27FC236}">
                <a16:creationId xmlns:a16="http://schemas.microsoft.com/office/drawing/2014/main" id="{6F43FDC2-64BD-EAE1-D716-231A346E0A34}"/>
              </a:ext>
            </a:extLst>
          </p:cNvPr>
          <p:cNvPicPr>
            <a:picLocks noChangeAspect="1"/>
          </p:cNvPicPr>
          <p:nvPr/>
        </p:nvPicPr>
        <p:blipFill>
          <a:blip r:embed="rId3"/>
          <a:stretch>
            <a:fillRect/>
          </a:stretch>
        </p:blipFill>
        <p:spPr>
          <a:xfrm>
            <a:off x="1657907" y="1936461"/>
            <a:ext cx="5480447" cy="2678576"/>
          </a:xfrm>
          <a:prstGeom prst="rect">
            <a:avLst/>
          </a:prstGeom>
        </p:spPr>
      </p:pic>
      <p:sp>
        <p:nvSpPr>
          <p:cNvPr id="8" name="Rectangle 7">
            <a:extLst>
              <a:ext uri="{FF2B5EF4-FFF2-40B4-BE49-F238E27FC236}">
                <a16:creationId xmlns:a16="http://schemas.microsoft.com/office/drawing/2014/main" id="{C0E8089E-3E09-544C-B609-2709E451D49B}"/>
              </a:ext>
            </a:extLst>
          </p:cNvPr>
          <p:cNvSpPr/>
          <p:nvPr/>
        </p:nvSpPr>
        <p:spPr bwMode="auto">
          <a:xfrm>
            <a:off x="941884" y="699542"/>
            <a:ext cx="7700863" cy="1236919"/>
          </a:xfrm>
          <a:prstGeom prst="rect">
            <a:avLst/>
          </a:prstGeom>
          <a:solidFill>
            <a:schemeClr val="bg1"/>
          </a:solidFill>
          <a:ln w="63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err="1">
              <a:ln>
                <a:noFill/>
              </a:ln>
              <a:solidFill>
                <a:schemeClr val="bg1"/>
              </a:solidFill>
              <a:effectLst/>
              <a:latin typeface="+mn-lt"/>
            </a:endParaRPr>
          </a:p>
        </p:txBody>
      </p:sp>
    </p:spTree>
    <p:extLst>
      <p:ext uri="{BB962C8B-B14F-4D97-AF65-F5344CB8AC3E}">
        <p14:creationId xmlns:p14="http://schemas.microsoft.com/office/powerpoint/2010/main" val="1980935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1" nodeType="clickEffect">
                                  <p:stCondLst>
                                    <p:cond delay="0"/>
                                  </p:stCondLst>
                                  <p:childTnLst>
                                    <p:animEffect transition="out" filter="blinds(horizontal)">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3" presetClass="exit" presetSubtype="10" fill="hold" grpId="0" nodeType="clickEffect">
                                  <p:stCondLst>
                                    <p:cond delay="0"/>
                                  </p:stCondLst>
                                  <p:childTnLst>
                                    <p:animEffect transition="out" filter="blinds(horizontal)">
                                      <p:cBhvr>
                                        <p:cTn id="16" dur="500"/>
                                        <p:tgtEl>
                                          <p:spTgt spid="2"/>
                                        </p:tgtEl>
                                      </p:cBhvr>
                                    </p:animEffect>
                                    <p:set>
                                      <p:cBhvr>
                                        <p:cTn id="17" dur="1" fill="hold">
                                          <p:stCondLst>
                                            <p:cond delay="499"/>
                                          </p:stCondLst>
                                        </p:cTn>
                                        <p:tgtEl>
                                          <p:spTgt spid="2"/>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grpId="0" nodeType="clickEffect">
                                  <p:stCondLst>
                                    <p:cond delay="0"/>
                                  </p:stCondLst>
                                  <p:childTnLst>
                                    <p:animEffect transition="out" filter="blinds(horizontal)">
                                      <p:cBhvr>
                                        <p:cTn id="21" dur="500"/>
                                        <p:tgtEl>
                                          <p:spTgt spid="8"/>
                                        </p:tgtEl>
                                      </p:cBhvr>
                                    </p:animEffect>
                                    <p:set>
                                      <p:cBhvr>
                                        <p:cTn id="22"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8"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99B4839-878E-D5EC-7FC3-B9538D283F93}"/>
              </a:ext>
            </a:extLst>
          </p:cNvPr>
          <p:cNvPicPr>
            <a:picLocks noChangeAspect="1"/>
          </p:cNvPicPr>
          <p:nvPr/>
        </p:nvPicPr>
        <p:blipFill>
          <a:blip r:embed="rId2"/>
          <a:stretch>
            <a:fillRect/>
          </a:stretch>
        </p:blipFill>
        <p:spPr>
          <a:xfrm>
            <a:off x="714375" y="0"/>
            <a:ext cx="7386017" cy="4924011"/>
          </a:xfrm>
          <a:prstGeom prst="rect">
            <a:avLst/>
          </a:prstGeom>
        </p:spPr>
      </p:pic>
      <p:sp>
        <p:nvSpPr>
          <p:cNvPr id="4" name="Footer Placeholder 3">
            <a:extLst>
              <a:ext uri="{FF2B5EF4-FFF2-40B4-BE49-F238E27FC236}">
                <a16:creationId xmlns:a16="http://schemas.microsoft.com/office/drawing/2014/main" id="{4F6A2C79-CD27-5B76-5386-2EBED6DBA128}"/>
              </a:ext>
            </a:extLst>
          </p:cNvPr>
          <p:cNvSpPr>
            <a:spLocks noGrp="1"/>
          </p:cNvSpPr>
          <p:nvPr>
            <p:ph type="ftr" sz="quarter" idx="3"/>
          </p:nvPr>
        </p:nvSpPr>
        <p:spPr/>
        <p:txBody>
          <a:bodyPr/>
          <a:lstStyle/>
          <a:p>
            <a:r>
              <a:rPr lang="sv-SE"/>
              <a:t>Karolinska Institutet - a medical university</a:t>
            </a:r>
            <a:endParaRPr lang="sv-SE" dirty="0"/>
          </a:p>
        </p:txBody>
      </p:sp>
      <p:sp>
        <p:nvSpPr>
          <p:cNvPr id="5" name="Date Placeholder 4">
            <a:extLst>
              <a:ext uri="{FF2B5EF4-FFF2-40B4-BE49-F238E27FC236}">
                <a16:creationId xmlns:a16="http://schemas.microsoft.com/office/drawing/2014/main" id="{4C648879-D04B-80E7-8CC6-6B74A30A4580}"/>
              </a:ext>
            </a:extLst>
          </p:cNvPr>
          <p:cNvSpPr>
            <a:spLocks noGrp="1"/>
          </p:cNvSpPr>
          <p:nvPr>
            <p:ph type="dt" sz="half" idx="10"/>
          </p:nvPr>
        </p:nvSpPr>
        <p:spPr/>
        <p:txBody>
          <a:bodyPr/>
          <a:lstStyle/>
          <a:p>
            <a:fld id="{0B99A5A2-19A1-4CFC-BFE3-8B9C2E2B5BE0}" type="datetime1">
              <a:rPr lang="en-GB" smtClean="0"/>
              <a:t>19/10/2026</a:t>
            </a:fld>
            <a:endParaRPr lang="sv-SE" dirty="0"/>
          </a:p>
        </p:txBody>
      </p:sp>
      <p:sp>
        <p:nvSpPr>
          <p:cNvPr id="6" name="Slide Number Placeholder 5">
            <a:extLst>
              <a:ext uri="{FF2B5EF4-FFF2-40B4-BE49-F238E27FC236}">
                <a16:creationId xmlns:a16="http://schemas.microsoft.com/office/drawing/2014/main" id="{8937A8E4-0092-12D2-FFC9-6180598612EC}"/>
              </a:ext>
            </a:extLst>
          </p:cNvPr>
          <p:cNvSpPr>
            <a:spLocks noGrp="1"/>
          </p:cNvSpPr>
          <p:nvPr>
            <p:ph type="sldNum" sz="quarter" idx="12"/>
          </p:nvPr>
        </p:nvSpPr>
        <p:spPr/>
        <p:txBody>
          <a:bodyPr/>
          <a:lstStyle/>
          <a:p>
            <a:fld id="{15859C56-CB7E-413F-8971-4226A1EF6823}" type="slidenum">
              <a:rPr lang="sv-SE" smtClean="0"/>
              <a:pPr/>
              <a:t>13</a:t>
            </a:fld>
            <a:endParaRPr lang="sv-SE" dirty="0"/>
          </a:p>
        </p:txBody>
      </p:sp>
      <p:sp>
        <p:nvSpPr>
          <p:cNvPr id="2" name="Rectangle 1">
            <a:extLst>
              <a:ext uri="{FF2B5EF4-FFF2-40B4-BE49-F238E27FC236}">
                <a16:creationId xmlns:a16="http://schemas.microsoft.com/office/drawing/2014/main" id="{6AE011A9-911F-931E-A41A-8B10AC2935DD}"/>
              </a:ext>
            </a:extLst>
          </p:cNvPr>
          <p:cNvSpPr/>
          <p:nvPr/>
        </p:nvSpPr>
        <p:spPr bwMode="auto">
          <a:xfrm>
            <a:off x="556951" y="2715766"/>
            <a:ext cx="7700863" cy="2072467"/>
          </a:xfrm>
          <a:prstGeom prst="rect">
            <a:avLst/>
          </a:prstGeom>
          <a:solidFill>
            <a:schemeClr val="bg1"/>
          </a:solidFill>
          <a:ln w="63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err="1">
              <a:ln>
                <a:noFill/>
              </a:ln>
              <a:solidFill>
                <a:schemeClr val="bg1"/>
              </a:solidFill>
              <a:effectLst/>
              <a:latin typeface="+mn-lt"/>
            </a:endParaRPr>
          </a:p>
        </p:txBody>
      </p:sp>
    </p:spTree>
    <p:extLst>
      <p:ext uri="{BB962C8B-B14F-4D97-AF65-F5344CB8AC3E}">
        <p14:creationId xmlns:p14="http://schemas.microsoft.com/office/powerpoint/2010/main" val="4122757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049D5F6-95B6-F78D-650B-7305BA9F2831}"/>
              </a:ext>
            </a:extLst>
          </p:cNvPr>
          <p:cNvSpPr>
            <a:spLocks noGrp="1"/>
          </p:cNvSpPr>
          <p:nvPr>
            <p:ph type="ftr" sz="quarter" idx="3"/>
          </p:nvPr>
        </p:nvSpPr>
        <p:spPr/>
        <p:txBody>
          <a:bodyPr/>
          <a:lstStyle/>
          <a:p>
            <a:r>
              <a:rPr lang="sv-SE"/>
              <a:t>Karolinska Institutet - a medical university</a:t>
            </a:r>
            <a:endParaRPr lang="sv-SE" dirty="0"/>
          </a:p>
        </p:txBody>
      </p:sp>
      <p:sp>
        <p:nvSpPr>
          <p:cNvPr id="5" name="Date Placeholder 4">
            <a:extLst>
              <a:ext uri="{FF2B5EF4-FFF2-40B4-BE49-F238E27FC236}">
                <a16:creationId xmlns:a16="http://schemas.microsoft.com/office/drawing/2014/main" id="{A46EE437-3414-DE0C-BF26-45EAFBA2DAD6}"/>
              </a:ext>
            </a:extLst>
          </p:cNvPr>
          <p:cNvSpPr>
            <a:spLocks noGrp="1"/>
          </p:cNvSpPr>
          <p:nvPr>
            <p:ph type="dt" sz="half" idx="10"/>
          </p:nvPr>
        </p:nvSpPr>
        <p:spPr/>
        <p:txBody>
          <a:bodyPr/>
          <a:lstStyle/>
          <a:p>
            <a:fld id="{0B99A5A2-19A1-4CFC-BFE3-8B9C2E2B5BE0}" type="datetime1">
              <a:rPr lang="en-GB" smtClean="0"/>
              <a:t>19/10/2026</a:t>
            </a:fld>
            <a:endParaRPr lang="sv-SE" dirty="0"/>
          </a:p>
        </p:txBody>
      </p:sp>
      <p:sp>
        <p:nvSpPr>
          <p:cNvPr id="6" name="Slide Number Placeholder 5">
            <a:extLst>
              <a:ext uri="{FF2B5EF4-FFF2-40B4-BE49-F238E27FC236}">
                <a16:creationId xmlns:a16="http://schemas.microsoft.com/office/drawing/2014/main" id="{854E24AC-F650-84B8-1118-71C0BE42AE05}"/>
              </a:ext>
            </a:extLst>
          </p:cNvPr>
          <p:cNvSpPr>
            <a:spLocks noGrp="1"/>
          </p:cNvSpPr>
          <p:nvPr>
            <p:ph type="sldNum" sz="quarter" idx="12"/>
          </p:nvPr>
        </p:nvSpPr>
        <p:spPr/>
        <p:txBody>
          <a:bodyPr/>
          <a:lstStyle/>
          <a:p>
            <a:fld id="{15859C56-CB7E-413F-8971-4226A1EF6823}" type="slidenum">
              <a:rPr lang="sv-SE" smtClean="0"/>
              <a:pPr/>
              <a:t>14</a:t>
            </a:fld>
            <a:endParaRPr lang="sv-SE" dirty="0"/>
          </a:p>
        </p:txBody>
      </p:sp>
      <p:pic>
        <p:nvPicPr>
          <p:cNvPr id="2" name="Picture 1">
            <a:extLst>
              <a:ext uri="{FF2B5EF4-FFF2-40B4-BE49-F238E27FC236}">
                <a16:creationId xmlns:a16="http://schemas.microsoft.com/office/drawing/2014/main" id="{5CCF4FB5-F088-F4F2-50E0-D3ACEC15E7ED}"/>
              </a:ext>
            </a:extLst>
          </p:cNvPr>
          <p:cNvPicPr>
            <a:picLocks noChangeAspect="1"/>
          </p:cNvPicPr>
          <p:nvPr/>
        </p:nvPicPr>
        <p:blipFill>
          <a:blip r:embed="rId2"/>
          <a:stretch>
            <a:fillRect/>
          </a:stretch>
        </p:blipFill>
        <p:spPr>
          <a:xfrm>
            <a:off x="1023007" y="0"/>
            <a:ext cx="7097985" cy="4731990"/>
          </a:xfrm>
          <a:prstGeom prst="rect">
            <a:avLst/>
          </a:prstGeom>
        </p:spPr>
      </p:pic>
    </p:spTree>
    <p:extLst>
      <p:ext uri="{BB962C8B-B14F-4D97-AF65-F5344CB8AC3E}">
        <p14:creationId xmlns:p14="http://schemas.microsoft.com/office/powerpoint/2010/main" val="9253930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EFA8367-5698-4F1D-B53D-07682085336B}"/>
              </a:ext>
            </a:extLst>
          </p:cNvPr>
          <p:cNvSpPr>
            <a:spLocks noGrp="1"/>
          </p:cNvSpPr>
          <p:nvPr>
            <p:ph type="ftr" sz="quarter" idx="3"/>
          </p:nvPr>
        </p:nvSpPr>
        <p:spPr/>
        <p:txBody>
          <a:bodyPr/>
          <a:lstStyle/>
          <a:p>
            <a:r>
              <a:rPr lang="sv-SE"/>
              <a:t>Karolinska Institutet - a medical university</a:t>
            </a:r>
            <a:endParaRPr lang="sv-SE" dirty="0"/>
          </a:p>
        </p:txBody>
      </p:sp>
      <p:sp>
        <p:nvSpPr>
          <p:cNvPr id="5" name="Date Placeholder 4">
            <a:extLst>
              <a:ext uri="{FF2B5EF4-FFF2-40B4-BE49-F238E27FC236}">
                <a16:creationId xmlns:a16="http://schemas.microsoft.com/office/drawing/2014/main" id="{2EFAEB9F-359D-63A2-085A-9DB5B66676C2}"/>
              </a:ext>
            </a:extLst>
          </p:cNvPr>
          <p:cNvSpPr>
            <a:spLocks noGrp="1"/>
          </p:cNvSpPr>
          <p:nvPr>
            <p:ph type="dt" sz="half" idx="10"/>
          </p:nvPr>
        </p:nvSpPr>
        <p:spPr/>
        <p:txBody>
          <a:bodyPr/>
          <a:lstStyle/>
          <a:p>
            <a:fld id="{0B99A5A2-19A1-4CFC-BFE3-8B9C2E2B5BE0}" type="datetime1">
              <a:rPr lang="en-GB" smtClean="0"/>
              <a:t>19/10/2026</a:t>
            </a:fld>
            <a:endParaRPr lang="sv-SE" dirty="0"/>
          </a:p>
        </p:txBody>
      </p:sp>
      <p:sp>
        <p:nvSpPr>
          <p:cNvPr id="6" name="Slide Number Placeholder 5">
            <a:extLst>
              <a:ext uri="{FF2B5EF4-FFF2-40B4-BE49-F238E27FC236}">
                <a16:creationId xmlns:a16="http://schemas.microsoft.com/office/drawing/2014/main" id="{C5409D91-2177-2239-E0C6-D22CD8EAD211}"/>
              </a:ext>
            </a:extLst>
          </p:cNvPr>
          <p:cNvSpPr>
            <a:spLocks noGrp="1"/>
          </p:cNvSpPr>
          <p:nvPr>
            <p:ph type="sldNum" sz="quarter" idx="12"/>
          </p:nvPr>
        </p:nvSpPr>
        <p:spPr/>
        <p:txBody>
          <a:bodyPr/>
          <a:lstStyle/>
          <a:p>
            <a:fld id="{15859C56-CB7E-413F-8971-4226A1EF6823}" type="slidenum">
              <a:rPr lang="sv-SE" smtClean="0"/>
              <a:pPr/>
              <a:t>15</a:t>
            </a:fld>
            <a:endParaRPr lang="sv-SE" dirty="0"/>
          </a:p>
        </p:txBody>
      </p:sp>
      <p:pic>
        <p:nvPicPr>
          <p:cNvPr id="7" name="Picture 6">
            <a:extLst>
              <a:ext uri="{FF2B5EF4-FFF2-40B4-BE49-F238E27FC236}">
                <a16:creationId xmlns:a16="http://schemas.microsoft.com/office/drawing/2014/main" id="{E029A9B4-29FB-8AD3-03DE-E86580103705}"/>
              </a:ext>
            </a:extLst>
          </p:cNvPr>
          <p:cNvPicPr>
            <a:picLocks noChangeAspect="1"/>
          </p:cNvPicPr>
          <p:nvPr/>
        </p:nvPicPr>
        <p:blipFill>
          <a:blip r:embed="rId2"/>
          <a:srcRect t="47201" b="26812"/>
          <a:stretch>
            <a:fillRect/>
          </a:stretch>
        </p:blipFill>
        <p:spPr>
          <a:xfrm>
            <a:off x="1" y="987574"/>
            <a:ext cx="9144000" cy="1584176"/>
          </a:xfrm>
          <a:prstGeom prst="rect">
            <a:avLst/>
          </a:prstGeom>
        </p:spPr>
      </p:pic>
      <p:sp>
        <p:nvSpPr>
          <p:cNvPr id="8" name="Rectangle 7">
            <a:extLst>
              <a:ext uri="{FF2B5EF4-FFF2-40B4-BE49-F238E27FC236}">
                <a16:creationId xmlns:a16="http://schemas.microsoft.com/office/drawing/2014/main" id="{8CD54E4F-C252-CEBE-5138-63E91FBB2BD9}"/>
              </a:ext>
            </a:extLst>
          </p:cNvPr>
          <p:cNvSpPr/>
          <p:nvPr/>
        </p:nvSpPr>
        <p:spPr bwMode="auto">
          <a:xfrm>
            <a:off x="2949525" y="1491630"/>
            <a:ext cx="5582915" cy="293366"/>
          </a:xfrm>
          <a:prstGeom prst="rect">
            <a:avLst/>
          </a:prstGeom>
          <a:solidFill>
            <a:schemeClr val="bg1"/>
          </a:solidFill>
          <a:ln w="63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err="1">
              <a:ln>
                <a:noFill/>
              </a:ln>
              <a:solidFill>
                <a:schemeClr val="bg1"/>
              </a:solidFill>
              <a:effectLst/>
              <a:latin typeface="+mn-lt"/>
            </a:endParaRPr>
          </a:p>
        </p:txBody>
      </p:sp>
      <p:sp>
        <p:nvSpPr>
          <p:cNvPr id="13" name="Rectangle 12">
            <a:extLst>
              <a:ext uri="{FF2B5EF4-FFF2-40B4-BE49-F238E27FC236}">
                <a16:creationId xmlns:a16="http://schemas.microsoft.com/office/drawing/2014/main" id="{47322CCA-0EFE-6DC9-DC48-3ADD02C44334}"/>
              </a:ext>
            </a:extLst>
          </p:cNvPr>
          <p:cNvSpPr/>
          <p:nvPr/>
        </p:nvSpPr>
        <p:spPr bwMode="auto">
          <a:xfrm>
            <a:off x="3131840" y="1840996"/>
            <a:ext cx="5582915" cy="743598"/>
          </a:xfrm>
          <a:prstGeom prst="rect">
            <a:avLst/>
          </a:prstGeom>
          <a:solidFill>
            <a:schemeClr val="bg1"/>
          </a:solidFill>
          <a:ln w="63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err="1">
              <a:ln>
                <a:noFill/>
              </a:ln>
              <a:solidFill>
                <a:schemeClr val="bg1"/>
              </a:solidFill>
              <a:effectLst/>
              <a:latin typeface="+mn-lt"/>
            </a:endParaRPr>
          </a:p>
        </p:txBody>
      </p:sp>
      <p:pic>
        <p:nvPicPr>
          <p:cNvPr id="29" name="Picture 28" descr="Green Check Mark Symbol PNG Transparent Images Free Download ...">
            <a:extLst>
              <a:ext uri="{FF2B5EF4-FFF2-40B4-BE49-F238E27FC236}">
                <a16:creationId xmlns:a16="http://schemas.microsoft.com/office/drawing/2014/main" id="{48F3A685-9E8B-0E0E-0118-34EA18EE7D4C}"/>
              </a:ext>
            </a:extLst>
          </p:cNvPr>
          <p:cNvPicPr>
            <a:picLocks noChangeAspect="1"/>
          </p:cNvPicPr>
          <p:nvPr/>
        </p:nvPicPr>
        <p:blipFill>
          <a:blip r:embed="rId3"/>
          <a:stretch>
            <a:fillRect/>
          </a:stretch>
        </p:blipFill>
        <p:spPr>
          <a:xfrm>
            <a:off x="3437812" y="1806084"/>
            <a:ext cx="261610" cy="261610"/>
          </a:xfrm>
          <a:prstGeom prst="rect">
            <a:avLst/>
          </a:prstGeom>
        </p:spPr>
      </p:pic>
      <p:pic>
        <p:nvPicPr>
          <p:cNvPr id="30" name="Picture 29" descr="Green Check Mark Symbol PNG Transparent Images Free Download ...">
            <a:extLst>
              <a:ext uri="{FF2B5EF4-FFF2-40B4-BE49-F238E27FC236}">
                <a16:creationId xmlns:a16="http://schemas.microsoft.com/office/drawing/2014/main" id="{B510B738-CD55-D91E-AE77-B1AC66B59539}"/>
              </a:ext>
            </a:extLst>
          </p:cNvPr>
          <p:cNvPicPr>
            <a:picLocks noChangeAspect="1"/>
          </p:cNvPicPr>
          <p:nvPr/>
        </p:nvPicPr>
        <p:blipFill>
          <a:blip r:embed="rId3"/>
          <a:stretch>
            <a:fillRect/>
          </a:stretch>
        </p:blipFill>
        <p:spPr>
          <a:xfrm>
            <a:off x="3419872" y="2067694"/>
            <a:ext cx="261610" cy="261610"/>
          </a:xfrm>
          <a:prstGeom prst="rect">
            <a:avLst/>
          </a:prstGeom>
        </p:spPr>
      </p:pic>
      <p:pic>
        <p:nvPicPr>
          <p:cNvPr id="31" name="Picture 30" descr="Green Check Mark Symbol PNG Transparent Images Free Download ...">
            <a:extLst>
              <a:ext uri="{FF2B5EF4-FFF2-40B4-BE49-F238E27FC236}">
                <a16:creationId xmlns:a16="http://schemas.microsoft.com/office/drawing/2014/main" id="{1698B200-924E-02B3-B028-7D50F1B7625A}"/>
              </a:ext>
            </a:extLst>
          </p:cNvPr>
          <p:cNvPicPr>
            <a:picLocks noChangeAspect="1"/>
          </p:cNvPicPr>
          <p:nvPr/>
        </p:nvPicPr>
        <p:blipFill>
          <a:blip r:embed="rId3"/>
          <a:stretch>
            <a:fillRect/>
          </a:stretch>
        </p:blipFill>
        <p:spPr>
          <a:xfrm>
            <a:off x="3419872" y="2283718"/>
            <a:ext cx="261610" cy="261610"/>
          </a:xfrm>
          <a:prstGeom prst="rect">
            <a:avLst/>
          </a:prstGeom>
        </p:spPr>
      </p:pic>
      <p:pic>
        <p:nvPicPr>
          <p:cNvPr id="32" name="Picture 31" descr="Green Check Mark Symbol PNG Transparent Images Free Download ...">
            <a:extLst>
              <a:ext uri="{FF2B5EF4-FFF2-40B4-BE49-F238E27FC236}">
                <a16:creationId xmlns:a16="http://schemas.microsoft.com/office/drawing/2014/main" id="{701D3EB3-94FF-A19A-9FF5-8DB8CECB6C69}"/>
              </a:ext>
            </a:extLst>
          </p:cNvPr>
          <p:cNvPicPr>
            <a:picLocks noChangeAspect="1"/>
          </p:cNvPicPr>
          <p:nvPr/>
        </p:nvPicPr>
        <p:blipFill>
          <a:blip r:embed="rId3"/>
          <a:stretch>
            <a:fillRect/>
          </a:stretch>
        </p:blipFill>
        <p:spPr>
          <a:xfrm>
            <a:off x="5292080" y="1806084"/>
            <a:ext cx="261610" cy="261610"/>
          </a:xfrm>
          <a:prstGeom prst="rect">
            <a:avLst/>
          </a:prstGeom>
        </p:spPr>
      </p:pic>
      <p:sp>
        <p:nvSpPr>
          <p:cNvPr id="33" name="TextBox 32">
            <a:extLst>
              <a:ext uri="{FF2B5EF4-FFF2-40B4-BE49-F238E27FC236}">
                <a16:creationId xmlns:a16="http://schemas.microsoft.com/office/drawing/2014/main" id="{F1B45580-AFD9-262A-C9F5-49C2390F7D39}"/>
              </a:ext>
            </a:extLst>
          </p:cNvPr>
          <p:cNvSpPr txBox="1"/>
          <p:nvPr/>
        </p:nvSpPr>
        <p:spPr>
          <a:xfrm>
            <a:off x="5175795" y="2067694"/>
            <a:ext cx="771191" cy="261610"/>
          </a:xfrm>
          <a:prstGeom prst="rect">
            <a:avLst/>
          </a:prstGeom>
          <a:noFill/>
          <a:ln w="6350">
            <a:noFill/>
          </a:ln>
        </p:spPr>
        <p:txBody>
          <a:bodyPr wrap="square" rtlCol="0">
            <a:spAutoFit/>
          </a:bodyPr>
          <a:lstStyle/>
          <a:p>
            <a:pPr algn="l"/>
            <a:r>
              <a:rPr lang="en-US" sz="1100" dirty="0">
                <a:latin typeface="+mn-lt"/>
              </a:rPr>
              <a:t>Possible</a:t>
            </a:r>
          </a:p>
        </p:txBody>
      </p:sp>
      <p:sp>
        <p:nvSpPr>
          <p:cNvPr id="34" name="TextBox 33">
            <a:extLst>
              <a:ext uri="{FF2B5EF4-FFF2-40B4-BE49-F238E27FC236}">
                <a16:creationId xmlns:a16="http://schemas.microsoft.com/office/drawing/2014/main" id="{1AD831B2-2D78-CBF5-C37E-D81996A0716D}"/>
              </a:ext>
            </a:extLst>
          </p:cNvPr>
          <p:cNvSpPr txBox="1"/>
          <p:nvPr/>
        </p:nvSpPr>
        <p:spPr>
          <a:xfrm>
            <a:off x="5175795" y="2355726"/>
            <a:ext cx="771191" cy="261610"/>
          </a:xfrm>
          <a:prstGeom prst="rect">
            <a:avLst/>
          </a:prstGeom>
          <a:noFill/>
          <a:ln w="6350">
            <a:noFill/>
          </a:ln>
        </p:spPr>
        <p:txBody>
          <a:bodyPr wrap="square" rtlCol="0">
            <a:spAutoFit/>
          </a:bodyPr>
          <a:lstStyle/>
          <a:p>
            <a:pPr algn="l"/>
            <a:r>
              <a:rPr lang="en-US" sz="1100" dirty="0">
                <a:latin typeface="+mn-lt"/>
              </a:rPr>
              <a:t>Possible</a:t>
            </a:r>
          </a:p>
        </p:txBody>
      </p:sp>
      <p:sp>
        <p:nvSpPr>
          <p:cNvPr id="35" name="TextBox 34">
            <a:extLst>
              <a:ext uri="{FF2B5EF4-FFF2-40B4-BE49-F238E27FC236}">
                <a16:creationId xmlns:a16="http://schemas.microsoft.com/office/drawing/2014/main" id="{5D292D31-31F3-A6E6-A01E-4BE975D8E870}"/>
              </a:ext>
            </a:extLst>
          </p:cNvPr>
          <p:cNvSpPr txBox="1"/>
          <p:nvPr/>
        </p:nvSpPr>
        <p:spPr>
          <a:xfrm>
            <a:off x="7531190" y="1851670"/>
            <a:ext cx="1289281" cy="261610"/>
          </a:xfrm>
          <a:prstGeom prst="rect">
            <a:avLst/>
          </a:prstGeom>
          <a:noFill/>
          <a:ln w="6350">
            <a:noFill/>
          </a:ln>
        </p:spPr>
        <p:txBody>
          <a:bodyPr wrap="square" rtlCol="0">
            <a:spAutoFit/>
          </a:bodyPr>
          <a:lstStyle/>
          <a:p>
            <a:pPr algn="l"/>
            <a:r>
              <a:rPr lang="en-US" sz="1100" dirty="0">
                <a:latin typeface="+mn-lt"/>
              </a:rPr>
              <a:t>(Targeted panel)</a:t>
            </a:r>
          </a:p>
        </p:txBody>
      </p:sp>
      <p:pic>
        <p:nvPicPr>
          <p:cNvPr id="36" name="Picture 35" descr="Green Check Mark Symbol PNG Transparent Images Free Download ...">
            <a:extLst>
              <a:ext uri="{FF2B5EF4-FFF2-40B4-BE49-F238E27FC236}">
                <a16:creationId xmlns:a16="http://schemas.microsoft.com/office/drawing/2014/main" id="{672B52A7-EA51-A6CF-BB41-2C0FA38037B7}"/>
              </a:ext>
            </a:extLst>
          </p:cNvPr>
          <p:cNvPicPr>
            <a:picLocks noChangeAspect="1"/>
          </p:cNvPicPr>
          <p:nvPr/>
        </p:nvPicPr>
        <p:blipFill>
          <a:blip r:embed="rId3"/>
          <a:stretch>
            <a:fillRect/>
          </a:stretch>
        </p:blipFill>
        <p:spPr>
          <a:xfrm>
            <a:off x="7281548" y="1806084"/>
            <a:ext cx="261610" cy="261610"/>
          </a:xfrm>
          <a:prstGeom prst="rect">
            <a:avLst/>
          </a:prstGeom>
        </p:spPr>
      </p:pic>
      <p:sp>
        <p:nvSpPr>
          <p:cNvPr id="37" name="TextBox 36">
            <a:extLst>
              <a:ext uri="{FF2B5EF4-FFF2-40B4-BE49-F238E27FC236}">
                <a16:creationId xmlns:a16="http://schemas.microsoft.com/office/drawing/2014/main" id="{F17EC9F9-1193-60EA-3423-3F7A6B40619A}"/>
              </a:ext>
            </a:extLst>
          </p:cNvPr>
          <p:cNvSpPr txBox="1"/>
          <p:nvPr/>
        </p:nvSpPr>
        <p:spPr>
          <a:xfrm>
            <a:off x="5508104" y="1851670"/>
            <a:ext cx="771191" cy="261610"/>
          </a:xfrm>
          <a:prstGeom prst="rect">
            <a:avLst/>
          </a:prstGeom>
          <a:noFill/>
          <a:ln w="6350">
            <a:noFill/>
          </a:ln>
        </p:spPr>
        <p:txBody>
          <a:bodyPr wrap="square" rtlCol="0">
            <a:spAutoFit/>
          </a:bodyPr>
          <a:lstStyle/>
          <a:p>
            <a:pPr algn="l"/>
            <a:r>
              <a:rPr lang="en-US" sz="1100" dirty="0">
                <a:latin typeface="+mn-lt"/>
              </a:rPr>
              <a:t>(Nuclei)</a:t>
            </a:r>
          </a:p>
        </p:txBody>
      </p:sp>
      <p:pic>
        <p:nvPicPr>
          <p:cNvPr id="38" name="Picture 37" descr="Green Checkmark PNG Transparent Images Free Download | Vector Files |  Pngtree">
            <a:extLst>
              <a:ext uri="{FF2B5EF4-FFF2-40B4-BE49-F238E27FC236}">
                <a16:creationId xmlns:a16="http://schemas.microsoft.com/office/drawing/2014/main" id="{EABD9F2B-2CB2-53C6-101F-2F6EE3DB26E0}"/>
              </a:ext>
            </a:extLst>
          </p:cNvPr>
          <p:cNvPicPr>
            <a:picLocks noChangeAspect="1"/>
          </p:cNvPicPr>
          <p:nvPr/>
        </p:nvPicPr>
        <p:blipFill>
          <a:blip r:embed="rId4"/>
          <a:srcRect l="50000" t="31293" b="29447"/>
          <a:stretch>
            <a:fillRect/>
          </a:stretch>
        </p:blipFill>
        <p:spPr>
          <a:xfrm>
            <a:off x="8029982" y="2067694"/>
            <a:ext cx="257898" cy="202498"/>
          </a:xfrm>
          <a:prstGeom prst="rect">
            <a:avLst/>
          </a:prstGeom>
        </p:spPr>
      </p:pic>
      <p:pic>
        <p:nvPicPr>
          <p:cNvPr id="39" name="Picture 38" descr="Green Checkmark PNG Transparent Images Free Download | Vector Files |  Pngtree">
            <a:extLst>
              <a:ext uri="{FF2B5EF4-FFF2-40B4-BE49-F238E27FC236}">
                <a16:creationId xmlns:a16="http://schemas.microsoft.com/office/drawing/2014/main" id="{0E813F8F-D88E-D5A8-3953-A001B4613F70}"/>
              </a:ext>
            </a:extLst>
          </p:cNvPr>
          <p:cNvPicPr>
            <a:picLocks noChangeAspect="1"/>
          </p:cNvPicPr>
          <p:nvPr/>
        </p:nvPicPr>
        <p:blipFill>
          <a:blip r:embed="rId4"/>
          <a:srcRect l="50000" t="31293" b="29447"/>
          <a:stretch>
            <a:fillRect/>
          </a:stretch>
        </p:blipFill>
        <p:spPr>
          <a:xfrm>
            <a:off x="8034713" y="2311467"/>
            <a:ext cx="257898" cy="202498"/>
          </a:xfrm>
          <a:prstGeom prst="rect">
            <a:avLst/>
          </a:prstGeom>
        </p:spPr>
      </p:pic>
      <p:pic>
        <p:nvPicPr>
          <p:cNvPr id="40" name="Picture 39" descr="Green Check Mark Symbol PNG Transparent Images Free Download ...">
            <a:extLst>
              <a:ext uri="{FF2B5EF4-FFF2-40B4-BE49-F238E27FC236}">
                <a16:creationId xmlns:a16="http://schemas.microsoft.com/office/drawing/2014/main" id="{B7815D1E-DCD4-4FAF-BB13-2B1BB145DFC5}"/>
              </a:ext>
            </a:extLst>
          </p:cNvPr>
          <p:cNvPicPr>
            <a:picLocks noChangeAspect="1"/>
          </p:cNvPicPr>
          <p:nvPr/>
        </p:nvPicPr>
        <p:blipFill>
          <a:blip r:embed="rId3"/>
          <a:stretch>
            <a:fillRect/>
          </a:stretch>
        </p:blipFill>
        <p:spPr>
          <a:xfrm>
            <a:off x="3454514" y="1430345"/>
            <a:ext cx="261610" cy="261610"/>
          </a:xfrm>
          <a:prstGeom prst="rect">
            <a:avLst/>
          </a:prstGeom>
        </p:spPr>
      </p:pic>
      <p:pic>
        <p:nvPicPr>
          <p:cNvPr id="41" name="Picture 40" descr="Green Check Mark Symbol PNG Transparent Images Free Download ...">
            <a:extLst>
              <a:ext uri="{FF2B5EF4-FFF2-40B4-BE49-F238E27FC236}">
                <a16:creationId xmlns:a16="http://schemas.microsoft.com/office/drawing/2014/main" id="{7640D9B6-81E8-1173-E663-32AF16341EE4}"/>
              </a:ext>
            </a:extLst>
          </p:cNvPr>
          <p:cNvPicPr>
            <a:picLocks noChangeAspect="1"/>
          </p:cNvPicPr>
          <p:nvPr/>
        </p:nvPicPr>
        <p:blipFill>
          <a:blip r:embed="rId3"/>
          <a:stretch>
            <a:fillRect/>
          </a:stretch>
        </p:blipFill>
        <p:spPr>
          <a:xfrm>
            <a:off x="5296484" y="1419622"/>
            <a:ext cx="261610" cy="261610"/>
          </a:xfrm>
          <a:prstGeom prst="rect">
            <a:avLst/>
          </a:prstGeom>
        </p:spPr>
      </p:pic>
      <p:pic>
        <p:nvPicPr>
          <p:cNvPr id="42" name="Picture 41" descr="Green Check Mark Symbol PNG Transparent Images Free Download ...">
            <a:extLst>
              <a:ext uri="{FF2B5EF4-FFF2-40B4-BE49-F238E27FC236}">
                <a16:creationId xmlns:a16="http://schemas.microsoft.com/office/drawing/2014/main" id="{699C223E-0E95-1355-BCE3-DD896A9C4A0F}"/>
              </a:ext>
            </a:extLst>
          </p:cNvPr>
          <p:cNvPicPr>
            <a:picLocks noChangeAspect="1"/>
          </p:cNvPicPr>
          <p:nvPr/>
        </p:nvPicPr>
        <p:blipFill>
          <a:blip r:embed="rId3"/>
          <a:stretch>
            <a:fillRect/>
          </a:stretch>
        </p:blipFill>
        <p:spPr>
          <a:xfrm>
            <a:off x="7020272" y="1491630"/>
            <a:ext cx="261610" cy="261610"/>
          </a:xfrm>
          <a:prstGeom prst="rect">
            <a:avLst/>
          </a:prstGeom>
        </p:spPr>
      </p:pic>
      <p:sp>
        <p:nvSpPr>
          <p:cNvPr id="43" name="TextBox 42">
            <a:extLst>
              <a:ext uri="{FF2B5EF4-FFF2-40B4-BE49-F238E27FC236}">
                <a16:creationId xmlns:a16="http://schemas.microsoft.com/office/drawing/2014/main" id="{93A7238E-C9C7-C5B7-E4D7-C0B2413A1EE6}"/>
              </a:ext>
            </a:extLst>
          </p:cNvPr>
          <p:cNvSpPr txBox="1"/>
          <p:nvPr/>
        </p:nvSpPr>
        <p:spPr>
          <a:xfrm>
            <a:off x="7223855" y="1420783"/>
            <a:ext cx="1778932" cy="400110"/>
          </a:xfrm>
          <a:prstGeom prst="rect">
            <a:avLst/>
          </a:prstGeom>
          <a:noFill/>
          <a:ln w="6350">
            <a:noFill/>
          </a:ln>
        </p:spPr>
        <p:txBody>
          <a:bodyPr wrap="square" rtlCol="0">
            <a:spAutoFit/>
          </a:bodyPr>
          <a:lstStyle/>
          <a:p>
            <a:pPr algn="l"/>
            <a:r>
              <a:rPr lang="en-US" sz="1000" dirty="0">
                <a:latin typeface="+mn-lt"/>
              </a:rPr>
              <a:t>Requires modification for fragmented RNA</a:t>
            </a:r>
          </a:p>
        </p:txBody>
      </p:sp>
    </p:spTree>
    <p:extLst>
      <p:ext uri="{BB962C8B-B14F-4D97-AF65-F5344CB8AC3E}">
        <p14:creationId xmlns:p14="http://schemas.microsoft.com/office/powerpoint/2010/main" val="3153401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P spid="3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E1571EF-3910-E35F-310C-0226BB7B6B59}"/>
              </a:ext>
            </a:extLst>
          </p:cNvPr>
          <p:cNvSpPr>
            <a:spLocks noGrp="1"/>
          </p:cNvSpPr>
          <p:nvPr>
            <p:ph type="ftr" sz="quarter" idx="3"/>
          </p:nvPr>
        </p:nvSpPr>
        <p:spPr/>
        <p:txBody>
          <a:bodyPr/>
          <a:lstStyle/>
          <a:p>
            <a:r>
              <a:rPr lang="sv-SE"/>
              <a:t>Karolinska Institutet - a medical university</a:t>
            </a:r>
            <a:endParaRPr lang="sv-SE" dirty="0"/>
          </a:p>
        </p:txBody>
      </p:sp>
      <p:sp>
        <p:nvSpPr>
          <p:cNvPr id="5" name="Date Placeholder 4">
            <a:extLst>
              <a:ext uri="{FF2B5EF4-FFF2-40B4-BE49-F238E27FC236}">
                <a16:creationId xmlns:a16="http://schemas.microsoft.com/office/drawing/2014/main" id="{9D71881E-DFB1-88D9-EA77-94B77E689101}"/>
              </a:ext>
            </a:extLst>
          </p:cNvPr>
          <p:cNvSpPr>
            <a:spLocks noGrp="1"/>
          </p:cNvSpPr>
          <p:nvPr>
            <p:ph type="dt" sz="half" idx="10"/>
          </p:nvPr>
        </p:nvSpPr>
        <p:spPr/>
        <p:txBody>
          <a:bodyPr/>
          <a:lstStyle/>
          <a:p>
            <a:fld id="{0B99A5A2-19A1-4CFC-BFE3-8B9C2E2B5BE0}" type="datetime1">
              <a:rPr lang="en-GB" smtClean="0"/>
              <a:t>19/10/2026</a:t>
            </a:fld>
            <a:endParaRPr lang="sv-SE" dirty="0"/>
          </a:p>
        </p:txBody>
      </p:sp>
      <p:sp>
        <p:nvSpPr>
          <p:cNvPr id="6" name="Slide Number Placeholder 5">
            <a:extLst>
              <a:ext uri="{FF2B5EF4-FFF2-40B4-BE49-F238E27FC236}">
                <a16:creationId xmlns:a16="http://schemas.microsoft.com/office/drawing/2014/main" id="{40FEFB6D-4AB1-6C96-8622-E4FF9E04EFD0}"/>
              </a:ext>
            </a:extLst>
          </p:cNvPr>
          <p:cNvSpPr>
            <a:spLocks noGrp="1"/>
          </p:cNvSpPr>
          <p:nvPr>
            <p:ph type="sldNum" sz="quarter" idx="12"/>
          </p:nvPr>
        </p:nvSpPr>
        <p:spPr/>
        <p:txBody>
          <a:bodyPr/>
          <a:lstStyle/>
          <a:p>
            <a:fld id="{15859C56-CB7E-413F-8971-4226A1EF6823}" type="slidenum">
              <a:rPr lang="sv-SE" smtClean="0"/>
              <a:pPr/>
              <a:t>16</a:t>
            </a:fld>
            <a:endParaRPr lang="sv-SE" dirty="0"/>
          </a:p>
        </p:txBody>
      </p:sp>
      <p:pic>
        <p:nvPicPr>
          <p:cNvPr id="7" name="Picture 6">
            <a:extLst>
              <a:ext uri="{FF2B5EF4-FFF2-40B4-BE49-F238E27FC236}">
                <a16:creationId xmlns:a16="http://schemas.microsoft.com/office/drawing/2014/main" id="{F54BA28C-5200-AE29-911C-093832A29440}"/>
              </a:ext>
            </a:extLst>
          </p:cNvPr>
          <p:cNvPicPr>
            <a:picLocks noChangeAspect="1"/>
          </p:cNvPicPr>
          <p:nvPr/>
        </p:nvPicPr>
        <p:blipFill>
          <a:blip r:embed="rId3"/>
          <a:srcRect t="65001" b="16739"/>
          <a:stretch>
            <a:fillRect/>
          </a:stretch>
        </p:blipFill>
        <p:spPr>
          <a:xfrm>
            <a:off x="255983" y="1059582"/>
            <a:ext cx="8872481" cy="1080120"/>
          </a:xfrm>
          <a:prstGeom prst="rect">
            <a:avLst/>
          </a:prstGeom>
        </p:spPr>
      </p:pic>
      <p:pic>
        <p:nvPicPr>
          <p:cNvPr id="11" name="Picture 10">
            <a:extLst>
              <a:ext uri="{FF2B5EF4-FFF2-40B4-BE49-F238E27FC236}">
                <a16:creationId xmlns:a16="http://schemas.microsoft.com/office/drawing/2014/main" id="{6BF97178-2A56-8CC4-F028-59F40888222A}"/>
              </a:ext>
            </a:extLst>
          </p:cNvPr>
          <p:cNvPicPr>
            <a:picLocks noChangeAspect="1"/>
          </p:cNvPicPr>
          <p:nvPr/>
        </p:nvPicPr>
        <p:blipFill>
          <a:blip r:embed="rId3"/>
          <a:srcRect l="-1074" t="1188" r="1074" b="88595"/>
          <a:stretch>
            <a:fillRect/>
          </a:stretch>
        </p:blipFill>
        <p:spPr>
          <a:xfrm>
            <a:off x="755575" y="287381"/>
            <a:ext cx="7097985" cy="483518"/>
          </a:xfrm>
          <a:prstGeom prst="rect">
            <a:avLst/>
          </a:prstGeom>
        </p:spPr>
      </p:pic>
    </p:spTree>
    <p:extLst>
      <p:ext uri="{BB962C8B-B14F-4D97-AF65-F5344CB8AC3E}">
        <p14:creationId xmlns:p14="http://schemas.microsoft.com/office/powerpoint/2010/main" val="3751557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789037-53C5-A209-6F41-F5BA36894C0D}"/>
              </a:ext>
            </a:extLst>
          </p:cNvPr>
          <p:cNvSpPr>
            <a:spLocks noGrp="1"/>
          </p:cNvSpPr>
          <p:nvPr>
            <p:ph type="ftr" sz="quarter" idx="3"/>
          </p:nvPr>
        </p:nvSpPr>
        <p:spPr/>
        <p:txBody>
          <a:bodyPr/>
          <a:lstStyle/>
          <a:p>
            <a:r>
              <a:rPr lang="sv-SE"/>
              <a:t>Karolinska Institutet - a medical university</a:t>
            </a:r>
            <a:endParaRPr lang="sv-SE" dirty="0"/>
          </a:p>
        </p:txBody>
      </p:sp>
      <p:sp>
        <p:nvSpPr>
          <p:cNvPr id="5" name="Date Placeholder 4">
            <a:extLst>
              <a:ext uri="{FF2B5EF4-FFF2-40B4-BE49-F238E27FC236}">
                <a16:creationId xmlns:a16="http://schemas.microsoft.com/office/drawing/2014/main" id="{F160529A-EDF7-8BE5-86C5-B9188ED47354}"/>
              </a:ext>
            </a:extLst>
          </p:cNvPr>
          <p:cNvSpPr>
            <a:spLocks noGrp="1"/>
          </p:cNvSpPr>
          <p:nvPr>
            <p:ph type="dt" sz="half" idx="10"/>
          </p:nvPr>
        </p:nvSpPr>
        <p:spPr/>
        <p:txBody>
          <a:bodyPr/>
          <a:lstStyle/>
          <a:p>
            <a:fld id="{0B99A5A2-19A1-4CFC-BFE3-8B9C2E2B5BE0}" type="datetime1">
              <a:rPr lang="en-GB" smtClean="0"/>
              <a:t>19/10/2026</a:t>
            </a:fld>
            <a:endParaRPr lang="sv-SE" dirty="0"/>
          </a:p>
        </p:txBody>
      </p:sp>
      <p:sp>
        <p:nvSpPr>
          <p:cNvPr id="6" name="Slide Number Placeholder 5">
            <a:extLst>
              <a:ext uri="{FF2B5EF4-FFF2-40B4-BE49-F238E27FC236}">
                <a16:creationId xmlns:a16="http://schemas.microsoft.com/office/drawing/2014/main" id="{2EB18233-9B3A-ED00-BE21-2775FD641BEE}"/>
              </a:ext>
            </a:extLst>
          </p:cNvPr>
          <p:cNvSpPr>
            <a:spLocks noGrp="1"/>
          </p:cNvSpPr>
          <p:nvPr>
            <p:ph type="sldNum" sz="quarter" idx="12"/>
          </p:nvPr>
        </p:nvSpPr>
        <p:spPr/>
        <p:txBody>
          <a:bodyPr/>
          <a:lstStyle/>
          <a:p>
            <a:fld id="{15859C56-CB7E-413F-8971-4226A1EF6823}" type="slidenum">
              <a:rPr lang="sv-SE" smtClean="0"/>
              <a:pPr/>
              <a:t>17</a:t>
            </a:fld>
            <a:endParaRPr lang="sv-SE" dirty="0"/>
          </a:p>
        </p:txBody>
      </p:sp>
      <p:pic>
        <p:nvPicPr>
          <p:cNvPr id="9" name="Picture 8">
            <a:extLst>
              <a:ext uri="{FF2B5EF4-FFF2-40B4-BE49-F238E27FC236}">
                <a16:creationId xmlns:a16="http://schemas.microsoft.com/office/drawing/2014/main" id="{069A8A83-18D3-D210-C63C-FF76EBA21194}"/>
              </a:ext>
            </a:extLst>
          </p:cNvPr>
          <p:cNvPicPr>
            <a:picLocks noChangeAspect="1"/>
          </p:cNvPicPr>
          <p:nvPr/>
        </p:nvPicPr>
        <p:blipFill>
          <a:blip r:embed="rId2"/>
          <a:srcRect b="36565"/>
          <a:stretch>
            <a:fillRect/>
          </a:stretch>
        </p:blipFill>
        <p:spPr>
          <a:xfrm>
            <a:off x="232875" y="339502"/>
            <a:ext cx="8678250" cy="3672408"/>
          </a:xfrm>
          <a:prstGeom prst="rect">
            <a:avLst/>
          </a:prstGeom>
        </p:spPr>
      </p:pic>
    </p:spTree>
    <p:extLst>
      <p:ext uri="{BB962C8B-B14F-4D97-AF65-F5344CB8AC3E}">
        <p14:creationId xmlns:p14="http://schemas.microsoft.com/office/powerpoint/2010/main" val="31268359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03250A6-8156-38DD-F6FE-F9A6A401FC21}"/>
              </a:ext>
            </a:extLst>
          </p:cNvPr>
          <p:cNvSpPr>
            <a:spLocks noGrp="1"/>
          </p:cNvSpPr>
          <p:nvPr>
            <p:ph type="ftr" sz="quarter" idx="3"/>
          </p:nvPr>
        </p:nvSpPr>
        <p:spPr/>
        <p:txBody>
          <a:bodyPr/>
          <a:lstStyle/>
          <a:p>
            <a:r>
              <a:rPr lang="sv-SE"/>
              <a:t>Karolinska Institutet - a medical university</a:t>
            </a:r>
            <a:endParaRPr lang="sv-SE" dirty="0"/>
          </a:p>
        </p:txBody>
      </p:sp>
      <p:sp>
        <p:nvSpPr>
          <p:cNvPr id="5" name="Date Placeholder 4">
            <a:extLst>
              <a:ext uri="{FF2B5EF4-FFF2-40B4-BE49-F238E27FC236}">
                <a16:creationId xmlns:a16="http://schemas.microsoft.com/office/drawing/2014/main" id="{45C004CB-07D9-BD4C-A3CE-2FAE23D69699}"/>
              </a:ext>
            </a:extLst>
          </p:cNvPr>
          <p:cNvSpPr>
            <a:spLocks noGrp="1"/>
          </p:cNvSpPr>
          <p:nvPr>
            <p:ph type="dt" sz="half" idx="10"/>
          </p:nvPr>
        </p:nvSpPr>
        <p:spPr/>
        <p:txBody>
          <a:bodyPr/>
          <a:lstStyle/>
          <a:p>
            <a:fld id="{0B99A5A2-19A1-4CFC-BFE3-8B9C2E2B5BE0}" type="datetime1">
              <a:rPr lang="en-GB" smtClean="0"/>
              <a:t>19/10/2026</a:t>
            </a:fld>
            <a:endParaRPr lang="sv-SE" dirty="0"/>
          </a:p>
        </p:txBody>
      </p:sp>
      <p:sp>
        <p:nvSpPr>
          <p:cNvPr id="6" name="Slide Number Placeholder 5">
            <a:extLst>
              <a:ext uri="{FF2B5EF4-FFF2-40B4-BE49-F238E27FC236}">
                <a16:creationId xmlns:a16="http://schemas.microsoft.com/office/drawing/2014/main" id="{4E8CFCA4-CFDB-6EF4-DB1E-156B45277885}"/>
              </a:ext>
            </a:extLst>
          </p:cNvPr>
          <p:cNvSpPr>
            <a:spLocks noGrp="1"/>
          </p:cNvSpPr>
          <p:nvPr>
            <p:ph type="sldNum" sz="quarter" idx="12"/>
          </p:nvPr>
        </p:nvSpPr>
        <p:spPr/>
        <p:txBody>
          <a:bodyPr/>
          <a:lstStyle/>
          <a:p>
            <a:fld id="{15859C56-CB7E-413F-8971-4226A1EF6823}" type="slidenum">
              <a:rPr lang="sv-SE" smtClean="0"/>
              <a:pPr/>
              <a:t>18</a:t>
            </a:fld>
            <a:endParaRPr lang="sv-SE" dirty="0"/>
          </a:p>
        </p:txBody>
      </p:sp>
      <p:pic>
        <p:nvPicPr>
          <p:cNvPr id="7" name="Picture 6" descr="Your introduction to Visium HD: Spatial biology in high definition | 10x  Genomics">
            <a:extLst>
              <a:ext uri="{FF2B5EF4-FFF2-40B4-BE49-F238E27FC236}">
                <a16:creationId xmlns:a16="http://schemas.microsoft.com/office/drawing/2014/main" id="{E208E902-7338-4DBF-3531-B63D577C7FDA}"/>
              </a:ext>
            </a:extLst>
          </p:cNvPr>
          <p:cNvPicPr>
            <a:picLocks noChangeAspect="1"/>
          </p:cNvPicPr>
          <p:nvPr/>
        </p:nvPicPr>
        <p:blipFill>
          <a:blip r:embed="rId2"/>
          <a:stretch>
            <a:fillRect/>
          </a:stretch>
        </p:blipFill>
        <p:spPr>
          <a:xfrm>
            <a:off x="917439" y="314964"/>
            <a:ext cx="7182954" cy="2544818"/>
          </a:xfrm>
          <a:prstGeom prst="rect">
            <a:avLst/>
          </a:prstGeom>
        </p:spPr>
      </p:pic>
      <p:pic>
        <p:nvPicPr>
          <p:cNvPr id="8" name="Picture 7" descr="ENACT Visium HD cell segmentation and annotation | Love, DNA &amp; Code">
            <a:extLst>
              <a:ext uri="{FF2B5EF4-FFF2-40B4-BE49-F238E27FC236}">
                <a16:creationId xmlns:a16="http://schemas.microsoft.com/office/drawing/2014/main" id="{4F5C52C0-AA80-956E-BC50-813539DF05CD}"/>
              </a:ext>
            </a:extLst>
          </p:cNvPr>
          <p:cNvPicPr>
            <a:picLocks noChangeAspect="1"/>
          </p:cNvPicPr>
          <p:nvPr/>
        </p:nvPicPr>
        <p:blipFill>
          <a:blip r:embed="rId3"/>
          <a:srcRect b="48224"/>
          <a:stretch>
            <a:fillRect/>
          </a:stretch>
        </p:blipFill>
        <p:spPr>
          <a:xfrm>
            <a:off x="2123728" y="2787744"/>
            <a:ext cx="5264988" cy="1998371"/>
          </a:xfrm>
          <a:prstGeom prst="rect">
            <a:avLst/>
          </a:prstGeom>
        </p:spPr>
      </p:pic>
    </p:spTree>
    <p:extLst>
      <p:ext uri="{BB962C8B-B14F-4D97-AF65-F5344CB8AC3E}">
        <p14:creationId xmlns:p14="http://schemas.microsoft.com/office/powerpoint/2010/main" val="3177897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xit" presetSubtype="10" fill="hold" nodeType="clickEffect">
                                  <p:stCondLst>
                                    <p:cond delay="0"/>
                                  </p:stCondLst>
                                  <p:childTnLst>
                                    <p:animEffect transition="out" filter="blinds(horizontal)">
                                      <p:cBhvr>
                                        <p:cTn id="10" dur="500"/>
                                        <p:tgtEl>
                                          <p:spTgt spid="8"/>
                                        </p:tgtEl>
                                      </p:cBhvr>
                                    </p:animEffect>
                                    <p:set>
                                      <p:cBhvr>
                                        <p:cTn id="11" dur="1" fill="hold">
                                          <p:stCondLst>
                                            <p:cond delay="499"/>
                                          </p:stCondLst>
                                        </p:cTn>
                                        <p:tgtEl>
                                          <p:spTgt spid="8"/>
                                        </p:tgtEl>
                                        <p:attrNameLst>
                                          <p:attrName>style.visibility</p:attrName>
                                        </p:attrNameLst>
                                      </p:cBhvr>
                                      <p:to>
                                        <p:strVal val="hidden"/>
                                      </p:to>
                                    </p:set>
                                  </p:childTnLst>
                                </p:cTn>
                              </p:par>
                              <p:par>
                                <p:cTn id="12" presetID="3" presetClass="exit" presetSubtype="10" fill="hold" nodeType="withEffect">
                                  <p:stCondLst>
                                    <p:cond delay="0"/>
                                  </p:stCondLst>
                                  <p:childTnLst>
                                    <p:animEffect transition="out" filter="blinds(horizontal)">
                                      <p:cBhvr>
                                        <p:cTn id="13" dur="500"/>
                                        <p:tgtEl>
                                          <p:spTgt spid="7"/>
                                        </p:tgtEl>
                                      </p:cBhvr>
                                    </p:animEffect>
                                    <p:set>
                                      <p:cBhvr>
                                        <p:cTn id="14"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4E2F260-3A19-D3D4-33C8-BF6320B411CD}"/>
              </a:ext>
            </a:extLst>
          </p:cNvPr>
          <p:cNvSpPr>
            <a:spLocks noGrp="1"/>
          </p:cNvSpPr>
          <p:nvPr>
            <p:ph type="ftr" sz="quarter" idx="3"/>
          </p:nvPr>
        </p:nvSpPr>
        <p:spPr/>
        <p:txBody>
          <a:bodyPr/>
          <a:lstStyle/>
          <a:p>
            <a:r>
              <a:rPr lang="sv-SE"/>
              <a:t>Karolinska Institutet - a medical university</a:t>
            </a:r>
            <a:endParaRPr lang="sv-SE" dirty="0"/>
          </a:p>
        </p:txBody>
      </p:sp>
      <p:sp>
        <p:nvSpPr>
          <p:cNvPr id="5" name="Date Placeholder 4">
            <a:extLst>
              <a:ext uri="{FF2B5EF4-FFF2-40B4-BE49-F238E27FC236}">
                <a16:creationId xmlns:a16="http://schemas.microsoft.com/office/drawing/2014/main" id="{E9A6EC64-F7FD-ED44-71DE-973F81DEF6D4}"/>
              </a:ext>
            </a:extLst>
          </p:cNvPr>
          <p:cNvSpPr>
            <a:spLocks noGrp="1"/>
          </p:cNvSpPr>
          <p:nvPr>
            <p:ph type="dt" sz="half" idx="10"/>
          </p:nvPr>
        </p:nvSpPr>
        <p:spPr/>
        <p:txBody>
          <a:bodyPr/>
          <a:lstStyle/>
          <a:p>
            <a:fld id="{0B99A5A2-19A1-4CFC-BFE3-8B9C2E2B5BE0}" type="datetime1">
              <a:rPr lang="en-GB" smtClean="0"/>
              <a:t>19/10/2026</a:t>
            </a:fld>
            <a:endParaRPr lang="sv-SE" dirty="0"/>
          </a:p>
        </p:txBody>
      </p:sp>
      <p:sp>
        <p:nvSpPr>
          <p:cNvPr id="6" name="Slide Number Placeholder 5">
            <a:extLst>
              <a:ext uri="{FF2B5EF4-FFF2-40B4-BE49-F238E27FC236}">
                <a16:creationId xmlns:a16="http://schemas.microsoft.com/office/drawing/2014/main" id="{90D52FB9-B113-DD90-194B-743A6695562F}"/>
              </a:ext>
            </a:extLst>
          </p:cNvPr>
          <p:cNvSpPr>
            <a:spLocks noGrp="1"/>
          </p:cNvSpPr>
          <p:nvPr>
            <p:ph type="sldNum" sz="quarter" idx="12"/>
          </p:nvPr>
        </p:nvSpPr>
        <p:spPr/>
        <p:txBody>
          <a:bodyPr/>
          <a:lstStyle/>
          <a:p>
            <a:fld id="{15859C56-CB7E-413F-8971-4226A1EF6823}" type="slidenum">
              <a:rPr lang="sv-SE" smtClean="0"/>
              <a:pPr/>
              <a:t>19</a:t>
            </a:fld>
            <a:endParaRPr lang="sv-SE" dirty="0"/>
          </a:p>
        </p:txBody>
      </p:sp>
      <p:pic>
        <p:nvPicPr>
          <p:cNvPr id="7" name="Picture 6">
            <a:extLst>
              <a:ext uri="{FF2B5EF4-FFF2-40B4-BE49-F238E27FC236}">
                <a16:creationId xmlns:a16="http://schemas.microsoft.com/office/drawing/2014/main" id="{46C4940F-0D89-F1AD-D803-FEAC71F78D2A}"/>
              </a:ext>
            </a:extLst>
          </p:cNvPr>
          <p:cNvPicPr>
            <a:picLocks noChangeAspect="1"/>
          </p:cNvPicPr>
          <p:nvPr/>
        </p:nvPicPr>
        <p:blipFill>
          <a:blip r:embed="rId2"/>
          <a:stretch>
            <a:fillRect/>
          </a:stretch>
        </p:blipFill>
        <p:spPr>
          <a:xfrm>
            <a:off x="1043608" y="158119"/>
            <a:ext cx="6953969" cy="4635979"/>
          </a:xfrm>
          <a:prstGeom prst="rect">
            <a:avLst/>
          </a:prstGeom>
        </p:spPr>
      </p:pic>
      <p:sp>
        <p:nvSpPr>
          <p:cNvPr id="2" name="Rectangle 1">
            <a:extLst>
              <a:ext uri="{FF2B5EF4-FFF2-40B4-BE49-F238E27FC236}">
                <a16:creationId xmlns:a16="http://schemas.microsoft.com/office/drawing/2014/main" id="{B4641606-CFC6-09E3-8D2A-467209A9D716}"/>
              </a:ext>
            </a:extLst>
          </p:cNvPr>
          <p:cNvSpPr/>
          <p:nvPr/>
        </p:nvSpPr>
        <p:spPr bwMode="auto">
          <a:xfrm>
            <a:off x="687561" y="2787774"/>
            <a:ext cx="7700863" cy="1928451"/>
          </a:xfrm>
          <a:prstGeom prst="rect">
            <a:avLst/>
          </a:prstGeom>
          <a:solidFill>
            <a:schemeClr val="bg1"/>
          </a:solidFill>
          <a:ln w="63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err="1">
              <a:ln>
                <a:noFill/>
              </a:ln>
              <a:solidFill>
                <a:schemeClr val="bg1"/>
              </a:solidFill>
              <a:effectLst/>
              <a:latin typeface="+mn-lt"/>
            </a:endParaRPr>
          </a:p>
        </p:txBody>
      </p:sp>
      <p:sp>
        <p:nvSpPr>
          <p:cNvPr id="8" name="Rectangle 7">
            <a:extLst>
              <a:ext uri="{FF2B5EF4-FFF2-40B4-BE49-F238E27FC236}">
                <a16:creationId xmlns:a16="http://schemas.microsoft.com/office/drawing/2014/main" id="{A4F5FCB0-B84C-3495-DE9E-1ADC4B3543E7}"/>
              </a:ext>
            </a:extLst>
          </p:cNvPr>
          <p:cNvSpPr/>
          <p:nvPr/>
        </p:nvSpPr>
        <p:spPr bwMode="auto">
          <a:xfrm>
            <a:off x="919666" y="512987"/>
            <a:ext cx="7380181" cy="2346795"/>
          </a:xfrm>
          <a:prstGeom prst="rect">
            <a:avLst/>
          </a:prstGeom>
          <a:solidFill>
            <a:schemeClr val="bg1"/>
          </a:solidFill>
          <a:ln w="63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err="1">
              <a:ln>
                <a:noFill/>
              </a:ln>
              <a:solidFill>
                <a:schemeClr val="bg1"/>
              </a:solidFill>
              <a:effectLst/>
              <a:latin typeface="+mn-lt"/>
            </a:endParaRPr>
          </a:p>
        </p:txBody>
      </p:sp>
      <p:pic>
        <p:nvPicPr>
          <p:cNvPr id="3" name="Picture 2" descr="Overview of Xenium Algorithms | Official 10x Genomics Support">
            <a:extLst>
              <a:ext uri="{FF2B5EF4-FFF2-40B4-BE49-F238E27FC236}">
                <a16:creationId xmlns:a16="http://schemas.microsoft.com/office/drawing/2014/main" id="{C2633BD5-8A9B-FCA4-B9A5-6BE03ED6AD22}"/>
              </a:ext>
            </a:extLst>
          </p:cNvPr>
          <p:cNvPicPr>
            <a:picLocks noChangeAspect="1"/>
          </p:cNvPicPr>
          <p:nvPr/>
        </p:nvPicPr>
        <p:blipFill>
          <a:blip r:embed="rId3"/>
          <a:stretch>
            <a:fillRect/>
          </a:stretch>
        </p:blipFill>
        <p:spPr>
          <a:xfrm>
            <a:off x="1279643" y="497577"/>
            <a:ext cx="6244686" cy="4312187"/>
          </a:xfrm>
          <a:prstGeom prst="rect">
            <a:avLst/>
          </a:prstGeom>
        </p:spPr>
      </p:pic>
    </p:spTree>
    <p:extLst>
      <p:ext uri="{BB962C8B-B14F-4D97-AF65-F5344CB8AC3E}">
        <p14:creationId xmlns:p14="http://schemas.microsoft.com/office/powerpoint/2010/main" val="2499951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nodeType="clickEffect">
                                  <p:stCondLst>
                                    <p:cond delay="0"/>
                                  </p:stCondLst>
                                  <p:childTnLst>
                                    <p:animEffect transition="out" filter="blinds(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grpId="0" nodeType="clickEffect">
                                  <p:stCondLst>
                                    <p:cond delay="0"/>
                                  </p:stCondLst>
                                  <p:childTnLst>
                                    <p:animEffect transition="out" filter="blinds(horizontal)">
                                      <p:cBhvr>
                                        <p:cTn id="11" dur="500"/>
                                        <p:tgtEl>
                                          <p:spTgt spid="2"/>
                                        </p:tgtEl>
                                      </p:cBhvr>
                                    </p:animEffect>
                                    <p:set>
                                      <p:cBhvr>
                                        <p:cTn id="12"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3B2391D-37F6-FC00-89D2-EB6868436092}"/>
              </a:ext>
            </a:extLst>
          </p:cNvPr>
          <p:cNvSpPr>
            <a:spLocks noGrp="1"/>
          </p:cNvSpPr>
          <p:nvPr>
            <p:ph type="ftr" sz="quarter" idx="3"/>
          </p:nvPr>
        </p:nvSpPr>
        <p:spPr/>
        <p:txBody>
          <a:bodyPr/>
          <a:lstStyle/>
          <a:p>
            <a:r>
              <a:rPr lang="sv-SE"/>
              <a:t>Karolinska Institutet - a medical university</a:t>
            </a:r>
            <a:endParaRPr lang="sv-SE" dirty="0"/>
          </a:p>
        </p:txBody>
      </p:sp>
      <p:sp>
        <p:nvSpPr>
          <p:cNvPr id="5" name="Date Placeholder 4">
            <a:extLst>
              <a:ext uri="{FF2B5EF4-FFF2-40B4-BE49-F238E27FC236}">
                <a16:creationId xmlns:a16="http://schemas.microsoft.com/office/drawing/2014/main" id="{E55F9D2F-0E64-6C44-33D8-CC16457E2245}"/>
              </a:ext>
            </a:extLst>
          </p:cNvPr>
          <p:cNvSpPr>
            <a:spLocks noGrp="1"/>
          </p:cNvSpPr>
          <p:nvPr>
            <p:ph type="dt" sz="half" idx="10"/>
          </p:nvPr>
        </p:nvSpPr>
        <p:spPr/>
        <p:txBody>
          <a:bodyPr/>
          <a:lstStyle/>
          <a:p>
            <a:fld id="{0B99A5A2-19A1-4CFC-BFE3-8B9C2E2B5BE0}" type="datetime1">
              <a:rPr lang="en-GB" smtClean="0"/>
              <a:t>19/10/2026</a:t>
            </a:fld>
            <a:endParaRPr lang="sv-SE" dirty="0"/>
          </a:p>
        </p:txBody>
      </p:sp>
      <p:sp>
        <p:nvSpPr>
          <p:cNvPr id="6" name="Slide Number Placeholder 5">
            <a:extLst>
              <a:ext uri="{FF2B5EF4-FFF2-40B4-BE49-F238E27FC236}">
                <a16:creationId xmlns:a16="http://schemas.microsoft.com/office/drawing/2014/main" id="{8C9FC4BC-4538-3C74-4032-D22E8E784BB6}"/>
              </a:ext>
            </a:extLst>
          </p:cNvPr>
          <p:cNvSpPr>
            <a:spLocks noGrp="1"/>
          </p:cNvSpPr>
          <p:nvPr>
            <p:ph type="sldNum" sz="quarter" idx="12"/>
          </p:nvPr>
        </p:nvSpPr>
        <p:spPr/>
        <p:txBody>
          <a:bodyPr/>
          <a:lstStyle/>
          <a:p>
            <a:fld id="{15859C56-CB7E-413F-8971-4226A1EF6823}" type="slidenum">
              <a:rPr lang="sv-SE" smtClean="0"/>
              <a:pPr/>
              <a:t>20</a:t>
            </a:fld>
            <a:endParaRPr lang="sv-SE" dirty="0"/>
          </a:p>
        </p:txBody>
      </p:sp>
      <p:pic>
        <p:nvPicPr>
          <p:cNvPr id="7" name="Picture 6">
            <a:extLst>
              <a:ext uri="{FF2B5EF4-FFF2-40B4-BE49-F238E27FC236}">
                <a16:creationId xmlns:a16="http://schemas.microsoft.com/office/drawing/2014/main" id="{C7E1F48A-0576-4BA0-8A68-DBDB321E3099}"/>
              </a:ext>
            </a:extLst>
          </p:cNvPr>
          <p:cNvPicPr>
            <a:picLocks noChangeAspect="1"/>
          </p:cNvPicPr>
          <p:nvPr/>
        </p:nvPicPr>
        <p:blipFill>
          <a:blip r:embed="rId2"/>
          <a:srcRect t="47202" b="5549"/>
          <a:stretch>
            <a:fillRect/>
          </a:stretch>
        </p:blipFill>
        <p:spPr>
          <a:xfrm>
            <a:off x="36512" y="987574"/>
            <a:ext cx="9144000" cy="2880320"/>
          </a:xfrm>
          <a:prstGeom prst="rect">
            <a:avLst/>
          </a:prstGeom>
        </p:spPr>
      </p:pic>
      <p:sp>
        <p:nvSpPr>
          <p:cNvPr id="8" name="Rectangle 7">
            <a:extLst>
              <a:ext uri="{FF2B5EF4-FFF2-40B4-BE49-F238E27FC236}">
                <a16:creationId xmlns:a16="http://schemas.microsoft.com/office/drawing/2014/main" id="{12E9BA63-9B39-2A7F-65F1-73F8D27F97E7}"/>
              </a:ext>
            </a:extLst>
          </p:cNvPr>
          <p:cNvSpPr/>
          <p:nvPr/>
        </p:nvSpPr>
        <p:spPr bwMode="auto">
          <a:xfrm>
            <a:off x="2949525" y="1491630"/>
            <a:ext cx="5582915" cy="293366"/>
          </a:xfrm>
          <a:prstGeom prst="rect">
            <a:avLst/>
          </a:prstGeom>
          <a:solidFill>
            <a:schemeClr val="bg1"/>
          </a:solidFill>
          <a:ln w="63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err="1">
              <a:ln>
                <a:noFill/>
              </a:ln>
              <a:solidFill>
                <a:schemeClr val="bg1"/>
              </a:solidFill>
              <a:effectLst/>
              <a:latin typeface="+mn-lt"/>
            </a:endParaRPr>
          </a:p>
        </p:txBody>
      </p:sp>
      <p:pic>
        <p:nvPicPr>
          <p:cNvPr id="9" name="Picture 8" descr="Green Check Mark Symbol PNG Transparent Images Free Download ...">
            <a:extLst>
              <a:ext uri="{FF2B5EF4-FFF2-40B4-BE49-F238E27FC236}">
                <a16:creationId xmlns:a16="http://schemas.microsoft.com/office/drawing/2014/main" id="{41FF7700-ECD5-205A-A12F-60EE10F3BCAD}"/>
              </a:ext>
            </a:extLst>
          </p:cNvPr>
          <p:cNvPicPr>
            <a:picLocks noChangeAspect="1"/>
          </p:cNvPicPr>
          <p:nvPr/>
        </p:nvPicPr>
        <p:blipFill>
          <a:blip r:embed="rId3"/>
          <a:stretch>
            <a:fillRect/>
          </a:stretch>
        </p:blipFill>
        <p:spPr>
          <a:xfrm>
            <a:off x="3454514" y="1430345"/>
            <a:ext cx="261610" cy="261610"/>
          </a:xfrm>
          <a:prstGeom prst="rect">
            <a:avLst/>
          </a:prstGeom>
        </p:spPr>
      </p:pic>
      <p:pic>
        <p:nvPicPr>
          <p:cNvPr id="10" name="Picture 9" descr="Green Check Mark Symbol PNG Transparent Images Free Download ...">
            <a:extLst>
              <a:ext uri="{FF2B5EF4-FFF2-40B4-BE49-F238E27FC236}">
                <a16:creationId xmlns:a16="http://schemas.microsoft.com/office/drawing/2014/main" id="{006289EC-C839-6AB9-103A-D5A5A2E60364}"/>
              </a:ext>
            </a:extLst>
          </p:cNvPr>
          <p:cNvPicPr>
            <a:picLocks noChangeAspect="1"/>
          </p:cNvPicPr>
          <p:nvPr/>
        </p:nvPicPr>
        <p:blipFill>
          <a:blip r:embed="rId3"/>
          <a:stretch>
            <a:fillRect/>
          </a:stretch>
        </p:blipFill>
        <p:spPr>
          <a:xfrm>
            <a:off x="5296484" y="1419622"/>
            <a:ext cx="261610" cy="261610"/>
          </a:xfrm>
          <a:prstGeom prst="rect">
            <a:avLst/>
          </a:prstGeom>
        </p:spPr>
      </p:pic>
      <p:pic>
        <p:nvPicPr>
          <p:cNvPr id="11" name="Picture 10" descr="Green Check Mark Symbol PNG Transparent Images Free Download ...">
            <a:extLst>
              <a:ext uri="{FF2B5EF4-FFF2-40B4-BE49-F238E27FC236}">
                <a16:creationId xmlns:a16="http://schemas.microsoft.com/office/drawing/2014/main" id="{9E33FDB5-A5E9-8D59-1066-7D4F385A8401}"/>
              </a:ext>
            </a:extLst>
          </p:cNvPr>
          <p:cNvPicPr>
            <a:picLocks noChangeAspect="1"/>
          </p:cNvPicPr>
          <p:nvPr/>
        </p:nvPicPr>
        <p:blipFill>
          <a:blip r:embed="rId3"/>
          <a:stretch>
            <a:fillRect/>
          </a:stretch>
        </p:blipFill>
        <p:spPr>
          <a:xfrm>
            <a:off x="7020272" y="1491630"/>
            <a:ext cx="261610" cy="261610"/>
          </a:xfrm>
          <a:prstGeom prst="rect">
            <a:avLst/>
          </a:prstGeom>
        </p:spPr>
      </p:pic>
      <p:sp>
        <p:nvSpPr>
          <p:cNvPr id="12" name="TextBox 11">
            <a:extLst>
              <a:ext uri="{FF2B5EF4-FFF2-40B4-BE49-F238E27FC236}">
                <a16:creationId xmlns:a16="http://schemas.microsoft.com/office/drawing/2014/main" id="{D2F25C46-B661-70EB-D390-CE5D3D7EE706}"/>
              </a:ext>
            </a:extLst>
          </p:cNvPr>
          <p:cNvSpPr txBox="1"/>
          <p:nvPr/>
        </p:nvSpPr>
        <p:spPr>
          <a:xfrm>
            <a:off x="7223855" y="1420783"/>
            <a:ext cx="1778932" cy="400110"/>
          </a:xfrm>
          <a:prstGeom prst="rect">
            <a:avLst/>
          </a:prstGeom>
          <a:noFill/>
          <a:ln w="6350">
            <a:noFill/>
          </a:ln>
        </p:spPr>
        <p:txBody>
          <a:bodyPr wrap="square" rtlCol="0">
            <a:spAutoFit/>
          </a:bodyPr>
          <a:lstStyle/>
          <a:p>
            <a:pPr algn="l"/>
            <a:r>
              <a:rPr lang="en-US" sz="1000" dirty="0">
                <a:latin typeface="+mn-lt"/>
              </a:rPr>
              <a:t>Requires modification for fragmented RNA</a:t>
            </a:r>
          </a:p>
        </p:txBody>
      </p:sp>
      <p:sp>
        <p:nvSpPr>
          <p:cNvPr id="13" name="Rectangle 12">
            <a:extLst>
              <a:ext uri="{FF2B5EF4-FFF2-40B4-BE49-F238E27FC236}">
                <a16:creationId xmlns:a16="http://schemas.microsoft.com/office/drawing/2014/main" id="{811105D7-6F3C-D37F-1791-3ECF534DB969}"/>
              </a:ext>
            </a:extLst>
          </p:cNvPr>
          <p:cNvSpPr/>
          <p:nvPr/>
        </p:nvSpPr>
        <p:spPr bwMode="auto">
          <a:xfrm>
            <a:off x="3131840" y="1840996"/>
            <a:ext cx="5582915" cy="743598"/>
          </a:xfrm>
          <a:prstGeom prst="rect">
            <a:avLst/>
          </a:prstGeom>
          <a:solidFill>
            <a:schemeClr val="bg1"/>
          </a:solidFill>
          <a:ln w="63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err="1">
              <a:ln>
                <a:noFill/>
              </a:ln>
              <a:solidFill>
                <a:schemeClr val="bg1"/>
              </a:solidFill>
              <a:effectLst/>
              <a:latin typeface="+mn-lt"/>
            </a:endParaRPr>
          </a:p>
        </p:txBody>
      </p:sp>
      <p:pic>
        <p:nvPicPr>
          <p:cNvPr id="14" name="Picture 13" descr="Green Check Mark Symbol PNG Transparent Images Free Download ...">
            <a:extLst>
              <a:ext uri="{FF2B5EF4-FFF2-40B4-BE49-F238E27FC236}">
                <a16:creationId xmlns:a16="http://schemas.microsoft.com/office/drawing/2014/main" id="{4247F520-0F56-BAD4-5192-8BCD72470109}"/>
              </a:ext>
            </a:extLst>
          </p:cNvPr>
          <p:cNvPicPr>
            <a:picLocks noChangeAspect="1"/>
          </p:cNvPicPr>
          <p:nvPr/>
        </p:nvPicPr>
        <p:blipFill>
          <a:blip r:embed="rId3"/>
          <a:stretch>
            <a:fillRect/>
          </a:stretch>
        </p:blipFill>
        <p:spPr>
          <a:xfrm>
            <a:off x="3437812" y="1806084"/>
            <a:ext cx="261610" cy="261610"/>
          </a:xfrm>
          <a:prstGeom prst="rect">
            <a:avLst/>
          </a:prstGeom>
        </p:spPr>
      </p:pic>
      <p:pic>
        <p:nvPicPr>
          <p:cNvPr id="15" name="Picture 14" descr="Green Check Mark Symbol PNG Transparent Images Free Download ...">
            <a:extLst>
              <a:ext uri="{FF2B5EF4-FFF2-40B4-BE49-F238E27FC236}">
                <a16:creationId xmlns:a16="http://schemas.microsoft.com/office/drawing/2014/main" id="{F6A7E692-1231-C8B6-0E55-E122CAB45BCB}"/>
              </a:ext>
            </a:extLst>
          </p:cNvPr>
          <p:cNvPicPr>
            <a:picLocks noChangeAspect="1"/>
          </p:cNvPicPr>
          <p:nvPr/>
        </p:nvPicPr>
        <p:blipFill>
          <a:blip r:embed="rId3"/>
          <a:stretch>
            <a:fillRect/>
          </a:stretch>
        </p:blipFill>
        <p:spPr>
          <a:xfrm>
            <a:off x="3419872" y="2067694"/>
            <a:ext cx="261610" cy="261610"/>
          </a:xfrm>
          <a:prstGeom prst="rect">
            <a:avLst/>
          </a:prstGeom>
        </p:spPr>
      </p:pic>
      <p:pic>
        <p:nvPicPr>
          <p:cNvPr id="16" name="Picture 15" descr="Green Check Mark Symbol PNG Transparent Images Free Download ...">
            <a:extLst>
              <a:ext uri="{FF2B5EF4-FFF2-40B4-BE49-F238E27FC236}">
                <a16:creationId xmlns:a16="http://schemas.microsoft.com/office/drawing/2014/main" id="{09AFC1EA-A4FA-C31B-584C-0409463FCEE5}"/>
              </a:ext>
            </a:extLst>
          </p:cNvPr>
          <p:cNvPicPr>
            <a:picLocks noChangeAspect="1"/>
          </p:cNvPicPr>
          <p:nvPr/>
        </p:nvPicPr>
        <p:blipFill>
          <a:blip r:embed="rId3"/>
          <a:stretch>
            <a:fillRect/>
          </a:stretch>
        </p:blipFill>
        <p:spPr>
          <a:xfrm>
            <a:off x="3419872" y="2283718"/>
            <a:ext cx="261610" cy="261610"/>
          </a:xfrm>
          <a:prstGeom prst="rect">
            <a:avLst/>
          </a:prstGeom>
        </p:spPr>
      </p:pic>
      <p:pic>
        <p:nvPicPr>
          <p:cNvPr id="17" name="Picture 16" descr="Green Check Mark Symbol PNG Transparent Images Free Download ...">
            <a:extLst>
              <a:ext uri="{FF2B5EF4-FFF2-40B4-BE49-F238E27FC236}">
                <a16:creationId xmlns:a16="http://schemas.microsoft.com/office/drawing/2014/main" id="{DF011735-7C19-E3FE-0CB2-C54EAEB5DDC7}"/>
              </a:ext>
            </a:extLst>
          </p:cNvPr>
          <p:cNvPicPr>
            <a:picLocks noChangeAspect="1"/>
          </p:cNvPicPr>
          <p:nvPr/>
        </p:nvPicPr>
        <p:blipFill>
          <a:blip r:embed="rId3"/>
          <a:stretch>
            <a:fillRect/>
          </a:stretch>
        </p:blipFill>
        <p:spPr>
          <a:xfrm>
            <a:off x="5292080" y="1806084"/>
            <a:ext cx="261610" cy="261610"/>
          </a:xfrm>
          <a:prstGeom prst="rect">
            <a:avLst/>
          </a:prstGeom>
        </p:spPr>
      </p:pic>
      <p:sp>
        <p:nvSpPr>
          <p:cNvPr id="18" name="TextBox 17">
            <a:extLst>
              <a:ext uri="{FF2B5EF4-FFF2-40B4-BE49-F238E27FC236}">
                <a16:creationId xmlns:a16="http://schemas.microsoft.com/office/drawing/2014/main" id="{F337DE8F-343A-656A-3767-D15C33F2500A}"/>
              </a:ext>
            </a:extLst>
          </p:cNvPr>
          <p:cNvSpPr txBox="1"/>
          <p:nvPr/>
        </p:nvSpPr>
        <p:spPr>
          <a:xfrm>
            <a:off x="5175795" y="2067694"/>
            <a:ext cx="771191" cy="261610"/>
          </a:xfrm>
          <a:prstGeom prst="rect">
            <a:avLst/>
          </a:prstGeom>
          <a:noFill/>
          <a:ln w="6350">
            <a:noFill/>
          </a:ln>
        </p:spPr>
        <p:txBody>
          <a:bodyPr wrap="square" rtlCol="0">
            <a:spAutoFit/>
          </a:bodyPr>
          <a:lstStyle/>
          <a:p>
            <a:pPr algn="l"/>
            <a:r>
              <a:rPr lang="en-US" sz="1100" dirty="0">
                <a:latin typeface="+mn-lt"/>
              </a:rPr>
              <a:t>Possible</a:t>
            </a:r>
          </a:p>
        </p:txBody>
      </p:sp>
      <p:sp>
        <p:nvSpPr>
          <p:cNvPr id="19" name="TextBox 18">
            <a:extLst>
              <a:ext uri="{FF2B5EF4-FFF2-40B4-BE49-F238E27FC236}">
                <a16:creationId xmlns:a16="http://schemas.microsoft.com/office/drawing/2014/main" id="{545D66F5-4FC2-13FB-18DE-4157FE98C878}"/>
              </a:ext>
            </a:extLst>
          </p:cNvPr>
          <p:cNvSpPr txBox="1"/>
          <p:nvPr/>
        </p:nvSpPr>
        <p:spPr>
          <a:xfrm>
            <a:off x="5175795" y="2355726"/>
            <a:ext cx="771191" cy="261610"/>
          </a:xfrm>
          <a:prstGeom prst="rect">
            <a:avLst/>
          </a:prstGeom>
          <a:noFill/>
          <a:ln w="6350">
            <a:noFill/>
          </a:ln>
        </p:spPr>
        <p:txBody>
          <a:bodyPr wrap="square" rtlCol="0">
            <a:spAutoFit/>
          </a:bodyPr>
          <a:lstStyle/>
          <a:p>
            <a:pPr algn="l"/>
            <a:r>
              <a:rPr lang="en-US" sz="1100" dirty="0">
                <a:latin typeface="+mn-lt"/>
              </a:rPr>
              <a:t>Possible</a:t>
            </a:r>
          </a:p>
        </p:txBody>
      </p:sp>
      <p:sp>
        <p:nvSpPr>
          <p:cNvPr id="20" name="TextBox 19">
            <a:extLst>
              <a:ext uri="{FF2B5EF4-FFF2-40B4-BE49-F238E27FC236}">
                <a16:creationId xmlns:a16="http://schemas.microsoft.com/office/drawing/2014/main" id="{3DCD8951-5EEC-C540-D0FC-88D12EE392AE}"/>
              </a:ext>
            </a:extLst>
          </p:cNvPr>
          <p:cNvSpPr txBox="1"/>
          <p:nvPr/>
        </p:nvSpPr>
        <p:spPr>
          <a:xfrm>
            <a:off x="7531190" y="1851670"/>
            <a:ext cx="1289281" cy="261610"/>
          </a:xfrm>
          <a:prstGeom prst="rect">
            <a:avLst/>
          </a:prstGeom>
          <a:noFill/>
          <a:ln w="6350">
            <a:noFill/>
          </a:ln>
        </p:spPr>
        <p:txBody>
          <a:bodyPr wrap="square" rtlCol="0">
            <a:spAutoFit/>
          </a:bodyPr>
          <a:lstStyle/>
          <a:p>
            <a:pPr algn="l"/>
            <a:r>
              <a:rPr lang="en-US" sz="1100" dirty="0">
                <a:latin typeface="+mn-lt"/>
              </a:rPr>
              <a:t>(Targeted panel)</a:t>
            </a:r>
          </a:p>
        </p:txBody>
      </p:sp>
      <p:pic>
        <p:nvPicPr>
          <p:cNvPr id="23" name="Picture 22" descr="Green Check Mark Symbol PNG Transparent Images Free Download ...">
            <a:extLst>
              <a:ext uri="{FF2B5EF4-FFF2-40B4-BE49-F238E27FC236}">
                <a16:creationId xmlns:a16="http://schemas.microsoft.com/office/drawing/2014/main" id="{1143FEF2-C968-39E3-D614-8A4264F3BCDC}"/>
              </a:ext>
            </a:extLst>
          </p:cNvPr>
          <p:cNvPicPr>
            <a:picLocks noChangeAspect="1"/>
          </p:cNvPicPr>
          <p:nvPr/>
        </p:nvPicPr>
        <p:blipFill>
          <a:blip r:embed="rId3"/>
          <a:stretch>
            <a:fillRect/>
          </a:stretch>
        </p:blipFill>
        <p:spPr>
          <a:xfrm>
            <a:off x="7281548" y="1806084"/>
            <a:ext cx="261610" cy="261610"/>
          </a:xfrm>
          <a:prstGeom prst="rect">
            <a:avLst/>
          </a:prstGeom>
        </p:spPr>
      </p:pic>
      <p:sp>
        <p:nvSpPr>
          <p:cNvPr id="24" name="TextBox 23">
            <a:extLst>
              <a:ext uri="{FF2B5EF4-FFF2-40B4-BE49-F238E27FC236}">
                <a16:creationId xmlns:a16="http://schemas.microsoft.com/office/drawing/2014/main" id="{DF072AFD-B458-6FB2-9F08-EFB942B31831}"/>
              </a:ext>
            </a:extLst>
          </p:cNvPr>
          <p:cNvSpPr txBox="1"/>
          <p:nvPr/>
        </p:nvSpPr>
        <p:spPr>
          <a:xfrm>
            <a:off x="5508104" y="1851670"/>
            <a:ext cx="771191" cy="261610"/>
          </a:xfrm>
          <a:prstGeom prst="rect">
            <a:avLst/>
          </a:prstGeom>
          <a:noFill/>
          <a:ln w="6350">
            <a:noFill/>
          </a:ln>
        </p:spPr>
        <p:txBody>
          <a:bodyPr wrap="square" rtlCol="0">
            <a:spAutoFit/>
          </a:bodyPr>
          <a:lstStyle/>
          <a:p>
            <a:pPr algn="l"/>
            <a:r>
              <a:rPr lang="en-US" sz="1100" dirty="0">
                <a:latin typeface="+mn-lt"/>
              </a:rPr>
              <a:t>(Nuclei)</a:t>
            </a:r>
          </a:p>
        </p:txBody>
      </p:sp>
      <p:sp>
        <p:nvSpPr>
          <p:cNvPr id="25" name="Rectangle 24">
            <a:extLst>
              <a:ext uri="{FF2B5EF4-FFF2-40B4-BE49-F238E27FC236}">
                <a16:creationId xmlns:a16="http://schemas.microsoft.com/office/drawing/2014/main" id="{2120F7A6-030D-9A6B-496E-7CED27301C8D}"/>
              </a:ext>
            </a:extLst>
          </p:cNvPr>
          <p:cNvSpPr/>
          <p:nvPr/>
        </p:nvSpPr>
        <p:spPr bwMode="auto">
          <a:xfrm>
            <a:off x="3164860" y="2633008"/>
            <a:ext cx="5549895" cy="1234886"/>
          </a:xfrm>
          <a:prstGeom prst="rect">
            <a:avLst/>
          </a:prstGeom>
          <a:solidFill>
            <a:schemeClr val="bg1"/>
          </a:solidFill>
          <a:ln w="63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err="1">
              <a:ln>
                <a:noFill/>
              </a:ln>
              <a:solidFill>
                <a:schemeClr val="bg1"/>
              </a:solidFill>
              <a:effectLst/>
              <a:latin typeface="+mn-lt"/>
            </a:endParaRPr>
          </a:p>
        </p:txBody>
      </p:sp>
      <p:pic>
        <p:nvPicPr>
          <p:cNvPr id="28" name="Picture 27" descr="Green Checkmark PNG Transparent Images Free Download | Vector Files |  Pngtree">
            <a:extLst>
              <a:ext uri="{FF2B5EF4-FFF2-40B4-BE49-F238E27FC236}">
                <a16:creationId xmlns:a16="http://schemas.microsoft.com/office/drawing/2014/main" id="{69E06C7E-22CE-B69C-FA81-9C1C41AE6BA6}"/>
              </a:ext>
            </a:extLst>
          </p:cNvPr>
          <p:cNvPicPr>
            <a:picLocks noChangeAspect="1"/>
          </p:cNvPicPr>
          <p:nvPr/>
        </p:nvPicPr>
        <p:blipFill>
          <a:blip r:embed="rId4"/>
          <a:srcRect l="50000" t="31293" b="29447"/>
          <a:stretch>
            <a:fillRect/>
          </a:stretch>
        </p:blipFill>
        <p:spPr>
          <a:xfrm>
            <a:off x="8029982" y="2067694"/>
            <a:ext cx="257898" cy="202498"/>
          </a:xfrm>
          <a:prstGeom prst="rect">
            <a:avLst/>
          </a:prstGeom>
        </p:spPr>
      </p:pic>
      <p:pic>
        <p:nvPicPr>
          <p:cNvPr id="29" name="Picture 28" descr="Green Checkmark PNG Transparent Images Free Download | Vector Files |  Pngtree">
            <a:extLst>
              <a:ext uri="{FF2B5EF4-FFF2-40B4-BE49-F238E27FC236}">
                <a16:creationId xmlns:a16="http://schemas.microsoft.com/office/drawing/2014/main" id="{5844EAF8-2DFD-BCD7-1915-05248339EE01}"/>
              </a:ext>
            </a:extLst>
          </p:cNvPr>
          <p:cNvPicPr>
            <a:picLocks noChangeAspect="1"/>
          </p:cNvPicPr>
          <p:nvPr/>
        </p:nvPicPr>
        <p:blipFill>
          <a:blip r:embed="rId4"/>
          <a:srcRect l="50000" t="31293" b="29447"/>
          <a:stretch>
            <a:fillRect/>
          </a:stretch>
        </p:blipFill>
        <p:spPr>
          <a:xfrm>
            <a:off x="8034713" y="2311467"/>
            <a:ext cx="257898" cy="202498"/>
          </a:xfrm>
          <a:prstGeom prst="rect">
            <a:avLst/>
          </a:prstGeom>
        </p:spPr>
      </p:pic>
      <p:pic>
        <p:nvPicPr>
          <p:cNvPr id="30" name="Picture 29" descr="Green Checkmark PNG Transparent Images Free Download | Vector Files |  Pngtree">
            <a:extLst>
              <a:ext uri="{FF2B5EF4-FFF2-40B4-BE49-F238E27FC236}">
                <a16:creationId xmlns:a16="http://schemas.microsoft.com/office/drawing/2014/main" id="{F33BE6F2-1B30-F2E5-3570-36544AAD1134}"/>
              </a:ext>
            </a:extLst>
          </p:cNvPr>
          <p:cNvPicPr>
            <a:picLocks noChangeAspect="1"/>
          </p:cNvPicPr>
          <p:nvPr/>
        </p:nvPicPr>
        <p:blipFill>
          <a:blip r:embed="rId4"/>
          <a:srcRect l="50000" t="31293" b="29447"/>
          <a:stretch>
            <a:fillRect/>
          </a:stretch>
        </p:blipFill>
        <p:spPr>
          <a:xfrm>
            <a:off x="3441563" y="2566280"/>
            <a:ext cx="257898" cy="202498"/>
          </a:xfrm>
          <a:prstGeom prst="rect">
            <a:avLst/>
          </a:prstGeom>
        </p:spPr>
      </p:pic>
      <p:pic>
        <p:nvPicPr>
          <p:cNvPr id="31" name="Picture 30" descr="Green Checkmark PNG Transparent Images Free Download | Vector Files |  Pngtree">
            <a:extLst>
              <a:ext uri="{FF2B5EF4-FFF2-40B4-BE49-F238E27FC236}">
                <a16:creationId xmlns:a16="http://schemas.microsoft.com/office/drawing/2014/main" id="{C2D6205E-104F-2532-E9BB-2AAFCF650D80}"/>
              </a:ext>
            </a:extLst>
          </p:cNvPr>
          <p:cNvPicPr>
            <a:picLocks noChangeAspect="1"/>
          </p:cNvPicPr>
          <p:nvPr/>
        </p:nvPicPr>
        <p:blipFill>
          <a:blip r:embed="rId4"/>
          <a:srcRect l="50000" t="31293" b="29447"/>
          <a:stretch>
            <a:fillRect/>
          </a:stretch>
        </p:blipFill>
        <p:spPr>
          <a:xfrm>
            <a:off x="3446294" y="2787774"/>
            <a:ext cx="257898" cy="202498"/>
          </a:xfrm>
          <a:prstGeom prst="rect">
            <a:avLst/>
          </a:prstGeom>
        </p:spPr>
      </p:pic>
      <p:pic>
        <p:nvPicPr>
          <p:cNvPr id="33" name="Picture 32" descr="Green Check Mark Symbol PNG Transparent Images Free Download ...">
            <a:extLst>
              <a:ext uri="{FF2B5EF4-FFF2-40B4-BE49-F238E27FC236}">
                <a16:creationId xmlns:a16="http://schemas.microsoft.com/office/drawing/2014/main" id="{2FDEB0AE-A351-53AD-1181-A094225E708C}"/>
              </a:ext>
            </a:extLst>
          </p:cNvPr>
          <p:cNvPicPr>
            <a:picLocks noChangeAspect="1"/>
          </p:cNvPicPr>
          <p:nvPr/>
        </p:nvPicPr>
        <p:blipFill>
          <a:blip r:embed="rId3"/>
          <a:stretch>
            <a:fillRect/>
          </a:stretch>
        </p:blipFill>
        <p:spPr>
          <a:xfrm>
            <a:off x="3419872" y="2952375"/>
            <a:ext cx="261610" cy="261610"/>
          </a:xfrm>
          <a:prstGeom prst="rect">
            <a:avLst/>
          </a:prstGeom>
        </p:spPr>
      </p:pic>
      <p:pic>
        <p:nvPicPr>
          <p:cNvPr id="34" name="Picture 33" descr="Green Check Mark Symbol PNG Transparent Images Free Download ...">
            <a:extLst>
              <a:ext uri="{FF2B5EF4-FFF2-40B4-BE49-F238E27FC236}">
                <a16:creationId xmlns:a16="http://schemas.microsoft.com/office/drawing/2014/main" id="{045DAC9C-CAED-2668-06DD-D6A7B341C4F4}"/>
              </a:ext>
            </a:extLst>
          </p:cNvPr>
          <p:cNvPicPr>
            <a:picLocks noChangeAspect="1"/>
          </p:cNvPicPr>
          <p:nvPr/>
        </p:nvPicPr>
        <p:blipFill>
          <a:blip r:embed="rId3"/>
          <a:stretch>
            <a:fillRect/>
          </a:stretch>
        </p:blipFill>
        <p:spPr>
          <a:xfrm>
            <a:off x="3431227" y="3119646"/>
            <a:ext cx="261610" cy="261610"/>
          </a:xfrm>
          <a:prstGeom prst="rect">
            <a:avLst/>
          </a:prstGeom>
        </p:spPr>
      </p:pic>
      <p:pic>
        <p:nvPicPr>
          <p:cNvPr id="35" name="Picture 34" descr="Green Check Mark Symbol PNG Transparent Images Free Download ...">
            <a:extLst>
              <a:ext uri="{FF2B5EF4-FFF2-40B4-BE49-F238E27FC236}">
                <a16:creationId xmlns:a16="http://schemas.microsoft.com/office/drawing/2014/main" id="{C5CB0913-B406-AA8B-2305-67DAB28B9AE7}"/>
              </a:ext>
            </a:extLst>
          </p:cNvPr>
          <p:cNvPicPr>
            <a:picLocks noChangeAspect="1"/>
          </p:cNvPicPr>
          <p:nvPr/>
        </p:nvPicPr>
        <p:blipFill>
          <a:blip r:embed="rId3"/>
          <a:stretch>
            <a:fillRect/>
          </a:stretch>
        </p:blipFill>
        <p:spPr>
          <a:xfrm>
            <a:off x="3419872" y="3291867"/>
            <a:ext cx="261610" cy="261610"/>
          </a:xfrm>
          <a:prstGeom prst="rect">
            <a:avLst/>
          </a:prstGeom>
        </p:spPr>
      </p:pic>
      <p:pic>
        <p:nvPicPr>
          <p:cNvPr id="36" name="Picture 35" descr="Green Check Mark Symbol PNG Transparent Images Free Download ...">
            <a:extLst>
              <a:ext uri="{FF2B5EF4-FFF2-40B4-BE49-F238E27FC236}">
                <a16:creationId xmlns:a16="http://schemas.microsoft.com/office/drawing/2014/main" id="{45085CBB-DAD5-D3AB-8118-DA1FFD7E1A55}"/>
              </a:ext>
            </a:extLst>
          </p:cNvPr>
          <p:cNvPicPr>
            <a:picLocks noChangeAspect="1"/>
          </p:cNvPicPr>
          <p:nvPr/>
        </p:nvPicPr>
        <p:blipFill>
          <a:blip r:embed="rId3"/>
          <a:stretch>
            <a:fillRect/>
          </a:stretch>
        </p:blipFill>
        <p:spPr>
          <a:xfrm>
            <a:off x="3419872" y="3480843"/>
            <a:ext cx="261610" cy="261610"/>
          </a:xfrm>
          <a:prstGeom prst="rect">
            <a:avLst/>
          </a:prstGeom>
        </p:spPr>
      </p:pic>
      <p:pic>
        <p:nvPicPr>
          <p:cNvPr id="39" name="Picture 38" descr="Green Check Mark Symbol PNG Transparent Images Free Download ...">
            <a:extLst>
              <a:ext uri="{FF2B5EF4-FFF2-40B4-BE49-F238E27FC236}">
                <a16:creationId xmlns:a16="http://schemas.microsoft.com/office/drawing/2014/main" id="{8C82980E-B262-ECA0-91CA-3A1E1CE1D682}"/>
              </a:ext>
            </a:extLst>
          </p:cNvPr>
          <p:cNvPicPr>
            <a:picLocks noChangeAspect="1"/>
          </p:cNvPicPr>
          <p:nvPr/>
        </p:nvPicPr>
        <p:blipFill>
          <a:blip r:embed="rId3"/>
          <a:stretch>
            <a:fillRect/>
          </a:stretch>
        </p:blipFill>
        <p:spPr>
          <a:xfrm>
            <a:off x="5309005" y="2566280"/>
            <a:ext cx="261610" cy="261610"/>
          </a:xfrm>
          <a:prstGeom prst="rect">
            <a:avLst/>
          </a:prstGeom>
        </p:spPr>
      </p:pic>
      <p:pic>
        <p:nvPicPr>
          <p:cNvPr id="40" name="Picture 39" descr="Green Check Mark Symbol PNG Transparent Images Free Download ...">
            <a:extLst>
              <a:ext uri="{FF2B5EF4-FFF2-40B4-BE49-F238E27FC236}">
                <a16:creationId xmlns:a16="http://schemas.microsoft.com/office/drawing/2014/main" id="{2BCB8B70-47D0-4DAB-27D3-591DD8324F56}"/>
              </a:ext>
            </a:extLst>
          </p:cNvPr>
          <p:cNvPicPr>
            <a:picLocks noChangeAspect="1"/>
          </p:cNvPicPr>
          <p:nvPr/>
        </p:nvPicPr>
        <p:blipFill>
          <a:blip r:embed="rId3"/>
          <a:stretch>
            <a:fillRect/>
          </a:stretch>
        </p:blipFill>
        <p:spPr>
          <a:xfrm>
            <a:off x="5309005" y="2728662"/>
            <a:ext cx="261610" cy="261610"/>
          </a:xfrm>
          <a:prstGeom prst="rect">
            <a:avLst/>
          </a:prstGeom>
        </p:spPr>
      </p:pic>
      <p:pic>
        <p:nvPicPr>
          <p:cNvPr id="41" name="Picture 40" descr="Green Check Mark Symbol PNG Transparent Images Free Download ...">
            <a:extLst>
              <a:ext uri="{FF2B5EF4-FFF2-40B4-BE49-F238E27FC236}">
                <a16:creationId xmlns:a16="http://schemas.microsoft.com/office/drawing/2014/main" id="{D622C4B0-5119-2897-9C8E-774BDE7F7E7D}"/>
              </a:ext>
            </a:extLst>
          </p:cNvPr>
          <p:cNvPicPr>
            <a:picLocks noChangeAspect="1"/>
          </p:cNvPicPr>
          <p:nvPr/>
        </p:nvPicPr>
        <p:blipFill>
          <a:blip r:embed="rId3"/>
          <a:stretch>
            <a:fillRect/>
          </a:stretch>
        </p:blipFill>
        <p:spPr>
          <a:xfrm>
            <a:off x="5309005" y="2913958"/>
            <a:ext cx="261610" cy="261610"/>
          </a:xfrm>
          <a:prstGeom prst="rect">
            <a:avLst/>
          </a:prstGeom>
        </p:spPr>
      </p:pic>
      <p:pic>
        <p:nvPicPr>
          <p:cNvPr id="42" name="Picture 41" descr="Green Check Mark Symbol PNG Transparent Images Free Download ...">
            <a:extLst>
              <a:ext uri="{FF2B5EF4-FFF2-40B4-BE49-F238E27FC236}">
                <a16:creationId xmlns:a16="http://schemas.microsoft.com/office/drawing/2014/main" id="{6B291F0E-8D47-E04A-8572-E24A063E4D65}"/>
              </a:ext>
            </a:extLst>
          </p:cNvPr>
          <p:cNvPicPr>
            <a:picLocks noChangeAspect="1"/>
          </p:cNvPicPr>
          <p:nvPr/>
        </p:nvPicPr>
        <p:blipFill>
          <a:blip r:embed="rId3"/>
          <a:stretch>
            <a:fillRect/>
          </a:stretch>
        </p:blipFill>
        <p:spPr>
          <a:xfrm>
            <a:off x="5309005" y="3087062"/>
            <a:ext cx="261610" cy="261610"/>
          </a:xfrm>
          <a:prstGeom prst="rect">
            <a:avLst/>
          </a:prstGeom>
        </p:spPr>
      </p:pic>
      <p:pic>
        <p:nvPicPr>
          <p:cNvPr id="44" name="Picture 43" descr="Green Check Mark Symbol PNG Transparent Images Free Download ...">
            <a:extLst>
              <a:ext uri="{FF2B5EF4-FFF2-40B4-BE49-F238E27FC236}">
                <a16:creationId xmlns:a16="http://schemas.microsoft.com/office/drawing/2014/main" id="{12A42D78-9D3B-EACB-FD73-B9E21B0319C4}"/>
              </a:ext>
            </a:extLst>
          </p:cNvPr>
          <p:cNvPicPr>
            <a:picLocks noChangeAspect="1"/>
          </p:cNvPicPr>
          <p:nvPr/>
        </p:nvPicPr>
        <p:blipFill>
          <a:blip r:embed="rId3"/>
          <a:stretch>
            <a:fillRect/>
          </a:stretch>
        </p:blipFill>
        <p:spPr>
          <a:xfrm>
            <a:off x="5299780" y="3482733"/>
            <a:ext cx="261610" cy="261610"/>
          </a:xfrm>
          <a:prstGeom prst="rect">
            <a:avLst/>
          </a:prstGeom>
        </p:spPr>
      </p:pic>
      <p:sp>
        <p:nvSpPr>
          <p:cNvPr id="45" name="TextBox 44">
            <a:extLst>
              <a:ext uri="{FF2B5EF4-FFF2-40B4-BE49-F238E27FC236}">
                <a16:creationId xmlns:a16="http://schemas.microsoft.com/office/drawing/2014/main" id="{F45660E9-51CB-34C7-7E35-B712DE5BE071}"/>
              </a:ext>
            </a:extLst>
          </p:cNvPr>
          <p:cNvSpPr txBox="1"/>
          <p:nvPr/>
        </p:nvSpPr>
        <p:spPr>
          <a:xfrm>
            <a:off x="5122508" y="3291867"/>
            <a:ext cx="771191" cy="261610"/>
          </a:xfrm>
          <a:prstGeom prst="rect">
            <a:avLst/>
          </a:prstGeom>
          <a:noFill/>
          <a:ln w="6350">
            <a:noFill/>
          </a:ln>
        </p:spPr>
        <p:txBody>
          <a:bodyPr wrap="square" rtlCol="0">
            <a:spAutoFit/>
          </a:bodyPr>
          <a:lstStyle/>
          <a:p>
            <a:pPr algn="l"/>
            <a:r>
              <a:rPr lang="en-US" sz="1100" dirty="0">
                <a:latin typeface="+mn-lt"/>
              </a:rPr>
              <a:t>Possible</a:t>
            </a:r>
          </a:p>
        </p:txBody>
      </p:sp>
      <p:pic>
        <p:nvPicPr>
          <p:cNvPr id="48" name="Picture 47" descr="Green Check Mark Symbol PNG Transparent Images Free Download ...">
            <a:extLst>
              <a:ext uri="{FF2B5EF4-FFF2-40B4-BE49-F238E27FC236}">
                <a16:creationId xmlns:a16="http://schemas.microsoft.com/office/drawing/2014/main" id="{171E887E-52BE-6B28-9EB4-6322FC5CAD90}"/>
              </a:ext>
            </a:extLst>
          </p:cNvPr>
          <p:cNvPicPr>
            <a:picLocks noChangeAspect="1"/>
          </p:cNvPicPr>
          <p:nvPr/>
        </p:nvPicPr>
        <p:blipFill>
          <a:blip r:embed="rId3"/>
          <a:stretch>
            <a:fillRect/>
          </a:stretch>
        </p:blipFill>
        <p:spPr>
          <a:xfrm>
            <a:off x="7990941" y="2545328"/>
            <a:ext cx="261610" cy="261610"/>
          </a:xfrm>
          <a:prstGeom prst="rect">
            <a:avLst/>
          </a:prstGeom>
        </p:spPr>
      </p:pic>
      <p:pic>
        <p:nvPicPr>
          <p:cNvPr id="49" name="Picture 48" descr="Green Check Mark Symbol PNG Transparent Images Free Download ...">
            <a:extLst>
              <a:ext uri="{FF2B5EF4-FFF2-40B4-BE49-F238E27FC236}">
                <a16:creationId xmlns:a16="http://schemas.microsoft.com/office/drawing/2014/main" id="{0716751B-F05B-AEFF-39D6-2222E6B02F80}"/>
              </a:ext>
            </a:extLst>
          </p:cNvPr>
          <p:cNvPicPr>
            <a:picLocks noChangeAspect="1"/>
          </p:cNvPicPr>
          <p:nvPr/>
        </p:nvPicPr>
        <p:blipFill>
          <a:blip r:embed="rId3"/>
          <a:stretch>
            <a:fillRect/>
          </a:stretch>
        </p:blipFill>
        <p:spPr>
          <a:xfrm>
            <a:off x="7990941" y="2707710"/>
            <a:ext cx="261610" cy="261610"/>
          </a:xfrm>
          <a:prstGeom prst="rect">
            <a:avLst/>
          </a:prstGeom>
        </p:spPr>
      </p:pic>
      <p:pic>
        <p:nvPicPr>
          <p:cNvPr id="50" name="Picture 49" descr="Green Check Mark Symbol PNG Transparent Images Free Download ...">
            <a:extLst>
              <a:ext uri="{FF2B5EF4-FFF2-40B4-BE49-F238E27FC236}">
                <a16:creationId xmlns:a16="http://schemas.microsoft.com/office/drawing/2014/main" id="{5317EBAC-B2F0-9956-1168-2929AB79D565}"/>
              </a:ext>
            </a:extLst>
          </p:cNvPr>
          <p:cNvPicPr>
            <a:picLocks noChangeAspect="1"/>
          </p:cNvPicPr>
          <p:nvPr/>
        </p:nvPicPr>
        <p:blipFill>
          <a:blip r:embed="rId3"/>
          <a:stretch>
            <a:fillRect/>
          </a:stretch>
        </p:blipFill>
        <p:spPr>
          <a:xfrm>
            <a:off x="7990941" y="2893006"/>
            <a:ext cx="261610" cy="261610"/>
          </a:xfrm>
          <a:prstGeom prst="rect">
            <a:avLst/>
          </a:prstGeom>
        </p:spPr>
      </p:pic>
      <p:pic>
        <p:nvPicPr>
          <p:cNvPr id="51" name="Picture 50" descr="Green Check Mark Symbol PNG Transparent Images Free Download ...">
            <a:extLst>
              <a:ext uri="{FF2B5EF4-FFF2-40B4-BE49-F238E27FC236}">
                <a16:creationId xmlns:a16="http://schemas.microsoft.com/office/drawing/2014/main" id="{51F8862C-00D4-8F2F-90A0-5079C65A6BDA}"/>
              </a:ext>
            </a:extLst>
          </p:cNvPr>
          <p:cNvPicPr>
            <a:picLocks noChangeAspect="1"/>
          </p:cNvPicPr>
          <p:nvPr/>
        </p:nvPicPr>
        <p:blipFill>
          <a:blip r:embed="rId3"/>
          <a:stretch>
            <a:fillRect/>
          </a:stretch>
        </p:blipFill>
        <p:spPr>
          <a:xfrm>
            <a:off x="7990941" y="3066110"/>
            <a:ext cx="261610" cy="261610"/>
          </a:xfrm>
          <a:prstGeom prst="rect">
            <a:avLst/>
          </a:prstGeom>
        </p:spPr>
      </p:pic>
      <p:pic>
        <p:nvPicPr>
          <p:cNvPr id="52" name="Picture 51" descr="Green Checkmark PNG Transparent Images Free Download | Vector Files |  Pngtree">
            <a:extLst>
              <a:ext uri="{FF2B5EF4-FFF2-40B4-BE49-F238E27FC236}">
                <a16:creationId xmlns:a16="http://schemas.microsoft.com/office/drawing/2014/main" id="{9D112554-3843-66B8-E3F4-C72336987EFF}"/>
              </a:ext>
            </a:extLst>
          </p:cNvPr>
          <p:cNvPicPr>
            <a:picLocks noChangeAspect="1"/>
          </p:cNvPicPr>
          <p:nvPr/>
        </p:nvPicPr>
        <p:blipFill>
          <a:blip r:embed="rId4"/>
          <a:srcRect l="50000" t="31293" b="29447"/>
          <a:stretch>
            <a:fillRect/>
          </a:stretch>
        </p:blipFill>
        <p:spPr>
          <a:xfrm>
            <a:off x="7994653" y="3300153"/>
            <a:ext cx="257898" cy="202498"/>
          </a:xfrm>
          <a:prstGeom prst="rect">
            <a:avLst/>
          </a:prstGeom>
        </p:spPr>
      </p:pic>
      <p:sp>
        <p:nvSpPr>
          <p:cNvPr id="55" name="TextBox 54">
            <a:extLst>
              <a:ext uri="{FF2B5EF4-FFF2-40B4-BE49-F238E27FC236}">
                <a16:creationId xmlns:a16="http://schemas.microsoft.com/office/drawing/2014/main" id="{E6001B49-CCC5-7AAF-B7A1-BAC3A261DC2E}"/>
              </a:ext>
            </a:extLst>
          </p:cNvPr>
          <p:cNvSpPr txBox="1"/>
          <p:nvPr/>
        </p:nvSpPr>
        <p:spPr>
          <a:xfrm>
            <a:off x="7757256" y="3490381"/>
            <a:ext cx="771191" cy="261610"/>
          </a:xfrm>
          <a:prstGeom prst="rect">
            <a:avLst/>
          </a:prstGeom>
          <a:noFill/>
          <a:ln w="6350">
            <a:noFill/>
          </a:ln>
        </p:spPr>
        <p:txBody>
          <a:bodyPr wrap="square" rtlCol="0">
            <a:spAutoFit/>
          </a:bodyPr>
          <a:lstStyle/>
          <a:p>
            <a:pPr algn="l"/>
            <a:r>
              <a:rPr lang="en-US" sz="1100" dirty="0">
                <a:latin typeface="+mn-lt"/>
              </a:rPr>
              <a:t>Limited</a:t>
            </a:r>
          </a:p>
        </p:txBody>
      </p:sp>
    </p:spTree>
    <p:extLst>
      <p:ext uri="{BB962C8B-B14F-4D97-AF65-F5344CB8AC3E}">
        <p14:creationId xmlns:p14="http://schemas.microsoft.com/office/powerpoint/2010/main" val="993415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5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83E1A-31A1-8F9B-FC58-0B93988861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1591CB-5D23-7BAE-7EE4-7913909D3FA1}"/>
              </a:ext>
            </a:extLst>
          </p:cNvPr>
          <p:cNvSpPr>
            <a:spLocks noGrp="1"/>
          </p:cNvSpPr>
          <p:nvPr>
            <p:ph type="title"/>
          </p:nvPr>
        </p:nvSpPr>
        <p:spPr/>
        <p:txBody>
          <a:bodyPr/>
          <a:lstStyle/>
          <a:p>
            <a:r>
              <a:rPr lang="en-US" dirty="0"/>
              <a:t>Questions?</a:t>
            </a:r>
          </a:p>
        </p:txBody>
      </p:sp>
      <p:sp>
        <p:nvSpPr>
          <p:cNvPr id="4" name="Footer Placeholder 3">
            <a:extLst>
              <a:ext uri="{FF2B5EF4-FFF2-40B4-BE49-F238E27FC236}">
                <a16:creationId xmlns:a16="http://schemas.microsoft.com/office/drawing/2014/main" id="{42C8BC65-6210-F2B3-58F8-9A22ECB65803}"/>
              </a:ext>
            </a:extLst>
          </p:cNvPr>
          <p:cNvSpPr>
            <a:spLocks noGrp="1"/>
          </p:cNvSpPr>
          <p:nvPr>
            <p:ph type="ftr" sz="quarter" idx="3"/>
          </p:nvPr>
        </p:nvSpPr>
        <p:spPr/>
        <p:txBody>
          <a:bodyPr/>
          <a:lstStyle/>
          <a:p>
            <a:r>
              <a:rPr lang="sv-SE"/>
              <a:t>Karolinska Institutet - a medical university</a:t>
            </a:r>
            <a:endParaRPr lang="sv-SE" dirty="0"/>
          </a:p>
        </p:txBody>
      </p:sp>
      <p:sp>
        <p:nvSpPr>
          <p:cNvPr id="5" name="Date Placeholder 4">
            <a:extLst>
              <a:ext uri="{FF2B5EF4-FFF2-40B4-BE49-F238E27FC236}">
                <a16:creationId xmlns:a16="http://schemas.microsoft.com/office/drawing/2014/main" id="{9160D77C-F7D0-E0BF-37D4-CA3CDB1921FB}"/>
              </a:ext>
            </a:extLst>
          </p:cNvPr>
          <p:cNvSpPr>
            <a:spLocks noGrp="1"/>
          </p:cNvSpPr>
          <p:nvPr>
            <p:ph type="dt" sz="half" idx="10"/>
          </p:nvPr>
        </p:nvSpPr>
        <p:spPr/>
        <p:txBody>
          <a:bodyPr/>
          <a:lstStyle/>
          <a:p>
            <a:fld id="{0B99A5A2-19A1-4CFC-BFE3-8B9C2E2B5BE0}" type="datetime1">
              <a:rPr lang="en-GB" smtClean="0"/>
              <a:t>19/10/2026</a:t>
            </a:fld>
            <a:endParaRPr lang="sv-SE" dirty="0"/>
          </a:p>
        </p:txBody>
      </p:sp>
      <p:sp>
        <p:nvSpPr>
          <p:cNvPr id="6" name="Slide Number Placeholder 5">
            <a:extLst>
              <a:ext uri="{FF2B5EF4-FFF2-40B4-BE49-F238E27FC236}">
                <a16:creationId xmlns:a16="http://schemas.microsoft.com/office/drawing/2014/main" id="{A34A850A-5F52-B803-0117-918D407BE823}"/>
              </a:ext>
            </a:extLst>
          </p:cNvPr>
          <p:cNvSpPr>
            <a:spLocks noGrp="1"/>
          </p:cNvSpPr>
          <p:nvPr>
            <p:ph type="sldNum" sz="quarter" idx="12"/>
          </p:nvPr>
        </p:nvSpPr>
        <p:spPr/>
        <p:txBody>
          <a:bodyPr/>
          <a:lstStyle/>
          <a:p>
            <a:fld id="{15859C56-CB7E-413F-8971-4226A1EF6823}" type="slidenum">
              <a:rPr lang="sv-SE" smtClean="0"/>
              <a:pPr/>
              <a:t>21</a:t>
            </a:fld>
            <a:endParaRPr lang="sv-SE" dirty="0"/>
          </a:p>
        </p:txBody>
      </p:sp>
    </p:spTree>
    <p:extLst>
      <p:ext uri="{BB962C8B-B14F-4D97-AF65-F5344CB8AC3E}">
        <p14:creationId xmlns:p14="http://schemas.microsoft.com/office/powerpoint/2010/main" val="14029780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67048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2C33B0A-AFBA-1E31-0E83-C1224E900F14}"/>
              </a:ext>
            </a:extLst>
          </p:cNvPr>
          <p:cNvSpPr>
            <a:spLocks noGrp="1"/>
          </p:cNvSpPr>
          <p:nvPr>
            <p:ph type="ftr" sz="quarter" idx="3"/>
          </p:nvPr>
        </p:nvSpPr>
        <p:spPr/>
        <p:txBody>
          <a:bodyPr/>
          <a:lstStyle/>
          <a:p>
            <a:r>
              <a:rPr lang="sv-SE"/>
              <a:t>Karolinska Institutet - a medical university</a:t>
            </a:r>
            <a:endParaRPr lang="sv-SE" dirty="0"/>
          </a:p>
        </p:txBody>
      </p:sp>
      <p:sp>
        <p:nvSpPr>
          <p:cNvPr id="5" name="Date Placeholder 4">
            <a:extLst>
              <a:ext uri="{FF2B5EF4-FFF2-40B4-BE49-F238E27FC236}">
                <a16:creationId xmlns:a16="http://schemas.microsoft.com/office/drawing/2014/main" id="{28368A41-1853-9910-CF29-2C73726C44A3}"/>
              </a:ext>
            </a:extLst>
          </p:cNvPr>
          <p:cNvSpPr>
            <a:spLocks noGrp="1"/>
          </p:cNvSpPr>
          <p:nvPr>
            <p:ph type="dt" sz="half" idx="10"/>
          </p:nvPr>
        </p:nvSpPr>
        <p:spPr/>
        <p:txBody>
          <a:bodyPr/>
          <a:lstStyle/>
          <a:p>
            <a:fld id="{0B99A5A2-19A1-4CFC-BFE3-8B9C2E2B5BE0}" type="datetime1">
              <a:rPr lang="en-GB" smtClean="0"/>
              <a:t>19/10/2026</a:t>
            </a:fld>
            <a:endParaRPr lang="sv-SE" dirty="0"/>
          </a:p>
        </p:txBody>
      </p:sp>
      <p:sp>
        <p:nvSpPr>
          <p:cNvPr id="6" name="Slide Number Placeholder 5">
            <a:extLst>
              <a:ext uri="{FF2B5EF4-FFF2-40B4-BE49-F238E27FC236}">
                <a16:creationId xmlns:a16="http://schemas.microsoft.com/office/drawing/2014/main" id="{BD62F784-295E-5027-2BCE-8BA10094C221}"/>
              </a:ext>
            </a:extLst>
          </p:cNvPr>
          <p:cNvSpPr>
            <a:spLocks noGrp="1"/>
          </p:cNvSpPr>
          <p:nvPr>
            <p:ph type="sldNum" sz="quarter" idx="12"/>
          </p:nvPr>
        </p:nvSpPr>
        <p:spPr/>
        <p:txBody>
          <a:bodyPr/>
          <a:lstStyle/>
          <a:p>
            <a:fld id="{15859C56-CB7E-413F-8971-4226A1EF6823}" type="slidenum">
              <a:rPr lang="sv-SE" smtClean="0"/>
              <a:pPr/>
              <a:t>23</a:t>
            </a:fld>
            <a:endParaRPr lang="sv-SE" dirty="0"/>
          </a:p>
        </p:txBody>
      </p:sp>
      <p:pic>
        <p:nvPicPr>
          <p:cNvPr id="7" name="Picture 6">
            <a:extLst>
              <a:ext uri="{FF2B5EF4-FFF2-40B4-BE49-F238E27FC236}">
                <a16:creationId xmlns:a16="http://schemas.microsoft.com/office/drawing/2014/main" id="{08798950-64E2-EC7F-14E4-DF48D84918C6}"/>
              </a:ext>
            </a:extLst>
          </p:cNvPr>
          <p:cNvPicPr>
            <a:picLocks noChangeAspect="1"/>
          </p:cNvPicPr>
          <p:nvPr/>
        </p:nvPicPr>
        <p:blipFill>
          <a:blip r:embed="rId3"/>
          <a:srcRect t="40200"/>
          <a:stretch>
            <a:fillRect/>
          </a:stretch>
        </p:blipFill>
        <p:spPr>
          <a:xfrm>
            <a:off x="325524" y="1386101"/>
            <a:ext cx="8492951" cy="3385849"/>
          </a:xfrm>
          <a:prstGeom prst="rect">
            <a:avLst/>
          </a:prstGeom>
        </p:spPr>
      </p:pic>
      <p:pic>
        <p:nvPicPr>
          <p:cNvPr id="8" name="Picture 7">
            <a:extLst>
              <a:ext uri="{FF2B5EF4-FFF2-40B4-BE49-F238E27FC236}">
                <a16:creationId xmlns:a16="http://schemas.microsoft.com/office/drawing/2014/main" id="{8474D878-6E52-7420-BA26-7FD05D639131}"/>
              </a:ext>
            </a:extLst>
          </p:cNvPr>
          <p:cNvPicPr>
            <a:picLocks noChangeAspect="1"/>
          </p:cNvPicPr>
          <p:nvPr/>
        </p:nvPicPr>
        <p:blipFill>
          <a:blip r:embed="rId3"/>
          <a:srcRect l="1467" t="10510" r="68666" b="58400"/>
          <a:stretch>
            <a:fillRect/>
          </a:stretch>
        </p:blipFill>
        <p:spPr>
          <a:xfrm>
            <a:off x="35496" y="150315"/>
            <a:ext cx="1835696" cy="1273958"/>
          </a:xfrm>
          <a:prstGeom prst="rect">
            <a:avLst/>
          </a:prstGeom>
        </p:spPr>
      </p:pic>
    </p:spTree>
    <p:extLst>
      <p:ext uri="{BB962C8B-B14F-4D97-AF65-F5344CB8AC3E}">
        <p14:creationId xmlns:p14="http://schemas.microsoft.com/office/powerpoint/2010/main" val="3998975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793531B-BC41-E1A7-D705-B52ADED9F9B1}"/>
              </a:ext>
            </a:extLst>
          </p:cNvPr>
          <p:cNvSpPr>
            <a:spLocks noGrp="1"/>
          </p:cNvSpPr>
          <p:nvPr>
            <p:ph type="ftr" sz="quarter" idx="3"/>
          </p:nvPr>
        </p:nvSpPr>
        <p:spPr/>
        <p:txBody>
          <a:bodyPr/>
          <a:lstStyle/>
          <a:p>
            <a:r>
              <a:rPr lang="sv-SE"/>
              <a:t>Karolinska Institutet - a medical university</a:t>
            </a:r>
            <a:endParaRPr lang="sv-SE" dirty="0"/>
          </a:p>
        </p:txBody>
      </p:sp>
      <p:sp>
        <p:nvSpPr>
          <p:cNvPr id="5" name="Date Placeholder 4">
            <a:extLst>
              <a:ext uri="{FF2B5EF4-FFF2-40B4-BE49-F238E27FC236}">
                <a16:creationId xmlns:a16="http://schemas.microsoft.com/office/drawing/2014/main" id="{989DB91E-41BC-798B-6EE7-4AB02F8E3E3E}"/>
              </a:ext>
            </a:extLst>
          </p:cNvPr>
          <p:cNvSpPr>
            <a:spLocks noGrp="1"/>
          </p:cNvSpPr>
          <p:nvPr>
            <p:ph type="dt" sz="half" idx="10"/>
          </p:nvPr>
        </p:nvSpPr>
        <p:spPr/>
        <p:txBody>
          <a:bodyPr/>
          <a:lstStyle/>
          <a:p>
            <a:fld id="{0B99A5A2-19A1-4CFC-BFE3-8B9C2E2B5BE0}" type="datetime1">
              <a:rPr lang="en-GB" smtClean="0"/>
              <a:t>19/10/2026</a:t>
            </a:fld>
            <a:endParaRPr lang="sv-SE" dirty="0"/>
          </a:p>
        </p:txBody>
      </p:sp>
      <p:sp>
        <p:nvSpPr>
          <p:cNvPr id="6" name="Slide Number Placeholder 5">
            <a:extLst>
              <a:ext uri="{FF2B5EF4-FFF2-40B4-BE49-F238E27FC236}">
                <a16:creationId xmlns:a16="http://schemas.microsoft.com/office/drawing/2014/main" id="{E285C226-5CAE-F0F3-0CCD-6D2721A5A0FE}"/>
              </a:ext>
            </a:extLst>
          </p:cNvPr>
          <p:cNvSpPr>
            <a:spLocks noGrp="1"/>
          </p:cNvSpPr>
          <p:nvPr>
            <p:ph type="sldNum" sz="quarter" idx="12"/>
          </p:nvPr>
        </p:nvSpPr>
        <p:spPr/>
        <p:txBody>
          <a:bodyPr/>
          <a:lstStyle/>
          <a:p>
            <a:fld id="{15859C56-CB7E-413F-8971-4226A1EF6823}" type="slidenum">
              <a:rPr lang="sv-SE" smtClean="0"/>
              <a:pPr/>
              <a:t>24</a:t>
            </a:fld>
            <a:endParaRPr lang="sv-SE" dirty="0"/>
          </a:p>
        </p:txBody>
      </p:sp>
      <p:pic>
        <p:nvPicPr>
          <p:cNvPr id="7" name="Picture 6">
            <a:extLst>
              <a:ext uri="{FF2B5EF4-FFF2-40B4-BE49-F238E27FC236}">
                <a16:creationId xmlns:a16="http://schemas.microsoft.com/office/drawing/2014/main" id="{0426A17E-E008-3910-73E2-744C69AD61C9}"/>
              </a:ext>
            </a:extLst>
          </p:cNvPr>
          <p:cNvPicPr>
            <a:picLocks noChangeAspect="1"/>
          </p:cNvPicPr>
          <p:nvPr/>
        </p:nvPicPr>
        <p:blipFill>
          <a:blip r:embed="rId2"/>
          <a:srcRect l="34808" t="10801" r="36259" b="59800"/>
          <a:stretch>
            <a:fillRect/>
          </a:stretch>
        </p:blipFill>
        <p:spPr>
          <a:xfrm>
            <a:off x="0" y="0"/>
            <a:ext cx="1989332" cy="1347613"/>
          </a:xfrm>
          <a:prstGeom prst="rect">
            <a:avLst/>
          </a:prstGeom>
        </p:spPr>
      </p:pic>
      <p:pic>
        <p:nvPicPr>
          <p:cNvPr id="8" name="Picture 7">
            <a:extLst>
              <a:ext uri="{FF2B5EF4-FFF2-40B4-BE49-F238E27FC236}">
                <a16:creationId xmlns:a16="http://schemas.microsoft.com/office/drawing/2014/main" id="{5971FCE6-306E-3E98-2780-51FC23195198}"/>
              </a:ext>
            </a:extLst>
          </p:cNvPr>
          <p:cNvPicPr>
            <a:picLocks noChangeAspect="1"/>
          </p:cNvPicPr>
          <p:nvPr/>
        </p:nvPicPr>
        <p:blipFill>
          <a:blip r:embed="rId3"/>
          <a:stretch>
            <a:fillRect/>
          </a:stretch>
        </p:blipFill>
        <p:spPr>
          <a:xfrm>
            <a:off x="120429" y="1776506"/>
            <a:ext cx="6611811" cy="1807917"/>
          </a:xfrm>
          <a:prstGeom prst="rect">
            <a:avLst/>
          </a:prstGeom>
        </p:spPr>
      </p:pic>
      <p:sp>
        <p:nvSpPr>
          <p:cNvPr id="9" name="Right Arrow 8">
            <a:extLst>
              <a:ext uri="{FF2B5EF4-FFF2-40B4-BE49-F238E27FC236}">
                <a16:creationId xmlns:a16="http://schemas.microsoft.com/office/drawing/2014/main" id="{3DD3DE84-21C2-D126-A270-CE05EA87E91D}"/>
              </a:ext>
            </a:extLst>
          </p:cNvPr>
          <p:cNvSpPr/>
          <p:nvPr/>
        </p:nvSpPr>
        <p:spPr bwMode="auto">
          <a:xfrm>
            <a:off x="1989332" y="627534"/>
            <a:ext cx="566444" cy="144016"/>
          </a:xfrm>
          <a:prstGeom prst="rightArrow">
            <a:avLst/>
          </a:prstGeom>
          <a:solidFill>
            <a:schemeClr val="accent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err="1">
              <a:ln>
                <a:noFill/>
              </a:ln>
              <a:solidFill>
                <a:schemeClr val="bg1"/>
              </a:solidFill>
              <a:effectLst/>
              <a:latin typeface="+mn-lt"/>
            </a:endParaRPr>
          </a:p>
        </p:txBody>
      </p:sp>
      <p:sp>
        <p:nvSpPr>
          <p:cNvPr id="10" name="TextBox 9">
            <a:extLst>
              <a:ext uri="{FF2B5EF4-FFF2-40B4-BE49-F238E27FC236}">
                <a16:creationId xmlns:a16="http://schemas.microsoft.com/office/drawing/2014/main" id="{A2B52D6F-1A0E-78CC-7C70-4657CAD733D7}"/>
              </a:ext>
            </a:extLst>
          </p:cNvPr>
          <p:cNvSpPr txBox="1"/>
          <p:nvPr/>
        </p:nvSpPr>
        <p:spPr>
          <a:xfrm>
            <a:off x="2664233" y="515456"/>
            <a:ext cx="1835759" cy="400110"/>
          </a:xfrm>
          <a:prstGeom prst="rect">
            <a:avLst/>
          </a:prstGeom>
          <a:noFill/>
          <a:ln w="6350">
            <a:noFill/>
          </a:ln>
        </p:spPr>
        <p:txBody>
          <a:bodyPr wrap="none" rtlCol="0">
            <a:spAutoFit/>
          </a:bodyPr>
          <a:lstStyle/>
          <a:p>
            <a:pPr algn="l"/>
            <a:r>
              <a:rPr lang="en-US" sz="2000" b="1" dirty="0" err="1">
                <a:latin typeface="+mn-lt"/>
              </a:rPr>
              <a:t>Fastq</a:t>
            </a:r>
            <a:r>
              <a:rPr lang="en-US" sz="2000" b="1" dirty="0">
                <a:latin typeface="+mn-lt"/>
              </a:rPr>
              <a:t> file !!!!!!</a:t>
            </a:r>
          </a:p>
        </p:txBody>
      </p:sp>
      <p:cxnSp>
        <p:nvCxnSpPr>
          <p:cNvPr id="12" name="Straight Arrow Connector 11">
            <a:extLst>
              <a:ext uri="{FF2B5EF4-FFF2-40B4-BE49-F238E27FC236}">
                <a16:creationId xmlns:a16="http://schemas.microsoft.com/office/drawing/2014/main" id="{AF9DD313-7553-6CFF-52BE-99DA852029B4}"/>
              </a:ext>
            </a:extLst>
          </p:cNvPr>
          <p:cNvCxnSpPr/>
          <p:nvPr/>
        </p:nvCxnSpPr>
        <p:spPr bwMode="auto">
          <a:xfrm>
            <a:off x="4499992" y="1995686"/>
            <a:ext cx="2376264"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TextBox 13">
            <a:extLst>
              <a:ext uri="{FF2B5EF4-FFF2-40B4-BE49-F238E27FC236}">
                <a16:creationId xmlns:a16="http://schemas.microsoft.com/office/drawing/2014/main" id="{53998D44-E167-6170-3F66-08A03B824718}"/>
              </a:ext>
            </a:extLst>
          </p:cNvPr>
          <p:cNvSpPr txBox="1"/>
          <p:nvPr/>
        </p:nvSpPr>
        <p:spPr>
          <a:xfrm>
            <a:off x="7092280" y="1785343"/>
            <a:ext cx="1770036" cy="307777"/>
          </a:xfrm>
          <a:prstGeom prst="rect">
            <a:avLst/>
          </a:prstGeom>
          <a:noFill/>
          <a:ln w="6350">
            <a:solidFill>
              <a:schemeClr val="accent1"/>
            </a:solidFill>
          </a:ln>
        </p:spPr>
        <p:txBody>
          <a:bodyPr wrap="none" rtlCol="0">
            <a:spAutoFit/>
          </a:bodyPr>
          <a:lstStyle/>
          <a:p>
            <a:pPr algn="l"/>
            <a:r>
              <a:rPr lang="en-US" sz="1400" dirty="0">
                <a:latin typeface="+mn-lt"/>
              </a:rPr>
              <a:t>Fragment identifier</a:t>
            </a:r>
          </a:p>
        </p:txBody>
      </p:sp>
      <p:cxnSp>
        <p:nvCxnSpPr>
          <p:cNvPr id="15" name="Straight Arrow Connector 14">
            <a:extLst>
              <a:ext uri="{FF2B5EF4-FFF2-40B4-BE49-F238E27FC236}">
                <a16:creationId xmlns:a16="http://schemas.microsoft.com/office/drawing/2014/main" id="{9FD9638E-F011-607D-07BC-B0961B86D55D}"/>
              </a:ext>
            </a:extLst>
          </p:cNvPr>
          <p:cNvCxnSpPr/>
          <p:nvPr/>
        </p:nvCxnSpPr>
        <p:spPr bwMode="auto">
          <a:xfrm>
            <a:off x="6084168" y="2211710"/>
            <a:ext cx="1080120"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TextBox 16">
            <a:extLst>
              <a:ext uri="{FF2B5EF4-FFF2-40B4-BE49-F238E27FC236}">
                <a16:creationId xmlns:a16="http://schemas.microsoft.com/office/drawing/2014/main" id="{71F88215-1972-7D4E-12C0-10AB6FB7FC48}"/>
              </a:ext>
            </a:extLst>
          </p:cNvPr>
          <p:cNvSpPr txBox="1"/>
          <p:nvPr/>
        </p:nvSpPr>
        <p:spPr>
          <a:xfrm>
            <a:off x="7281648" y="2093120"/>
            <a:ext cx="978153" cy="307777"/>
          </a:xfrm>
          <a:prstGeom prst="rect">
            <a:avLst/>
          </a:prstGeom>
          <a:noFill/>
          <a:ln w="6350">
            <a:solidFill>
              <a:schemeClr val="accent1"/>
            </a:solidFill>
          </a:ln>
        </p:spPr>
        <p:txBody>
          <a:bodyPr wrap="none" rtlCol="0">
            <a:spAutoFit/>
          </a:bodyPr>
          <a:lstStyle/>
          <a:p>
            <a:pPr algn="l"/>
            <a:r>
              <a:rPr lang="en-US" sz="1400" dirty="0">
                <a:latin typeface="+mn-lt"/>
              </a:rPr>
              <a:t>Fragment</a:t>
            </a:r>
          </a:p>
        </p:txBody>
      </p:sp>
      <p:sp>
        <p:nvSpPr>
          <p:cNvPr id="18" name="TextBox 17">
            <a:extLst>
              <a:ext uri="{FF2B5EF4-FFF2-40B4-BE49-F238E27FC236}">
                <a16:creationId xmlns:a16="http://schemas.microsoft.com/office/drawing/2014/main" id="{1964D1F6-113E-B04C-6CA5-F85E3321CF68}"/>
              </a:ext>
            </a:extLst>
          </p:cNvPr>
          <p:cNvSpPr txBox="1"/>
          <p:nvPr/>
        </p:nvSpPr>
        <p:spPr>
          <a:xfrm>
            <a:off x="7164288" y="2400897"/>
            <a:ext cx="1821359" cy="307777"/>
          </a:xfrm>
          <a:prstGeom prst="rect">
            <a:avLst/>
          </a:prstGeom>
          <a:noFill/>
          <a:ln w="6350">
            <a:solidFill>
              <a:schemeClr val="accent1"/>
            </a:solidFill>
          </a:ln>
        </p:spPr>
        <p:txBody>
          <a:bodyPr wrap="square" rtlCol="0">
            <a:spAutoFit/>
          </a:bodyPr>
          <a:lstStyle/>
          <a:p>
            <a:pPr algn="l"/>
            <a:r>
              <a:rPr lang="en-US" sz="1400" dirty="0">
                <a:latin typeface="+mn-lt"/>
              </a:rPr>
              <a:t>Quality of Fragment</a:t>
            </a:r>
          </a:p>
        </p:txBody>
      </p:sp>
      <p:cxnSp>
        <p:nvCxnSpPr>
          <p:cNvPr id="19" name="Straight Arrow Connector 18">
            <a:extLst>
              <a:ext uri="{FF2B5EF4-FFF2-40B4-BE49-F238E27FC236}">
                <a16:creationId xmlns:a16="http://schemas.microsoft.com/office/drawing/2014/main" id="{CB0EA18C-DAF3-1FBE-D30A-00A4F6D5C605}"/>
              </a:ext>
            </a:extLst>
          </p:cNvPr>
          <p:cNvCxnSpPr/>
          <p:nvPr/>
        </p:nvCxnSpPr>
        <p:spPr bwMode="auto">
          <a:xfrm>
            <a:off x="6084168" y="2571750"/>
            <a:ext cx="1008112"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6940562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664A264-C91C-9236-3713-A4F3AD54A5BF}"/>
              </a:ext>
            </a:extLst>
          </p:cNvPr>
          <p:cNvSpPr>
            <a:spLocks noGrp="1"/>
          </p:cNvSpPr>
          <p:nvPr>
            <p:ph type="ftr" sz="quarter" idx="3"/>
          </p:nvPr>
        </p:nvSpPr>
        <p:spPr/>
        <p:txBody>
          <a:bodyPr/>
          <a:lstStyle/>
          <a:p>
            <a:r>
              <a:rPr lang="sv-SE"/>
              <a:t>Karolinska Institutet - a medical university</a:t>
            </a:r>
            <a:endParaRPr lang="sv-SE" dirty="0"/>
          </a:p>
        </p:txBody>
      </p:sp>
      <p:sp>
        <p:nvSpPr>
          <p:cNvPr id="5" name="Date Placeholder 4">
            <a:extLst>
              <a:ext uri="{FF2B5EF4-FFF2-40B4-BE49-F238E27FC236}">
                <a16:creationId xmlns:a16="http://schemas.microsoft.com/office/drawing/2014/main" id="{9AE99759-E192-27B5-595A-C6774A839EB0}"/>
              </a:ext>
            </a:extLst>
          </p:cNvPr>
          <p:cNvSpPr>
            <a:spLocks noGrp="1"/>
          </p:cNvSpPr>
          <p:nvPr>
            <p:ph type="dt" sz="half" idx="10"/>
          </p:nvPr>
        </p:nvSpPr>
        <p:spPr/>
        <p:txBody>
          <a:bodyPr/>
          <a:lstStyle/>
          <a:p>
            <a:fld id="{0B99A5A2-19A1-4CFC-BFE3-8B9C2E2B5BE0}" type="datetime1">
              <a:rPr lang="en-GB" smtClean="0"/>
              <a:t>19/10/2026</a:t>
            </a:fld>
            <a:endParaRPr lang="sv-SE" dirty="0"/>
          </a:p>
        </p:txBody>
      </p:sp>
      <p:sp>
        <p:nvSpPr>
          <p:cNvPr id="6" name="Slide Number Placeholder 5">
            <a:extLst>
              <a:ext uri="{FF2B5EF4-FFF2-40B4-BE49-F238E27FC236}">
                <a16:creationId xmlns:a16="http://schemas.microsoft.com/office/drawing/2014/main" id="{B0ACCBFA-AE69-3AD6-7B39-2BDC242A667D}"/>
              </a:ext>
            </a:extLst>
          </p:cNvPr>
          <p:cNvSpPr>
            <a:spLocks noGrp="1"/>
          </p:cNvSpPr>
          <p:nvPr>
            <p:ph type="sldNum" sz="quarter" idx="12"/>
          </p:nvPr>
        </p:nvSpPr>
        <p:spPr/>
        <p:txBody>
          <a:bodyPr/>
          <a:lstStyle/>
          <a:p>
            <a:fld id="{15859C56-CB7E-413F-8971-4226A1EF6823}" type="slidenum">
              <a:rPr lang="sv-SE" smtClean="0"/>
              <a:pPr/>
              <a:t>25</a:t>
            </a:fld>
            <a:endParaRPr lang="sv-SE" dirty="0"/>
          </a:p>
        </p:txBody>
      </p:sp>
      <p:pic>
        <p:nvPicPr>
          <p:cNvPr id="7" name="Picture 6">
            <a:extLst>
              <a:ext uri="{FF2B5EF4-FFF2-40B4-BE49-F238E27FC236}">
                <a16:creationId xmlns:a16="http://schemas.microsoft.com/office/drawing/2014/main" id="{DCAB2E05-7E32-2AFD-7F7A-FDF9465D5D83}"/>
              </a:ext>
            </a:extLst>
          </p:cNvPr>
          <p:cNvPicPr>
            <a:picLocks noChangeAspect="1"/>
          </p:cNvPicPr>
          <p:nvPr/>
        </p:nvPicPr>
        <p:blipFill>
          <a:blip r:embed="rId2"/>
          <a:stretch>
            <a:fillRect/>
          </a:stretch>
        </p:blipFill>
        <p:spPr>
          <a:xfrm>
            <a:off x="1295849" y="339502"/>
            <a:ext cx="6280098" cy="4186733"/>
          </a:xfrm>
          <a:prstGeom prst="rect">
            <a:avLst/>
          </a:prstGeom>
        </p:spPr>
      </p:pic>
    </p:spTree>
    <p:extLst>
      <p:ext uri="{BB962C8B-B14F-4D97-AF65-F5344CB8AC3E}">
        <p14:creationId xmlns:p14="http://schemas.microsoft.com/office/powerpoint/2010/main" val="39074425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667C0EA-5ECB-7EFA-FB6E-9E5240EC37BE}"/>
              </a:ext>
            </a:extLst>
          </p:cNvPr>
          <p:cNvSpPr>
            <a:spLocks noGrp="1"/>
          </p:cNvSpPr>
          <p:nvPr>
            <p:ph type="ftr" sz="quarter" idx="3"/>
          </p:nvPr>
        </p:nvSpPr>
        <p:spPr/>
        <p:txBody>
          <a:bodyPr/>
          <a:lstStyle/>
          <a:p>
            <a:r>
              <a:rPr lang="sv-SE"/>
              <a:t>Karolinska Institutet - a medical university</a:t>
            </a:r>
            <a:endParaRPr lang="sv-SE" dirty="0"/>
          </a:p>
        </p:txBody>
      </p:sp>
      <p:sp>
        <p:nvSpPr>
          <p:cNvPr id="5" name="Date Placeholder 4">
            <a:extLst>
              <a:ext uri="{FF2B5EF4-FFF2-40B4-BE49-F238E27FC236}">
                <a16:creationId xmlns:a16="http://schemas.microsoft.com/office/drawing/2014/main" id="{F896BF95-8960-3664-1EFB-E411B87868D4}"/>
              </a:ext>
            </a:extLst>
          </p:cNvPr>
          <p:cNvSpPr>
            <a:spLocks noGrp="1"/>
          </p:cNvSpPr>
          <p:nvPr>
            <p:ph type="dt" sz="half" idx="10"/>
          </p:nvPr>
        </p:nvSpPr>
        <p:spPr/>
        <p:txBody>
          <a:bodyPr/>
          <a:lstStyle/>
          <a:p>
            <a:fld id="{0B99A5A2-19A1-4CFC-BFE3-8B9C2E2B5BE0}" type="datetime1">
              <a:rPr lang="en-GB" smtClean="0"/>
              <a:t>19/10/2026</a:t>
            </a:fld>
            <a:endParaRPr lang="sv-SE" dirty="0"/>
          </a:p>
        </p:txBody>
      </p:sp>
      <p:sp>
        <p:nvSpPr>
          <p:cNvPr id="6" name="Slide Number Placeholder 5">
            <a:extLst>
              <a:ext uri="{FF2B5EF4-FFF2-40B4-BE49-F238E27FC236}">
                <a16:creationId xmlns:a16="http://schemas.microsoft.com/office/drawing/2014/main" id="{7D4DC335-23C9-23B9-31DD-F6754C458045}"/>
              </a:ext>
            </a:extLst>
          </p:cNvPr>
          <p:cNvSpPr>
            <a:spLocks noGrp="1"/>
          </p:cNvSpPr>
          <p:nvPr>
            <p:ph type="sldNum" sz="quarter" idx="12"/>
          </p:nvPr>
        </p:nvSpPr>
        <p:spPr/>
        <p:txBody>
          <a:bodyPr/>
          <a:lstStyle/>
          <a:p>
            <a:fld id="{15859C56-CB7E-413F-8971-4226A1EF6823}" type="slidenum">
              <a:rPr lang="sv-SE" smtClean="0"/>
              <a:pPr/>
              <a:t>26</a:t>
            </a:fld>
            <a:endParaRPr lang="sv-SE" dirty="0"/>
          </a:p>
        </p:txBody>
      </p:sp>
      <p:pic>
        <p:nvPicPr>
          <p:cNvPr id="8" name="Picture 7">
            <a:extLst>
              <a:ext uri="{FF2B5EF4-FFF2-40B4-BE49-F238E27FC236}">
                <a16:creationId xmlns:a16="http://schemas.microsoft.com/office/drawing/2014/main" id="{FD496B01-6B7B-BA87-B191-4831C2FDB264}"/>
              </a:ext>
            </a:extLst>
          </p:cNvPr>
          <p:cNvPicPr>
            <a:picLocks noChangeAspect="1"/>
          </p:cNvPicPr>
          <p:nvPr/>
        </p:nvPicPr>
        <p:blipFill>
          <a:blip r:embed="rId2"/>
          <a:stretch>
            <a:fillRect/>
          </a:stretch>
        </p:blipFill>
        <p:spPr>
          <a:xfrm>
            <a:off x="899592" y="51470"/>
            <a:ext cx="7125760" cy="4753602"/>
          </a:xfrm>
          <a:prstGeom prst="rect">
            <a:avLst/>
          </a:prstGeom>
        </p:spPr>
      </p:pic>
      <p:sp>
        <p:nvSpPr>
          <p:cNvPr id="2" name="Rectangle 1">
            <a:extLst>
              <a:ext uri="{FF2B5EF4-FFF2-40B4-BE49-F238E27FC236}">
                <a16:creationId xmlns:a16="http://schemas.microsoft.com/office/drawing/2014/main" id="{281552A7-7B55-CB56-348F-E38C543AA392}"/>
              </a:ext>
            </a:extLst>
          </p:cNvPr>
          <p:cNvSpPr/>
          <p:nvPr/>
        </p:nvSpPr>
        <p:spPr bwMode="auto">
          <a:xfrm>
            <a:off x="556951" y="2931790"/>
            <a:ext cx="7700863" cy="1856443"/>
          </a:xfrm>
          <a:prstGeom prst="rect">
            <a:avLst/>
          </a:prstGeom>
          <a:solidFill>
            <a:schemeClr val="bg1"/>
          </a:solidFill>
          <a:ln w="63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err="1">
              <a:ln>
                <a:noFill/>
              </a:ln>
              <a:solidFill>
                <a:schemeClr val="bg1"/>
              </a:solidFill>
              <a:effectLst/>
              <a:latin typeface="+mn-lt"/>
            </a:endParaRPr>
          </a:p>
        </p:txBody>
      </p:sp>
    </p:spTree>
    <p:extLst>
      <p:ext uri="{BB962C8B-B14F-4D97-AF65-F5344CB8AC3E}">
        <p14:creationId xmlns:p14="http://schemas.microsoft.com/office/powerpoint/2010/main" val="959697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5E9BE0-219A-EFD5-EEBF-BB213001E8C7}"/>
              </a:ext>
            </a:extLst>
          </p:cNvPr>
          <p:cNvSpPr>
            <a:spLocks noGrp="1"/>
          </p:cNvSpPr>
          <p:nvPr>
            <p:ph type="ftr" sz="quarter" idx="3"/>
          </p:nvPr>
        </p:nvSpPr>
        <p:spPr/>
        <p:txBody>
          <a:bodyPr/>
          <a:lstStyle/>
          <a:p>
            <a:r>
              <a:rPr lang="sv-SE"/>
              <a:t>Karolinska Institutet - a medical university</a:t>
            </a:r>
            <a:endParaRPr lang="sv-SE" dirty="0"/>
          </a:p>
        </p:txBody>
      </p:sp>
      <p:sp>
        <p:nvSpPr>
          <p:cNvPr id="5" name="Date Placeholder 4">
            <a:extLst>
              <a:ext uri="{FF2B5EF4-FFF2-40B4-BE49-F238E27FC236}">
                <a16:creationId xmlns:a16="http://schemas.microsoft.com/office/drawing/2014/main" id="{F264E614-84DB-A47C-B3F5-FBF4D3BF82EE}"/>
              </a:ext>
            </a:extLst>
          </p:cNvPr>
          <p:cNvSpPr>
            <a:spLocks noGrp="1"/>
          </p:cNvSpPr>
          <p:nvPr>
            <p:ph type="dt" sz="half" idx="10"/>
          </p:nvPr>
        </p:nvSpPr>
        <p:spPr/>
        <p:txBody>
          <a:bodyPr/>
          <a:lstStyle/>
          <a:p>
            <a:fld id="{0B99A5A2-19A1-4CFC-BFE3-8B9C2E2B5BE0}" type="datetime1">
              <a:rPr lang="en-GB" smtClean="0"/>
              <a:t>19/10/2026</a:t>
            </a:fld>
            <a:endParaRPr lang="sv-SE" dirty="0"/>
          </a:p>
        </p:txBody>
      </p:sp>
      <p:sp>
        <p:nvSpPr>
          <p:cNvPr id="6" name="Slide Number Placeholder 5">
            <a:extLst>
              <a:ext uri="{FF2B5EF4-FFF2-40B4-BE49-F238E27FC236}">
                <a16:creationId xmlns:a16="http://schemas.microsoft.com/office/drawing/2014/main" id="{745342C7-1D8D-5162-F096-8A4E9A1D1952}"/>
              </a:ext>
            </a:extLst>
          </p:cNvPr>
          <p:cNvSpPr>
            <a:spLocks noGrp="1"/>
          </p:cNvSpPr>
          <p:nvPr>
            <p:ph type="sldNum" sz="quarter" idx="12"/>
          </p:nvPr>
        </p:nvSpPr>
        <p:spPr/>
        <p:txBody>
          <a:bodyPr/>
          <a:lstStyle/>
          <a:p>
            <a:fld id="{15859C56-CB7E-413F-8971-4226A1EF6823}" type="slidenum">
              <a:rPr lang="sv-SE" smtClean="0"/>
              <a:pPr/>
              <a:t>27</a:t>
            </a:fld>
            <a:endParaRPr lang="sv-SE" dirty="0"/>
          </a:p>
        </p:txBody>
      </p:sp>
      <p:pic>
        <p:nvPicPr>
          <p:cNvPr id="7" name="Picture 6">
            <a:extLst>
              <a:ext uri="{FF2B5EF4-FFF2-40B4-BE49-F238E27FC236}">
                <a16:creationId xmlns:a16="http://schemas.microsoft.com/office/drawing/2014/main" id="{F96C0E73-8401-55D6-13B1-C7D919F03D03}"/>
              </a:ext>
            </a:extLst>
          </p:cNvPr>
          <p:cNvPicPr>
            <a:picLocks noChangeAspect="1"/>
          </p:cNvPicPr>
          <p:nvPr/>
        </p:nvPicPr>
        <p:blipFill>
          <a:blip r:embed="rId2"/>
          <a:stretch>
            <a:fillRect/>
          </a:stretch>
        </p:blipFill>
        <p:spPr>
          <a:xfrm>
            <a:off x="950999" y="0"/>
            <a:ext cx="7242001" cy="4828001"/>
          </a:xfrm>
          <a:prstGeom prst="rect">
            <a:avLst/>
          </a:prstGeom>
        </p:spPr>
      </p:pic>
      <p:sp>
        <p:nvSpPr>
          <p:cNvPr id="2" name="Rectangle 1">
            <a:extLst>
              <a:ext uri="{FF2B5EF4-FFF2-40B4-BE49-F238E27FC236}">
                <a16:creationId xmlns:a16="http://schemas.microsoft.com/office/drawing/2014/main" id="{D504CA67-2DC4-5B9D-8276-8F42A361FA4E}"/>
              </a:ext>
            </a:extLst>
          </p:cNvPr>
          <p:cNvSpPr/>
          <p:nvPr/>
        </p:nvSpPr>
        <p:spPr bwMode="auto">
          <a:xfrm>
            <a:off x="556951" y="3075806"/>
            <a:ext cx="7700863" cy="1712427"/>
          </a:xfrm>
          <a:prstGeom prst="rect">
            <a:avLst/>
          </a:prstGeom>
          <a:solidFill>
            <a:schemeClr val="bg1"/>
          </a:solidFill>
          <a:ln w="63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err="1">
              <a:ln>
                <a:noFill/>
              </a:ln>
              <a:solidFill>
                <a:schemeClr val="bg1"/>
              </a:solidFill>
              <a:effectLst/>
              <a:latin typeface="+mn-lt"/>
            </a:endParaRPr>
          </a:p>
        </p:txBody>
      </p:sp>
    </p:spTree>
    <p:extLst>
      <p:ext uri="{BB962C8B-B14F-4D97-AF65-F5344CB8AC3E}">
        <p14:creationId xmlns:p14="http://schemas.microsoft.com/office/powerpoint/2010/main" val="1156744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0218446-E391-364E-681E-F641FBACAE35}"/>
              </a:ext>
            </a:extLst>
          </p:cNvPr>
          <p:cNvSpPr>
            <a:spLocks noGrp="1"/>
          </p:cNvSpPr>
          <p:nvPr>
            <p:ph type="ftr" sz="quarter" idx="3"/>
          </p:nvPr>
        </p:nvSpPr>
        <p:spPr/>
        <p:txBody>
          <a:bodyPr/>
          <a:lstStyle/>
          <a:p>
            <a:r>
              <a:rPr lang="sv-SE"/>
              <a:t>Karolinska Institutet - a medical university</a:t>
            </a:r>
            <a:endParaRPr lang="sv-SE" dirty="0"/>
          </a:p>
        </p:txBody>
      </p:sp>
      <p:sp>
        <p:nvSpPr>
          <p:cNvPr id="5" name="Date Placeholder 4">
            <a:extLst>
              <a:ext uri="{FF2B5EF4-FFF2-40B4-BE49-F238E27FC236}">
                <a16:creationId xmlns:a16="http://schemas.microsoft.com/office/drawing/2014/main" id="{8BF945E3-AA19-9E52-DA5E-CAE37A308D24}"/>
              </a:ext>
            </a:extLst>
          </p:cNvPr>
          <p:cNvSpPr>
            <a:spLocks noGrp="1"/>
          </p:cNvSpPr>
          <p:nvPr>
            <p:ph type="dt" sz="half" idx="10"/>
          </p:nvPr>
        </p:nvSpPr>
        <p:spPr/>
        <p:txBody>
          <a:bodyPr/>
          <a:lstStyle/>
          <a:p>
            <a:fld id="{0B99A5A2-19A1-4CFC-BFE3-8B9C2E2B5BE0}" type="datetime1">
              <a:rPr lang="en-GB" smtClean="0"/>
              <a:t>19/10/2026</a:t>
            </a:fld>
            <a:endParaRPr lang="sv-SE" dirty="0"/>
          </a:p>
        </p:txBody>
      </p:sp>
      <p:sp>
        <p:nvSpPr>
          <p:cNvPr id="6" name="Slide Number Placeholder 5">
            <a:extLst>
              <a:ext uri="{FF2B5EF4-FFF2-40B4-BE49-F238E27FC236}">
                <a16:creationId xmlns:a16="http://schemas.microsoft.com/office/drawing/2014/main" id="{ADD9559F-B1F9-49F7-049D-6BA83CD209B7}"/>
              </a:ext>
            </a:extLst>
          </p:cNvPr>
          <p:cNvSpPr>
            <a:spLocks noGrp="1"/>
          </p:cNvSpPr>
          <p:nvPr>
            <p:ph type="sldNum" sz="quarter" idx="12"/>
          </p:nvPr>
        </p:nvSpPr>
        <p:spPr/>
        <p:txBody>
          <a:bodyPr/>
          <a:lstStyle/>
          <a:p>
            <a:fld id="{15859C56-CB7E-413F-8971-4226A1EF6823}" type="slidenum">
              <a:rPr lang="sv-SE" smtClean="0"/>
              <a:pPr/>
              <a:t>28</a:t>
            </a:fld>
            <a:endParaRPr lang="sv-SE" dirty="0"/>
          </a:p>
        </p:txBody>
      </p:sp>
      <p:pic>
        <p:nvPicPr>
          <p:cNvPr id="7" name="Picture 6">
            <a:extLst>
              <a:ext uri="{FF2B5EF4-FFF2-40B4-BE49-F238E27FC236}">
                <a16:creationId xmlns:a16="http://schemas.microsoft.com/office/drawing/2014/main" id="{18BF21B4-FF09-9CF5-788B-940E4D030773}"/>
              </a:ext>
            </a:extLst>
          </p:cNvPr>
          <p:cNvPicPr>
            <a:picLocks noChangeAspect="1"/>
          </p:cNvPicPr>
          <p:nvPr/>
        </p:nvPicPr>
        <p:blipFill>
          <a:blip r:embed="rId2"/>
          <a:stretch>
            <a:fillRect/>
          </a:stretch>
        </p:blipFill>
        <p:spPr>
          <a:xfrm>
            <a:off x="987003" y="8238"/>
            <a:ext cx="7169993" cy="4779995"/>
          </a:xfrm>
          <a:prstGeom prst="rect">
            <a:avLst/>
          </a:prstGeom>
        </p:spPr>
      </p:pic>
      <p:sp>
        <p:nvSpPr>
          <p:cNvPr id="2" name="Rectangle 1">
            <a:extLst>
              <a:ext uri="{FF2B5EF4-FFF2-40B4-BE49-F238E27FC236}">
                <a16:creationId xmlns:a16="http://schemas.microsoft.com/office/drawing/2014/main" id="{05FB04B6-3570-2907-FA98-F573A26EC1C4}"/>
              </a:ext>
            </a:extLst>
          </p:cNvPr>
          <p:cNvSpPr/>
          <p:nvPr/>
        </p:nvSpPr>
        <p:spPr bwMode="auto">
          <a:xfrm>
            <a:off x="687561" y="2715766"/>
            <a:ext cx="7700863" cy="2000459"/>
          </a:xfrm>
          <a:prstGeom prst="rect">
            <a:avLst/>
          </a:prstGeom>
          <a:solidFill>
            <a:schemeClr val="bg1"/>
          </a:solidFill>
          <a:ln w="63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err="1">
              <a:ln>
                <a:noFill/>
              </a:ln>
              <a:solidFill>
                <a:schemeClr val="bg1"/>
              </a:solidFill>
              <a:effectLst/>
              <a:latin typeface="+mn-lt"/>
            </a:endParaRPr>
          </a:p>
        </p:txBody>
      </p:sp>
    </p:spTree>
    <p:extLst>
      <p:ext uri="{BB962C8B-B14F-4D97-AF65-F5344CB8AC3E}">
        <p14:creationId xmlns:p14="http://schemas.microsoft.com/office/powerpoint/2010/main" val="3087365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1A324-80FF-2EB1-45E0-6579C023AC81}"/>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0BCAF91D-7404-9342-293B-0B453F8D5FD3}"/>
              </a:ext>
            </a:extLst>
          </p:cNvPr>
          <p:cNvSpPr>
            <a:spLocks noGrp="1"/>
          </p:cNvSpPr>
          <p:nvPr>
            <p:ph type="ftr" sz="quarter" idx="3"/>
          </p:nvPr>
        </p:nvSpPr>
        <p:spPr/>
        <p:txBody>
          <a:bodyPr/>
          <a:lstStyle/>
          <a:p>
            <a:r>
              <a:rPr lang="sv-SE"/>
              <a:t>Karolinska Institutet - a medical university</a:t>
            </a:r>
            <a:endParaRPr lang="sv-SE" dirty="0"/>
          </a:p>
        </p:txBody>
      </p:sp>
      <p:sp>
        <p:nvSpPr>
          <p:cNvPr id="5" name="Date Placeholder 4">
            <a:extLst>
              <a:ext uri="{FF2B5EF4-FFF2-40B4-BE49-F238E27FC236}">
                <a16:creationId xmlns:a16="http://schemas.microsoft.com/office/drawing/2014/main" id="{7B58C34E-4F00-6FE3-2DA8-1327C31402F8}"/>
              </a:ext>
            </a:extLst>
          </p:cNvPr>
          <p:cNvSpPr>
            <a:spLocks noGrp="1"/>
          </p:cNvSpPr>
          <p:nvPr>
            <p:ph type="dt" sz="half" idx="10"/>
          </p:nvPr>
        </p:nvSpPr>
        <p:spPr/>
        <p:txBody>
          <a:bodyPr/>
          <a:lstStyle/>
          <a:p>
            <a:fld id="{0B99A5A2-19A1-4CFC-BFE3-8B9C2E2B5BE0}" type="datetime1">
              <a:rPr lang="en-GB" smtClean="0"/>
              <a:t>19/10/2026</a:t>
            </a:fld>
            <a:endParaRPr lang="sv-SE" dirty="0"/>
          </a:p>
        </p:txBody>
      </p:sp>
      <p:sp>
        <p:nvSpPr>
          <p:cNvPr id="6" name="Slide Number Placeholder 5">
            <a:extLst>
              <a:ext uri="{FF2B5EF4-FFF2-40B4-BE49-F238E27FC236}">
                <a16:creationId xmlns:a16="http://schemas.microsoft.com/office/drawing/2014/main" id="{8E65280D-0EE4-6419-850E-9F755A402990}"/>
              </a:ext>
            </a:extLst>
          </p:cNvPr>
          <p:cNvSpPr>
            <a:spLocks noGrp="1"/>
          </p:cNvSpPr>
          <p:nvPr>
            <p:ph type="sldNum" sz="quarter" idx="12"/>
          </p:nvPr>
        </p:nvSpPr>
        <p:spPr/>
        <p:txBody>
          <a:bodyPr/>
          <a:lstStyle/>
          <a:p>
            <a:fld id="{15859C56-CB7E-413F-8971-4226A1EF6823}" type="slidenum">
              <a:rPr lang="sv-SE" smtClean="0"/>
              <a:pPr/>
              <a:t>29</a:t>
            </a:fld>
            <a:endParaRPr lang="sv-SE" dirty="0"/>
          </a:p>
        </p:txBody>
      </p:sp>
      <p:pic>
        <p:nvPicPr>
          <p:cNvPr id="7" name="Picture 6">
            <a:extLst>
              <a:ext uri="{FF2B5EF4-FFF2-40B4-BE49-F238E27FC236}">
                <a16:creationId xmlns:a16="http://schemas.microsoft.com/office/drawing/2014/main" id="{B7E259C5-9707-8702-7511-C07393563BAE}"/>
              </a:ext>
            </a:extLst>
          </p:cNvPr>
          <p:cNvPicPr>
            <a:picLocks noChangeAspect="1"/>
          </p:cNvPicPr>
          <p:nvPr/>
        </p:nvPicPr>
        <p:blipFill>
          <a:blip r:embed="rId2"/>
          <a:stretch>
            <a:fillRect/>
          </a:stretch>
        </p:blipFill>
        <p:spPr>
          <a:xfrm>
            <a:off x="1043608" y="158119"/>
            <a:ext cx="6953969" cy="4635979"/>
          </a:xfrm>
          <a:prstGeom prst="rect">
            <a:avLst/>
          </a:prstGeom>
        </p:spPr>
      </p:pic>
    </p:spTree>
    <p:extLst>
      <p:ext uri="{BB962C8B-B14F-4D97-AF65-F5344CB8AC3E}">
        <p14:creationId xmlns:p14="http://schemas.microsoft.com/office/powerpoint/2010/main" val="22437999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C7B5A18-7C52-EE6C-D1FC-5CD60B4E3CA9}"/>
              </a:ext>
            </a:extLst>
          </p:cNvPr>
          <p:cNvSpPr>
            <a:spLocks noGrp="1"/>
          </p:cNvSpPr>
          <p:nvPr>
            <p:ph type="ftr" sz="quarter" idx="3"/>
          </p:nvPr>
        </p:nvSpPr>
        <p:spPr/>
        <p:txBody>
          <a:bodyPr/>
          <a:lstStyle/>
          <a:p>
            <a:r>
              <a:rPr lang="sv-SE"/>
              <a:t>Karolinska Institutet - a medical university</a:t>
            </a:r>
            <a:endParaRPr lang="sv-SE" dirty="0"/>
          </a:p>
        </p:txBody>
      </p:sp>
      <p:sp>
        <p:nvSpPr>
          <p:cNvPr id="5" name="Date Placeholder 4">
            <a:extLst>
              <a:ext uri="{FF2B5EF4-FFF2-40B4-BE49-F238E27FC236}">
                <a16:creationId xmlns:a16="http://schemas.microsoft.com/office/drawing/2014/main" id="{09354515-7178-AC04-5670-6EE3E76A4FA6}"/>
              </a:ext>
            </a:extLst>
          </p:cNvPr>
          <p:cNvSpPr>
            <a:spLocks noGrp="1"/>
          </p:cNvSpPr>
          <p:nvPr>
            <p:ph type="dt" sz="half" idx="10"/>
          </p:nvPr>
        </p:nvSpPr>
        <p:spPr/>
        <p:txBody>
          <a:bodyPr/>
          <a:lstStyle/>
          <a:p>
            <a:fld id="{0B99A5A2-19A1-4CFC-BFE3-8B9C2E2B5BE0}" type="datetime1">
              <a:rPr lang="en-GB" smtClean="0"/>
              <a:t>19/10/2026</a:t>
            </a:fld>
            <a:endParaRPr lang="sv-SE" dirty="0"/>
          </a:p>
        </p:txBody>
      </p:sp>
      <p:sp>
        <p:nvSpPr>
          <p:cNvPr id="6" name="Slide Number Placeholder 5">
            <a:extLst>
              <a:ext uri="{FF2B5EF4-FFF2-40B4-BE49-F238E27FC236}">
                <a16:creationId xmlns:a16="http://schemas.microsoft.com/office/drawing/2014/main" id="{93E8D96B-5F21-7D59-8DC1-88F52EB36CE3}"/>
              </a:ext>
            </a:extLst>
          </p:cNvPr>
          <p:cNvSpPr>
            <a:spLocks noGrp="1"/>
          </p:cNvSpPr>
          <p:nvPr>
            <p:ph type="sldNum" sz="quarter" idx="12"/>
          </p:nvPr>
        </p:nvSpPr>
        <p:spPr/>
        <p:txBody>
          <a:bodyPr/>
          <a:lstStyle/>
          <a:p>
            <a:fld id="{15859C56-CB7E-413F-8971-4226A1EF6823}" type="slidenum">
              <a:rPr lang="sv-SE" smtClean="0"/>
              <a:pPr/>
              <a:t>30</a:t>
            </a:fld>
            <a:endParaRPr lang="sv-SE" dirty="0"/>
          </a:p>
        </p:txBody>
      </p:sp>
      <p:pic>
        <p:nvPicPr>
          <p:cNvPr id="7" name="Picture 6">
            <a:extLst>
              <a:ext uri="{FF2B5EF4-FFF2-40B4-BE49-F238E27FC236}">
                <a16:creationId xmlns:a16="http://schemas.microsoft.com/office/drawing/2014/main" id="{3AA4C2D6-71E0-8C87-35B9-EEA880B08C93}"/>
              </a:ext>
            </a:extLst>
          </p:cNvPr>
          <p:cNvPicPr>
            <a:picLocks noChangeAspect="1"/>
          </p:cNvPicPr>
          <p:nvPr/>
        </p:nvPicPr>
        <p:blipFill>
          <a:blip r:embed="rId2"/>
          <a:srcRect t="63255" b="15006"/>
          <a:stretch>
            <a:fillRect/>
          </a:stretch>
        </p:blipFill>
        <p:spPr>
          <a:xfrm>
            <a:off x="107503" y="1479266"/>
            <a:ext cx="9022845" cy="1308508"/>
          </a:xfrm>
          <a:prstGeom prst="rect">
            <a:avLst/>
          </a:prstGeom>
        </p:spPr>
      </p:pic>
    </p:spTree>
    <p:extLst>
      <p:ext uri="{BB962C8B-B14F-4D97-AF65-F5344CB8AC3E}">
        <p14:creationId xmlns:p14="http://schemas.microsoft.com/office/powerpoint/2010/main" val="1996869389"/>
      </p:ext>
    </p:extLst>
  </p:cSld>
  <p:clrMapOvr>
    <a:masterClrMapping/>
  </p:clrMapOvr>
</p:sld>
</file>

<file path=ppt/theme/theme1.xml><?xml version="1.0" encoding="utf-8"?>
<a:theme xmlns:a="http://schemas.openxmlformats.org/drawingml/2006/main" name="16:9 Plum eng">
  <a:themeElements>
    <a:clrScheme name="KI">
      <a:dk1>
        <a:sysClr val="windowText" lastClr="000000"/>
      </a:dk1>
      <a:lt1>
        <a:sysClr val="window" lastClr="FFFFFF"/>
      </a:lt1>
      <a:dk2>
        <a:srgbClr val="44546A"/>
      </a:dk2>
      <a:lt2>
        <a:srgbClr val="E7E6E6"/>
      </a:lt2>
      <a:accent1>
        <a:srgbClr val="4F0433"/>
      </a:accent1>
      <a:accent2>
        <a:srgbClr val="FF876F"/>
      </a:accent2>
      <a:accent3>
        <a:srgbClr val="870052"/>
      </a:accent3>
      <a:accent4>
        <a:srgbClr val="FFDDD6"/>
      </a:accent4>
      <a:accent5>
        <a:srgbClr val="4DB5BC"/>
      </a:accent5>
      <a:accent6>
        <a:srgbClr val="CCEBED"/>
      </a:accent6>
      <a:hlink>
        <a:srgbClr val="870052"/>
      </a:hlink>
      <a:folHlink>
        <a:srgbClr val="C490AA"/>
      </a:folHlink>
    </a:clrScheme>
    <a:fontScheme name="KI PPT">
      <a:majorFont>
        <a:latin typeface="DM Sans Medium"/>
        <a:ea typeface=""/>
        <a:cs typeface=""/>
      </a:majorFont>
      <a:minorFont>
        <a:latin typeface="DM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63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400" b="0" i="0" u="none" strike="noStrike" cap="none" normalizeH="0" baseline="0" dirty="0" err="1">
            <a:ln>
              <a:noFill/>
            </a:ln>
            <a:solidFill>
              <a:schemeClr val="bg1"/>
            </a:solidFill>
            <a:effectLst/>
            <a:latin typeface="+mn-lt"/>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sv-SE" sz="2400" b="0" i="0" u="none" strike="noStrike" cap="none" normalizeH="0" baseline="0" smtClean="0">
            <a:ln>
              <a:noFill/>
            </a:ln>
            <a:solidFill>
              <a:schemeClr val="tx1"/>
            </a:solidFill>
            <a:effectLst/>
            <a:latin typeface="Times"/>
          </a:defRPr>
        </a:defPPr>
      </a:lstStyle>
    </a:lnDef>
    <a:txDef>
      <a:spPr>
        <a:noFill/>
        <a:ln w="6350">
          <a:solidFill>
            <a:schemeClr val="accent1"/>
          </a:solidFill>
        </a:ln>
      </a:spPr>
      <a:bodyPr wrap="none" rtlCol="0">
        <a:spAutoFit/>
      </a:bodyPr>
      <a:lstStyle>
        <a:defPPr algn="l">
          <a:defRPr sz="1400" dirty="0">
            <a:latin typeface="+mn-lt"/>
          </a:defRPr>
        </a:defPPr>
      </a:lstStyle>
    </a:txDef>
  </a:objectDefaults>
  <a:extraClrSchemeLst>
    <a:extraClrScheme>
      <a:clrScheme name="Office-tema 1">
        <a:dk1>
          <a:srgbClr val="000000"/>
        </a:dk1>
        <a:lt1>
          <a:srgbClr val="FFFFFF"/>
        </a:lt1>
        <a:dk2>
          <a:srgbClr val="000000"/>
        </a:dk2>
        <a:lt2>
          <a:srgbClr val="808080"/>
        </a:lt2>
        <a:accent1>
          <a:srgbClr val="761B54"/>
        </a:accent1>
        <a:accent2>
          <a:srgbClr val="97D8DA"/>
        </a:accent2>
        <a:accent3>
          <a:srgbClr val="FFFFFF"/>
        </a:accent3>
        <a:accent4>
          <a:srgbClr val="000000"/>
        </a:accent4>
        <a:accent5>
          <a:srgbClr val="BDABB3"/>
        </a:accent5>
        <a:accent6>
          <a:srgbClr val="88C4C5"/>
        </a:accent6>
        <a:hlink>
          <a:srgbClr val="CF0063"/>
        </a:hlink>
        <a:folHlink>
          <a:srgbClr val="CBCBC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_16_9_eng" id="{B60A8902-C4BA-424D-ABCA-661BEF1FE7B8}" vid="{E512F04E-F30A-4076-822C-0B2544EA0FF1}"/>
    </a:ext>
  </a:extLst>
</a:theme>
</file>

<file path=ppt/theme/theme2.xml><?xml version="1.0" encoding="utf-8"?>
<a:theme xmlns:a="http://schemas.openxmlformats.org/drawingml/2006/main" name="Office-te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B8615BE51D60BA44B86811C5F608C49E" ma:contentTypeVersion="4" ma:contentTypeDescription="Skapa ett nytt dokument." ma:contentTypeScope="" ma:versionID="1ba7e5491846bba44b7184d586d4c8ef">
  <xsd:schema xmlns:xsd="http://www.w3.org/2001/XMLSchema" xmlns:xs="http://www.w3.org/2001/XMLSchema" xmlns:p="http://schemas.microsoft.com/office/2006/metadata/properties" xmlns:ns2="6843b716-3f6d-4983-a753-faa1afd2f446" targetNamespace="http://schemas.microsoft.com/office/2006/metadata/properties" ma:root="true" ma:fieldsID="0f473e2ddd19dd1b49b0db32a06ee5a2" ns2:_="">
    <xsd:import namespace="6843b716-3f6d-4983-a753-faa1afd2f44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43b716-3f6d-4983-a753-faa1afd2f4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ehållstyp"/>
        <xsd:element ref="dc:title" minOccurs="0" maxOccurs="1" ma:index="4" ma:displayName="Rubri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9F79469-2F05-42F0-ADD1-5263841AE7B9}">
  <ds:schemaRefs>
    <ds:schemaRef ds:uri="http://schemas.microsoft.com/office/infopath/2007/PartnerControls"/>
    <ds:schemaRef ds:uri="http://schemas.openxmlformats.org/package/2006/metadata/core-properties"/>
    <ds:schemaRef ds:uri="6843b716-3f6d-4983-a753-faa1afd2f446"/>
    <ds:schemaRef ds:uri="http://purl.org/dc/terms/"/>
    <ds:schemaRef ds:uri="http://purl.org/dc/elements/1.1/"/>
    <ds:schemaRef ds:uri="http://schemas.microsoft.com/office/2006/documentManagement/types"/>
    <ds:schemaRef ds:uri="http://www.w3.org/XML/1998/namespace"/>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F007827D-8545-430A-B6DC-8C56BC8926CA}">
  <ds:schemaRefs>
    <ds:schemaRef ds:uri="http://schemas.microsoft.com/sharepoint/v3/contenttype/forms"/>
  </ds:schemaRefs>
</ds:datastoreItem>
</file>

<file path=customXml/itemProps3.xml><?xml version="1.0" encoding="utf-8"?>
<ds:datastoreItem xmlns:ds="http://schemas.openxmlformats.org/officeDocument/2006/customXml" ds:itemID="{83890F4D-C5EB-4FCF-AEB3-55B3225E2A6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843b716-3f6d-4983-a753-faa1afd2f44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16:9 Plum eng</Template>
  <TotalTime>4161</TotalTime>
  <Words>1041</Words>
  <Application>Microsoft Macintosh PowerPoint</Application>
  <PresentationFormat>On-screen Show (16:9)</PresentationFormat>
  <Paragraphs>183</Paragraphs>
  <Slides>30</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Cambria</vt:lpstr>
      <vt:lpstr>DM Sans</vt:lpstr>
      <vt:lpstr>DM Sans Medium</vt:lpstr>
      <vt:lpstr>Times</vt:lpstr>
      <vt:lpstr>Wingdings</vt:lpstr>
      <vt:lpstr>16:9 Plum eng</vt:lpstr>
      <vt:lpstr>Bioinformatics Workshop</vt:lpstr>
      <vt:lpstr>Agenda</vt:lpstr>
      <vt:lpstr>Note</vt:lpstr>
      <vt:lpstr>Part 1 – Understanding Modern Transcriptomics Technologies </vt:lpstr>
      <vt:lpstr>Learning objectives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Elyas Mohammadi</dc:creator>
  <cp:lastModifiedBy>Elyas Mohammadi</cp:lastModifiedBy>
  <cp:revision>1</cp:revision>
  <cp:lastPrinted>2005-09-23T14:22:03Z</cp:lastPrinted>
  <dcterms:created xsi:type="dcterms:W3CDTF">2026-07-27T12:20:29Z</dcterms:created>
  <dcterms:modified xsi:type="dcterms:W3CDTF">2026-10-19T07:45:51Z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0x010100B8615BE51D60BA44B86811C5F608C49E</vt:lpwstr>
  </property>
</Properties>
</file>